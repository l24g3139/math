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2" r:id="rId3"/>
    <p:sldId id="257" r:id="rId4"/>
    <p:sldId id="258" r:id="rId5"/>
    <p:sldId id="259" r:id="rId6"/>
    <p:sldId id="260" r:id="rId7"/>
    <p:sldId id="261" r:id="rId8"/>
    <p:sldId id="262" r:id="rId9"/>
    <p:sldId id="263" r:id="rId10"/>
    <p:sldId id="264" r:id="rId11"/>
    <p:sldId id="273" r:id="rId12"/>
    <p:sldId id="265" r:id="rId13"/>
    <p:sldId id="266" r:id="rId14"/>
    <p:sldId id="274" r:id="rId15"/>
    <p:sldId id="267" r:id="rId16"/>
    <p:sldId id="268" r:id="rId17"/>
    <p:sldId id="269" r:id="rId18"/>
    <p:sldId id="270" r:id="rId19"/>
    <p:sldId id="27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244D2-2C64-6D4A-A60B-0BB8280F4BEC}" v="682" dt="2026-06-20T00:54:55.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28"/>
    <p:restoredTop sz="94610"/>
  </p:normalViewPr>
  <p:slideViewPr>
    <p:cSldViewPr snapToGrid="0" snapToObjects="1">
      <p:cViewPr>
        <p:scale>
          <a:sx n="171" d="100"/>
          <a:sy n="171" d="100"/>
        </p:scale>
        <p:origin x="536"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78F0DC-4605-7743-9B00-573E0EFD16C3}"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kumimoji="1" lang="ja-JP" altLang="en-US"/>
        </a:p>
      </dgm:t>
    </dgm:pt>
    <dgm:pt modelId="{06AAA6B5-754B-D84F-84D1-4D268EBD1C10}">
      <dgm:prSet phldrT="[テキスト]"/>
      <dgm:spPr/>
      <dgm:t>
        <a:bodyPr/>
        <a:lstStyle/>
        <a:p>
          <a:pPr>
            <a:buNone/>
          </a:pPr>
          <a:r>
            <a:rPr lang="ja-JP" b="1" i="0"/>
            <a:t>帰納的な発想を用いる</a:t>
          </a:r>
          <a:endParaRPr kumimoji="1" lang="ja-JP" altLang="en-US"/>
        </a:p>
      </dgm:t>
    </dgm:pt>
    <dgm:pt modelId="{9CA648B6-D737-B444-B780-97AC539CB198}" type="parTrans" cxnId="{8C1F27EA-B3D5-3A4A-84BA-6E0C302B50E3}">
      <dgm:prSet/>
      <dgm:spPr/>
      <dgm:t>
        <a:bodyPr/>
        <a:lstStyle/>
        <a:p>
          <a:endParaRPr kumimoji="1" lang="ja-JP" altLang="en-US"/>
        </a:p>
      </dgm:t>
    </dgm:pt>
    <dgm:pt modelId="{296E8F7A-6037-D646-AEF4-4B24FD9C6574}" type="sibTrans" cxnId="{8C1F27EA-B3D5-3A4A-84BA-6E0C302B50E3}">
      <dgm:prSet/>
      <dgm:spPr/>
      <dgm:t>
        <a:bodyPr/>
        <a:lstStyle/>
        <a:p>
          <a:endParaRPr kumimoji="1" lang="ja-JP" altLang="en-US"/>
        </a:p>
      </dgm:t>
    </dgm:pt>
    <dgm:pt modelId="{6F847ACB-A0A6-A543-A1C9-F127EAAA2BBB}">
      <dgm:prSet phldrT="[テキスト]"/>
      <dgm:spPr/>
      <dgm:t>
        <a:bodyPr/>
        <a:lstStyle/>
        <a:p>
          <a:pPr>
            <a:buNone/>
          </a:pPr>
          <a:r>
            <a:rPr lang="ja-JP" b="1" i="0"/>
            <a:t>定義や基礎に戻る</a:t>
          </a:r>
          <a:endParaRPr kumimoji="1" lang="ja-JP" altLang="en-US"/>
        </a:p>
      </dgm:t>
    </dgm:pt>
    <dgm:pt modelId="{4D036016-795D-3B43-9A2F-BEB4DD50EE63}" type="parTrans" cxnId="{895F482D-E7FB-274F-A71F-A40DCB25DD35}">
      <dgm:prSet/>
      <dgm:spPr/>
      <dgm:t>
        <a:bodyPr/>
        <a:lstStyle/>
        <a:p>
          <a:endParaRPr kumimoji="1" lang="ja-JP" altLang="en-US"/>
        </a:p>
      </dgm:t>
    </dgm:pt>
    <dgm:pt modelId="{B03F6BC5-D7A1-484D-84F2-A1E628040C3E}" type="sibTrans" cxnId="{895F482D-E7FB-274F-A71F-A40DCB25DD35}">
      <dgm:prSet/>
      <dgm:spPr/>
      <dgm:t>
        <a:bodyPr/>
        <a:lstStyle/>
        <a:p>
          <a:endParaRPr kumimoji="1" lang="ja-JP" altLang="en-US"/>
        </a:p>
      </dgm:t>
    </dgm:pt>
    <dgm:pt modelId="{6D5B435D-CE85-D943-9C2C-E8A4A344C33D}">
      <dgm:prSet phldrT="[テキスト]"/>
      <dgm:spPr/>
      <dgm:t>
        <a:bodyPr/>
        <a:lstStyle/>
        <a:p>
          <a:pPr>
            <a:buNone/>
          </a:pPr>
          <a:r>
            <a:rPr lang="ja-JP" b="1" i="0"/>
            <a:t>背理法を用いる</a:t>
          </a:r>
          <a:endParaRPr kumimoji="1" lang="ja-JP" altLang="en-US"/>
        </a:p>
      </dgm:t>
    </dgm:pt>
    <dgm:pt modelId="{BE398076-65A2-4443-AF5F-F2447D5CFC75}" type="parTrans" cxnId="{D727E96C-5E60-E946-B4F0-B779E2C5955A}">
      <dgm:prSet/>
      <dgm:spPr/>
      <dgm:t>
        <a:bodyPr/>
        <a:lstStyle/>
        <a:p>
          <a:endParaRPr kumimoji="1" lang="ja-JP" altLang="en-US"/>
        </a:p>
      </dgm:t>
    </dgm:pt>
    <dgm:pt modelId="{FA0BDA17-BCC5-024D-9A23-8D9CB33B6EBA}" type="sibTrans" cxnId="{D727E96C-5E60-E946-B4F0-B779E2C5955A}">
      <dgm:prSet/>
      <dgm:spPr/>
      <dgm:t>
        <a:bodyPr/>
        <a:lstStyle/>
        <a:p>
          <a:endParaRPr kumimoji="1" lang="ja-JP" altLang="en-US"/>
        </a:p>
      </dgm:t>
    </dgm:pt>
    <dgm:pt modelId="{C923B896-6594-6748-B5C7-E1E9070EAA0E}">
      <dgm:prSet phldrT="[テキスト]"/>
      <dgm:spPr/>
      <dgm:t>
        <a:bodyPr/>
        <a:lstStyle/>
        <a:p>
          <a:pPr>
            <a:buNone/>
          </a:pPr>
          <a:r>
            <a:rPr lang="ja-JP" b="1" i="0"/>
            <a:t>条件を使いこなしているか</a:t>
          </a:r>
          <a:endParaRPr kumimoji="1" lang="ja-JP" altLang="en-US"/>
        </a:p>
      </dgm:t>
    </dgm:pt>
    <dgm:pt modelId="{4AAF6CC3-D978-804E-96B1-75D62E033A6F}" type="parTrans" cxnId="{CEB4F5B7-11F7-A248-8F25-F45B9F3AE33B}">
      <dgm:prSet/>
      <dgm:spPr/>
      <dgm:t>
        <a:bodyPr/>
        <a:lstStyle/>
        <a:p>
          <a:endParaRPr kumimoji="1" lang="ja-JP" altLang="en-US"/>
        </a:p>
      </dgm:t>
    </dgm:pt>
    <dgm:pt modelId="{B2C2E860-1EA5-AD44-AD92-CA1D1D93ED62}" type="sibTrans" cxnId="{CEB4F5B7-11F7-A248-8F25-F45B9F3AE33B}">
      <dgm:prSet/>
      <dgm:spPr/>
      <dgm:t>
        <a:bodyPr/>
        <a:lstStyle/>
        <a:p>
          <a:endParaRPr kumimoji="1" lang="ja-JP" altLang="en-US"/>
        </a:p>
      </dgm:t>
    </dgm:pt>
    <dgm:pt modelId="{1EED44D3-1523-2743-AC4B-D95D4472E9C1}">
      <dgm:prSet phldrT="[テキスト]"/>
      <dgm:spPr/>
      <dgm:t>
        <a:bodyPr/>
        <a:lstStyle/>
        <a:p>
          <a:pPr>
            <a:buNone/>
          </a:pPr>
          <a:r>
            <a:rPr lang="ja-JP" b="1" i="0"/>
            <a:t>図を用いて考える</a:t>
          </a:r>
          <a:endParaRPr kumimoji="1" lang="ja-JP" altLang="en-US"/>
        </a:p>
      </dgm:t>
    </dgm:pt>
    <dgm:pt modelId="{D62E2D82-41FE-EE4F-90A6-90D44427C1BB}" type="parTrans" cxnId="{FFA63D03-A1B8-B24D-8A3B-E458675C442F}">
      <dgm:prSet/>
      <dgm:spPr/>
      <dgm:t>
        <a:bodyPr/>
        <a:lstStyle/>
        <a:p>
          <a:endParaRPr kumimoji="1" lang="ja-JP" altLang="en-US"/>
        </a:p>
      </dgm:t>
    </dgm:pt>
    <dgm:pt modelId="{6CBAC25A-AAFE-A942-9BA7-6C6C44FE6440}" type="sibTrans" cxnId="{FFA63D03-A1B8-B24D-8A3B-E458675C442F}">
      <dgm:prSet/>
      <dgm:spPr/>
      <dgm:t>
        <a:bodyPr/>
        <a:lstStyle/>
        <a:p>
          <a:endParaRPr kumimoji="1" lang="ja-JP" altLang="en-US"/>
        </a:p>
      </dgm:t>
    </dgm:pt>
    <dgm:pt modelId="{2A675491-0078-064B-B6B4-6AE5F1D714FB}">
      <dgm:prSet/>
      <dgm:spPr/>
      <dgm:t>
        <a:bodyPr/>
        <a:lstStyle/>
        <a:p>
          <a:pPr>
            <a:buNone/>
          </a:pPr>
          <a:r>
            <a:rPr lang="ja-JP" b="1" i="0"/>
            <a:t>逆向きに考える</a:t>
          </a:r>
          <a:endParaRPr lang="ja-JP" altLang="en-US"/>
        </a:p>
      </dgm:t>
    </dgm:pt>
    <dgm:pt modelId="{C6396AED-DE8A-2E4F-B9A2-83801C810EA1}" type="parTrans" cxnId="{979F8B19-B928-564B-8282-F5C09917E117}">
      <dgm:prSet/>
      <dgm:spPr/>
      <dgm:t>
        <a:bodyPr/>
        <a:lstStyle/>
        <a:p>
          <a:endParaRPr kumimoji="1" lang="ja-JP" altLang="en-US"/>
        </a:p>
      </dgm:t>
    </dgm:pt>
    <dgm:pt modelId="{C0086915-FBD4-C34A-B2DD-BDF32E77A6D0}" type="sibTrans" cxnId="{979F8B19-B928-564B-8282-F5C09917E117}">
      <dgm:prSet/>
      <dgm:spPr/>
      <dgm:t>
        <a:bodyPr/>
        <a:lstStyle/>
        <a:p>
          <a:endParaRPr kumimoji="1" lang="ja-JP" altLang="en-US"/>
        </a:p>
      </dgm:t>
    </dgm:pt>
    <dgm:pt modelId="{061BF52E-9B16-F349-9DD6-E9E0EC541096}">
      <dgm:prSet phldrT="[テキスト]"/>
      <dgm:spPr/>
      <dgm:t>
        <a:bodyPr/>
        <a:lstStyle/>
        <a:p>
          <a:pPr>
            <a:buNone/>
          </a:pPr>
          <a:r>
            <a:rPr lang="ja-JP" b="1" i="0"/>
            <a:t>一般化して考える</a:t>
          </a:r>
          <a:endParaRPr kumimoji="1" lang="ja-JP" altLang="en-US"/>
        </a:p>
      </dgm:t>
    </dgm:pt>
    <dgm:pt modelId="{392F348B-95F3-1A4F-9C9F-B855BC5C6BCE}" type="parTrans" cxnId="{D6C6D50B-65BA-C34C-BD77-C3D8C293E1DB}">
      <dgm:prSet/>
      <dgm:spPr/>
      <dgm:t>
        <a:bodyPr/>
        <a:lstStyle/>
        <a:p>
          <a:endParaRPr kumimoji="1" lang="ja-JP" altLang="en-US"/>
        </a:p>
      </dgm:t>
    </dgm:pt>
    <dgm:pt modelId="{EEB2FD0B-DE9D-5146-AD51-EC4A8B549EBE}" type="sibTrans" cxnId="{D6C6D50B-65BA-C34C-BD77-C3D8C293E1DB}">
      <dgm:prSet/>
      <dgm:spPr/>
      <dgm:t>
        <a:bodyPr/>
        <a:lstStyle/>
        <a:p>
          <a:endParaRPr kumimoji="1" lang="ja-JP" altLang="en-US"/>
        </a:p>
      </dgm:t>
    </dgm:pt>
    <dgm:pt modelId="{D55A030B-F7FF-EC42-9AF7-8F127584F165}">
      <dgm:prSet phldrT="[テキスト]"/>
      <dgm:spPr/>
      <dgm:t>
        <a:bodyPr/>
        <a:lstStyle/>
        <a:p>
          <a:pPr>
            <a:buNone/>
          </a:pPr>
          <a:r>
            <a:rPr lang="ja-JP" b="1" i="0"/>
            <a:t>特殊化して考える</a:t>
          </a:r>
          <a:endParaRPr kumimoji="1" lang="ja-JP" altLang="en-US"/>
        </a:p>
      </dgm:t>
    </dgm:pt>
    <dgm:pt modelId="{1BBCBE10-32B2-D544-8441-326790C0A73B}" type="parTrans" cxnId="{BA10EEDD-E0D5-6244-9ED1-CAF51FD7D633}">
      <dgm:prSet/>
      <dgm:spPr/>
      <dgm:t>
        <a:bodyPr/>
        <a:lstStyle/>
        <a:p>
          <a:endParaRPr kumimoji="1" lang="ja-JP" altLang="en-US"/>
        </a:p>
      </dgm:t>
    </dgm:pt>
    <dgm:pt modelId="{DBF70DA9-A9D0-F649-9578-9A0582C95A22}" type="sibTrans" cxnId="{BA10EEDD-E0D5-6244-9ED1-CAF51FD7D633}">
      <dgm:prSet/>
      <dgm:spPr/>
      <dgm:t>
        <a:bodyPr/>
        <a:lstStyle/>
        <a:p>
          <a:endParaRPr kumimoji="1" lang="ja-JP" altLang="en-US"/>
        </a:p>
      </dgm:t>
    </dgm:pt>
    <dgm:pt modelId="{0C210577-77B9-6F4E-82BD-9A9AAD7989DC}">
      <dgm:prSet/>
      <dgm:spPr/>
      <dgm:t>
        <a:bodyPr/>
        <a:lstStyle/>
        <a:p>
          <a:pPr>
            <a:buNone/>
          </a:pPr>
          <a:r>
            <a:rPr lang="ja-JP" b="1" i="0"/>
            <a:t>類推する</a:t>
          </a:r>
          <a:endParaRPr lang="ja-JP" altLang="en-US"/>
        </a:p>
      </dgm:t>
    </dgm:pt>
    <dgm:pt modelId="{D0A1FE19-D740-9C4D-A52F-0C0185DFAB0C}" type="parTrans" cxnId="{3F719B48-99F1-7344-B0A2-681AA1BEE189}">
      <dgm:prSet/>
      <dgm:spPr/>
      <dgm:t>
        <a:bodyPr/>
        <a:lstStyle/>
        <a:p>
          <a:endParaRPr kumimoji="1" lang="ja-JP" altLang="en-US"/>
        </a:p>
      </dgm:t>
    </dgm:pt>
    <dgm:pt modelId="{61D93068-790D-6944-9E8A-229E21F289C7}" type="sibTrans" cxnId="{3F719B48-99F1-7344-B0A2-681AA1BEE189}">
      <dgm:prSet/>
      <dgm:spPr/>
      <dgm:t>
        <a:bodyPr/>
        <a:lstStyle/>
        <a:p>
          <a:endParaRPr kumimoji="1" lang="ja-JP" altLang="en-US"/>
        </a:p>
      </dgm:t>
    </dgm:pt>
    <dgm:pt modelId="{F571EE18-EAAE-E34F-8B2E-B4C1B9E9BB4F}">
      <dgm:prSet/>
      <dgm:spPr/>
      <dgm:t>
        <a:bodyPr/>
        <a:lstStyle/>
        <a:p>
          <a:pPr>
            <a:buNone/>
          </a:pPr>
          <a:r>
            <a:rPr lang="ja-JP" b="1" i="0"/>
            <a:t>兆候から見通す</a:t>
          </a:r>
          <a:endParaRPr lang="ja-JP" altLang="en-US"/>
        </a:p>
      </dgm:t>
    </dgm:pt>
    <dgm:pt modelId="{BC008457-5B3B-134E-B084-10294E616D24}" type="parTrans" cxnId="{0D50FF88-0AB6-9948-8DFD-D9C7CD2C186D}">
      <dgm:prSet/>
      <dgm:spPr/>
      <dgm:t>
        <a:bodyPr/>
        <a:lstStyle/>
        <a:p>
          <a:endParaRPr kumimoji="1" lang="ja-JP" altLang="en-US"/>
        </a:p>
      </dgm:t>
    </dgm:pt>
    <dgm:pt modelId="{886EA4D1-A230-1146-9C8C-6254D2C40721}" type="sibTrans" cxnId="{0D50FF88-0AB6-9948-8DFD-D9C7CD2C186D}">
      <dgm:prSet/>
      <dgm:spPr/>
      <dgm:t>
        <a:bodyPr/>
        <a:lstStyle/>
        <a:p>
          <a:endParaRPr kumimoji="1" lang="ja-JP" altLang="en-US"/>
        </a:p>
      </dgm:t>
    </dgm:pt>
    <dgm:pt modelId="{4DE9BD78-E09A-B641-8E02-5B72C7148974}">
      <dgm:prSet/>
      <dgm:spPr/>
      <dgm:t>
        <a:bodyPr/>
        <a:lstStyle/>
        <a:p>
          <a:pPr>
            <a:buNone/>
          </a:pPr>
          <a:r>
            <a:rPr lang="ja-JP" b="1" i="0"/>
            <a:t>効果的な記号を使う</a:t>
          </a:r>
          <a:endParaRPr lang="ja-JP" altLang="en-US"/>
        </a:p>
      </dgm:t>
    </dgm:pt>
    <dgm:pt modelId="{3CF701EA-1433-B34A-BFD9-F155B6CA8E88}" type="parTrans" cxnId="{56169D7E-7900-ED45-B254-EF43CF7F2C04}">
      <dgm:prSet/>
      <dgm:spPr/>
      <dgm:t>
        <a:bodyPr/>
        <a:lstStyle/>
        <a:p>
          <a:endParaRPr kumimoji="1" lang="ja-JP" altLang="en-US"/>
        </a:p>
      </dgm:t>
    </dgm:pt>
    <dgm:pt modelId="{DF9DF219-A5E1-594C-8D5B-3C8453A7BC88}" type="sibTrans" cxnId="{56169D7E-7900-ED45-B254-EF43CF7F2C04}">
      <dgm:prSet/>
      <dgm:spPr/>
      <dgm:t>
        <a:bodyPr/>
        <a:lstStyle/>
        <a:p>
          <a:endParaRPr kumimoji="1" lang="ja-JP" altLang="en-US"/>
        </a:p>
      </dgm:t>
    </dgm:pt>
    <dgm:pt modelId="{1C02BCDB-8518-8C45-B40E-BDD94E8E5B5C}">
      <dgm:prSet/>
      <dgm:spPr/>
      <dgm:t>
        <a:bodyPr/>
        <a:lstStyle/>
        <a:p>
          <a:pPr>
            <a:buNone/>
          </a:pPr>
          <a:r>
            <a:rPr lang="ja-JP" b="1" i="0"/>
            <a:t>対称性を利用する</a:t>
          </a:r>
          <a:endParaRPr lang="ja-JP" altLang="en-US"/>
        </a:p>
      </dgm:t>
    </dgm:pt>
    <dgm:pt modelId="{C556489E-FDE6-7846-B8AD-069F8098F14E}" type="parTrans" cxnId="{F8B72622-6B53-EE4F-A690-688FE60FB8E7}">
      <dgm:prSet/>
      <dgm:spPr/>
      <dgm:t>
        <a:bodyPr/>
        <a:lstStyle/>
        <a:p>
          <a:endParaRPr kumimoji="1" lang="ja-JP" altLang="en-US"/>
        </a:p>
      </dgm:t>
    </dgm:pt>
    <dgm:pt modelId="{E0957738-2295-BA49-8A89-C73B2EAD72B9}" type="sibTrans" cxnId="{F8B72622-6B53-EE4F-A690-688FE60FB8E7}">
      <dgm:prSet/>
      <dgm:spPr/>
      <dgm:t>
        <a:bodyPr/>
        <a:lstStyle/>
        <a:p>
          <a:endParaRPr kumimoji="1" lang="ja-JP" altLang="en-US"/>
        </a:p>
      </dgm:t>
    </dgm:pt>
    <dgm:pt modelId="{D9D6BB53-B325-AC4C-956F-5B18246BD6EB}">
      <dgm:prSet/>
      <dgm:spPr/>
      <dgm:t>
        <a:bodyPr/>
        <a:lstStyle/>
        <a:p>
          <a:pPr>
            <a:buNone/>
          </a:pPr>
          <a:r>
            <a:rPr lang="ja-JP" b="1" i="0"/>
            <a:t>見直しの勧め</a:t>
          </a:r>
          <a:endParaRPr lang="ja-JP" altLang="en-US"/>
        </a:p>
      </dgm:t>
    </dgm:pt>
    <dgm:pt modelId="{5B8202E1-728E-D342-B85D-31FEF70B38A9}" type="parTrans" cxnId="{59D3F101-0EF6-084C-8971-9DB2899D7E82}">
      <dgm:prSet/>
      <dgm:spPr/>
      <dgm:t>
        <a:bodyPr/>
        <a:lstStyle/>
        <a:p>
          <a:endParaRPr kumimoji="1" lang="ja-JP" altLang="en-US"/>
        </a:p>
      </dgm:t>
    </dgm:pt>
    <dgm:pt modelId="{24F928BE-1ACA-EF45-800B-3E75B1CCD182}" type="sibTrans" cxnId="{59D3F101-0EF6-084C-8971-9DB2899D7E82}">
      <dgm:prSet/>
      <dgm:spPr/>
      <dgm:t>
        <a:bodyPr/>
        <a:lstStyle/>
        <a:p>
          <a:endParaRPr kumimoji="1" lang="ja-JP" altLang="en-US"/>
        </a:p>
      </dgm:t>
    </dgm:pt>
    <dgm:pt modelId="{E529B231-BAD5-F642-87AB-5392CA5C4292}" type="pres">
      <dgm:prSet presAssocID="{F178F0DC-4605-7743-9B00-573E0EFD16C3}" presName="diagram" presStyleCnt="0">
        <dgm:presLayoutVars>
          <dgm:dir/>
          <dgm:resizeHandles val="exact"/>
        </dgm:presLayoutVars>
      </dgm:prSet>
      <dgm:spPr/>
    </dgm:pt>
    <dgm:pt modelId="{C04E57B1-2D5F-C84C-94B9-7C1D35A94586}" type="pres">
      <dgm:prSet presAssocID="{06AAA6B5-754B-D84F-84D1-4D268EBD1C10}" presName="node" presStyleLbl="node1" presStyleIdx="0" presStyleCnt="13">
        <dgm:presLayoutVars>
          <dgm:bulletEnabled val="1"/>
        </dgm:presLayoutVars>
      </dgm:prSet>
      <dgm:spPr/>
    </dgm:pt>
    <dgm:pt modelId="{0F0D2F8F-5893-3940-9A7F-3A0674C06A25}" type="pres">
      <dgm:prSet presAssocID="{296E8F7A-6037-D646-AEF4-4B24FD9C6574}" presName="sibTrans" presStyleCnt="0"/>
      <dgm:spPr/>
    </dgm:pt>
    <dgm:pt modelId="{37B7A3E1-F68F-544D-89B7-C540BA6EC5A4}" type="pres">
      <dgm:prSet presAssocID="{6F847ACB-A0A6-A543-A1C9-F127EAAA2BBB}" presName="node" presStyleLbl="node1" presStyleIdx="1" presStyleCnt="13">
        <dgm:presLayoutVars>
          <dgm:bulletEnabled val="1"/>
        </dgm:presLayoutVars>
      </dgm:prSet>
      <dgm:spPr/>
    </dgm:pt>
    <dgm:pt modelId="{DA9B6AD7-E357-D146-ACE3-CCBC6A79E7F5}" type="pres">
      <dgm:prSet presAssocID="{B03F6BC5-D7A1-484D-84F2-A1E628040C3E}" presName="sibTrans" presStyleCnt="0"/>
      <dgm:spPr/>
    </dgm:pt>
    <dgm:pt modelId="{7AECB77E-E9F1-6244-8F5C-B0E2B58E0907}" type="pres">
      <dgm:prSet presAssocID="{6D5B435D-CE85-D943-9C2C-E8A4A344C33D}" presName="node" presStyleLbl="node1" presStyleIdx="2" presStyleCnt="13">
        <dgm:presLayoutVars>
          <dgm:bulletEnabled val="1"/>
        </dgm:presLayoutVars>
      </dgm:prSet>
      <dgm:spPr/>
    </dgm:pt>
    <dgm:pt modelId="{356545A3-EF7E-D54F-AF58-483A0D4C37F3}" type="pres">
      <dgm:prSet presAssocID="{FA0BDA17-BCC5-024D-9A23-8D9CB33B6EBA}" presName="sibTrans" presStyleCnt="0"/>
      <dgm:spPr/>
    </dgm:pt>
    <dgm:pt modelId="{C0353296-3733-774C-8C53-B3B4153D3D6B}" type="pres">
      <dgm:prSet presAssocID="{C923B896-6594-6748-B5C7-E1E9070EAA0E}" presName="node" presStyleLbl="node1" presStyleIdx="3" presStyleCnt="13">
        <dgm:presLayoutVars>
          <dgm:bulletEnabled val="1"/>
        </dgm:presLayoutVars>
      </dgm:prSet>
      <dgm:spPr/>
    </dgm:pt>
    <dgm:pt modelId="{0F955F1D-F4CB-0348-8F86-FA7376BA57C9}" type="pres">
      <dgm:prSet presAssocID="{B2C2E860-1EA5-AD44-AD92-CA1D1D93ED62}" presName="sibTrans" presStyleCnt="0"/>
      <dgm:spPr/>
    </dgm:pt>
    <dgm:pt modelId="{D24365E8-69DE-C747-9E83-52B84A61D2F6}" type="pres">
      <dgm:prSet presAssocID="{1EED44D3-1523-2743-AC4B-D95D4472E9C1}" presName="node" presStyleLbl="node1" presStyleIdx="4" presStyleCnt="13">
        <dgm:presLayoutVars>
          <dgm:bulletEnabled val="1"/>
        </dgm:presLayoutVars>
      </dgm:prSet>
      <dgm:spPr/>
    </dgm:pt>
    <dgm:pt modelId="{77D9B1E0-CA6E-2A4A-925B-9FEEDF4805DE}" type="pres">
      <dgm:prSet presAssocID="{6CBAC25A-AAFE-A942-9BA7-6C6C44FE6440}" presName="sibTrans" presStyleCnt="0"/>
      <dgm:spPr/>
    </dgm:pt>
    <dgm:pt modelId="{66E8F405-FAFC-9145-ADC8-EB70BBB725C7}" type="pres">
      <dgm:prSet presAssocID="{2A675491-0078-064B-B6B4-6AE5F1D714FB}" presName="node" presStyleLbl="node1" presStyleIdx="5" presStyleCnt="13">
        <dgm:presLayoutVars>
          <dgm:bulletEnabled val="1"/>
        </dgm:presLayoutVars>
      </dgm:prSet>
      <dgm:spPr/>
    </dgm:pt>
    <dgm:pt modelId="{9F9FE9E0-E1C2-EE4E-A222-C08EE018CEB1}" type="pres">
      <dgm:prSet presAssocID="{C0086915-FBD4-C34A-B2DD-BDF32E77A6D0}" presName="sibTrans" presStyleCnt="0"/>
      <dgm:spPr/>
    </dgm:pt>
    <dgm:pt modelId="{4E482E25-3721-7343-81CE-F685686CC338}" type="pres">
      <dgm:prSet presAssocID="{061BF52E-9B16-F349-9DD6-E9E0EC541096}" presName="node" presStyleLbl="node1" presStyleIdx="6" presStyleCnt="13">
        <dgm:presLayoutVars>
          <dgm:bulletEnabled val="1"/>
        </dgm:presLayoutVars>
      </dgm:prSet>
      <dgm:spPr/>
    </dgm:pt>
    <dgm:pt modelId="{9BA3AE47-A6EA-2443-A6C3-582D653A8613}" type="pres">
      <dgm:prSet presAssocID="{EEB2FD0B-DE9D-5146-AD51-EC4A8B549EBE}" presName="sibTrans" presStyleCnt="0"/>
      <dgm:spPr/>
    </dgm:pt>
    <dgm:pt modelId="{72C0B4ED-B88B-7C4C-A6DE-EE2433019B73}" type="pres">
      <dgm:prSet presAssocID="{D55A030B-F7FF-EC42-9AF7-8F127584F165}" presName="node" presStyleLbl="node1" presStyleIdx="7" presStyleCnt="13">
        <dgm:presLayoutVars>
          <dgm:bulletEnabled val="1"/>
        </dgm:presLayoutVars>
      </dgm:prSet>
      <dgm:spPr/>
    </dgm:pt>
    <dgm:pt modelId="{AC022A94-D16F-0B42-8961-FC5209804E84}" type="pres">
      <dgm:prSet presAssocID="{DBF70DA9-A9D0-F649-9578-9A0582C95A22}" presName="sibTrans" presStyleCnt="0"/>
      <dgm:spPr/>
    </dgm:pt>
    <dgm:pt modelId="{E7F8FEAB-4CC0-F94B-A09F-DBB51EC19114}" type="pres">
      <dgm:prSet presAssocID="{0C210577-77B9-6F4E-82BD-9A9AAD7989DC}" presName="node" presStyleLbl="node1" presStyleIdx="8" presStyleCnt="13">
        <dgm:presLayoutVars>
          <dgm:bulletEnabled val="1"/>
        </dgm:presLayoutVars>
      </dgm:prSet>
      <dgm:spPr/>
    </dgm:pt>
    <dgm:pt modelId="{6BC6FE83-91A5-8A40-B9FD-ED8727FE5D95}" type="pres">
      <dgm:prSet presAssocID="{61D93068-790D-6944-9E8A-229E21F289C7}" presName="sibTrans" presStyleCnt="0"/>
      <dgm:spPr/>
    </dgm:pt>
    <dgm:pt modelId="{7DB8A28C-61C8-9143-8B1B-9DF0E1FBE863}" type="pres">
      <dgm:prSet presAssocID="{F571EE18-EAAE-E34F-8B2E-B4C1B9E9BB4F}" presName="node" presStyleLbl="node1" presStyleIdx="9" presStyleCnt="13">
        <dgm:presLayoutVars>
          <dgm:bulletEnabled val="1"/>
        </dgm:presLayoutVars>
      </dgm:prSet>
      <dgm:spPr/>
    </dgm:pt>
    <dgm:pt modelId="{EA75BDAC-A5C9-264B-96CE-16FEA051E77B}" type="pres">
      <dgm:prSet presAssocID="{886EA4D1-A230-1146-9C8C-6254D2C40721}" presName="sibTrans" presStyleCnt="0"/>
      <dgm:spPr/>
    </dgm:pt>
    <dgm:pt modelId="{7C264F48-7FD7-0040-A586-23F28C4C2BDD}" type="pres">
      <dgm:prSet presAssocID="{4DE9BD78-E09A-B641-8E02-5B72C7148974}" presName="node" presStyleLbl="node1" presStyleIdx="10" presStyleCnt="13">
        <dgm:presLayoutVars>
          <dgm:bulletEnabled val="1"/>
        </dgm:presLayoutVars>
      </dgm:prSet>
      <dgm:spPr/>
    </dgm:pt>
    <dgm:pt modelId="{E9C563B9-3E9C-5741-9891-D40A7435FBD0}" type="pres">
      <dgm:prSet presAssocID="{DF9DF219-A5E1-594C-8D5B-3C8453A7BC88}" presName="sibTrans" presStyleCnt="0"/>
      <dgm:spPr/>
    </dgm:pt>
    <dgm:pt modelId="{4F8F62E2-B8D6-E24B-AD95-B7E8E9B9084C}" type="pres">
      <dgm:prSet presAssocID="{1C02BCDB-8518-8C45-B40E-BDD94E8E5B5C}" presName="node" presStyleLbl="node1" presStyleIdx="11" presStyleCnt="13">
        <dgm:presLayoutVars>
          <dgm:bulletEnabled val="1"/>
        </dgm:presLayoutVars>
      </dgm:prSet>
      <dgm:spPr/>
    </dgm:pt>
    <dgm:pt modelId="{B3C8984B-6BEF-DA4B-8DB2-549615C752DB}" type="pres">
      <dgm:prSet presAssocID="{E0957738-2295-BA49-8A89-C73B2EAD72B9}" presName="sibTrans" presStyleCnt="0"/>
      <dgm:spPr/>
    </dgm:pt>
    <dgm:pt modelId="{074D8911-5684-FE4C-8E5A-B14661BEBFB1}" type="pres">
      <dgm:prSet presAssocID="{D9D6BB53-B325-AC4C-956F-5B18246BD6EB}" presName="node" presStyleLbl="node1" presStyleIdx="12" presStyleCnt="13">
        <dgm:presLayoutVars>
          <dgm:bulletEnabled val="1"/>
        </dgm:presLayoutVars>
      </dgm:prSet>
      <dgm:spPr/>
    </dgm:pt>
  </dgm:ptLst>
  <dgm:cxnLst>
    <dgm:cxn modelId="{59D3F101-0EF6-084C-8971-9DB2899D7E82}" srcId="{F178F0DC-4605-7743-9B00-573E0EFD16C3}" destId="{D9D6BB53-B325-AC4C-956F-5B18246BD6EB}" srcOrd="12" destOrd="0" parTransId="{5B8202E1-728E-D342-B85D-31FEF70B38A9}" sibTransId="{24F928BE-1ACA-EF45-800B-3E75B1CCD182}"/>
    <dgm:cxn modelId="{FFA63D03-A1B8-B24D-8A3B-E458675C442F}" srcId="{F178F0DC-4605-7743-9B00-573E0EFD16C3}" destId="{1EED44D3-1523-2743-AC4B-D95D4472E9C1}" srcOrd="4" destOrd="0" parTransId="{D62E2D82-41FE-EE4F-90A6-90D44427C1BB}" sibTransId="{6CBAC25A-AAFE-A942-9BA7-6C6C44FE6440}"/>
    <dgm:cxn modelId="{D6C6D50B-65BA-C34C-BD77-C3D8C293E1DB}" srcId="{F178F0DC-4605-7743-9B00-573E0EFD16C3}" destId="{061BF52E-9B16-F349-9DD6-E9E0EC541096}" srcOrd="6" destOrd="0" parTransId="{392F348B-95F3-1A4F-9C9F-B855BC5C6BCE}" sibTransId="{EEB2FD0B-DE9D-5146-AD51-EC4A8B549EBE}"/>
    <dgm:cxn modelId="{F3D67B16-0E05-3B4A-8EBC-DCAEA7C8EAEB}" type="presOf" srcId="{061BF52E-9B16-F349-9DD6-E9E0EC541096}" destId="{4E482E25-3721-7343-81CE-F685686CC338}" srcOrd="0" destOrd="0" presId="urn:microsoft.com/office/officeart/2005/8/layout/default"/>
    <dgm:cxn modelId="{979F8B19-B928-564B-8282-F5C09917E117}" srcId="{F178F0DC-4605-7743-9B00-573E0EFD16C3}" destId="{2A675491-0078-064B-B6B4-6AE5F1D714FB}" srcOrd="5" destOrd="0" parTransId="{C6396AED-DE8A-2E4F-B9A2-83801C810EA1}" sibTransId="{C0086915-FBD4-C34A-B2DD-BDF32E77A6D0}"/>
    <dgm:cxn modelId="{F8B72622-6B53-EE4F-A690-688FE60FB8E7}" srcId="{F178F0DC-4605-7743-9B00-573E0EFD16C3}" destId="{1C02BCDB-8518-8C45-B40E-BDD94E8E5B5C}" srcOrd="11" destOrd="0" parTransId="{C556489E-FDE6-7846-B8AD-069F8098F14E}" sibTransId="{E0957738-2295-BA49-8A89-C73B2EAD72B9}"/>
    <dgm:cxn modelId="{895F482D-E7FB-274F-A71F-A40DCB25DD35}" srcId="{F178F0DC-4605-7743-9B00-573E0EFD16C3}" destId="{6F847ACB-A0A6-A543-A1C9-F127EAAA2BBB}" srcOrd="1" destOrd="0" parTransId="{4D036016-795D-3B43-9A2F-BEB4DD50EE63}" sibTransId="{B03F6BC5-D7A1-484D-84F2-A1E628040C3E}"/>
    <dgm:cxn modelId="{E320F32E-81D1-B041-93F7-93945B6EF942}" type="presOf" srcId="{4DE9BD78-E09A-B641-8E02-5B72C7148974}" destId="{7C264F48-7FD7-0040-A586-23F28C4C2BDD}" srcOrd="0" destOrd="0" presId="urn:microsoft.com/office/officeart/2005/8/layout/default"/>
    <dgm:cxn modelId="{7BC45D33-F756-784D-BE7B-B0C77F856709}" type="presOf" srcId="{C923B896-6594-6748-B5C7-E1E9070EAA0E}" destId="{C0353296-3733-774C-8C53-B3B4153D3D6B}" srcOrd="0" destOrd="0" presId="urn:microsoft.com/office/officeart/2005/8/layout/default"/>
    <dgm:cxn modelId="{78311E3C-8800-B244-AD6D-1A441BC287F6}" type="presOf" srcId="{6D5B435D-CE85-D943-9C2C-E8A4A344C33D}" destId="{7AECB77E-E9F1-6244-8F5C-B0E2B58E0907}" srcOrd="0" destOrd="0" presId="urn:microsoft.com/office/officeart/2005/8/layout/default"/>
    <dgm:cxn modelId="{F58C4D47-4AAB-2043-BEAC-179519DB3C3A}" type="presOf" srcId="{F571EE18-EAAE-E34F-8B2E-B4C1B9E9BB4F}" destId="{7DB8A28C-61C8-9143-8B1B-9DF0E1FBE863}" srcOrd="0" destOrd="0" presId="urn:microsoft.com/office/officeart/2005/8/layout/default"/>
    <dgm:cxn modelId="{3F719B48-99F1-7344-B0A2-681AA1BEE189}" srcId="{F178F0DC-4605-7743-9B00-573E0EFD16C3}" destId="{0C210577-77B9-6F4E-82BD-9A9AAD7989DC}" srcOrd="8" destOrd="0" parTransId="{D0A1FE19-D740-9C4D-A52F-0C0185DFAB0C}" sibTransId="{61D93068-790D-6944-9E8A-229E21F289C7}"/>
    <dgm:cxn modelId="{63910A4F-E89F-7A4C-AFD0-73F8AD9AF2B2}" type="presOf" srcId="{06AAA6B5-754B-D84F-84D1-4D268EBD1C10}" destId="{C04E57B1-2D5F-C84C-94B9-7C1D35A94586}" srcOrd="0" destOrd="0" presId="urn:microsoft.com/office/officeart/2005/8/layout/default"/>
    <dgm:cxn modelId="{CABFFC4F-8E76-BF47-AA9D-085FE59B64C1}" type="presOf" srcId="{D9D6BB53-B325-AC4C-956F-5B18246BD6EB}" destId="{074D8911-5684-FE4C-8E5A-B14661BEBFB1}" srcOrd="0" destOrd="0" presId="urn:microsoft.com/office/officeart/2005/8/layout/default"/>
    <dgm:cxn modelId="{D727E96C-5E60-E946-B4F0-B779E2C5955A}" srcId="{F178F0DC-4605-7743-9B00-573E0EFD16C3}" destId="{6D5B435D-CE85-D943-9C2C-E8A4A344C33D}" srcOrd="2" destOrd="0" parTransId="{BE398076-65A2-4443-AF5F-F2447D5CFC75}" sibTransId="{FA0BDA17-BCC5-024D-9A23-8D9CB33B6EBA}"/>
    <dgm:cxn modelId="{7F18D571-BD7F-5644-AB39-625F490B7883}" type="presOf" srcId="{1EED44D3-1523-2743-AC4B-D95D4472E9C1}" destId="{D24365E8-69DE-C747-9E83-52B84A61D2F6}" srcOrd="0" destOrd="0" presId="urn:microsoft.com/office/officeart/2005/8/layout/default"/>
    <dgm:cxn modelId="{56169D7E-7900-ED45-B254-EF43CF7F2C04}" srcId="{F178F0DC-4605-7743-9B00-573E0EFD16C3}" destId="{4DE9BD78-E09A-B641-8E02-5B72C7148974}" srcOrd="10" destOrd="0" parTransId="{3CF701EA-1433-B34A-BFD9-F155B6CA8E88}" sibTransId="{DF9DF219-A5E1-594C-8D5B-3C8453A7BC88}"/>
    <dgm:cxn modelId="{8184A77E-3B7C-E04A-AFB3-0D7671D6168C}" type="presOf" srcId="{6F847ACB-A0A6-A543-A1C9-F127EAAA2BBB}" destId="{37B7A3E1-F68F-544D-89B7-C540BA6EC5A4}" srcOrd="0" destOrd="0" presId="urn:microsoft.com/office/officeart/2005/8/layout/default"/>
    <dgm:cxn modelId="{D1CA0B85-3FAB-574A-B2AD-D609083F9D30}" type="presOf" srcId="{1C02BCDB-8518-8C45-B40E-BDD94E8E5B5C}" destId="{4F8F62E2-B8D6-E24B-AD95-B7E8E9B9084C}" srcOrd="0" destOrd="0" presId="urn:microsoft.com/office/officeart/2005/8/layout/default"/>
    <dgm:cxn modelId="{0D50FF88-0AB6-9948-8DFD-D9C7CD2C186D}" srcId="{F178F0DC-4605-7743-9B00-573E0EFD16C3}" destId="{F571EE18-EAAE-E34F-8B2E-B4C1B9E9BB4F}" srcOrd="9" destOrd="0" parTransId="{BC008457-5B3B-134E-B084-10294E616D24}" sibTransId="{886EA4D1-A230-1146-9C8C-6254D2C40721}"/>
    <dgm:cxn modelId="{1EC6C789-0A66-7E4D-8473-322FF68A5E95}" type="presOf" srcId="{F178F0DC-4605-7743-9B00-573E0EFD16C3}" destId="{E529B231-BAD5-F642-87AB-5392CA5C4292}" srcOrd="0" destOrd="0" presId="urn:microsoft.com/office/officeart/2005/8/layout/default"/>
    <dgm:cxn modelId="{33A9ECA5-0F96-D242-85B1-9D5F65B93F49}" type="presOf" srcId="{2A675491-0078-064B-B6B4-6AE5F1D714FB}" destId="{66E8F405-FAFC-9145-ADC8-EB70BBB725C7}" srcOrd="0" destOrd="0" presId="urn:microsoft.com/office/officeart/2005/8/layout/default"/>
    <dgm:cxn modelId="{CEB4F5B7-11F7-A248-8F25-F45B9F3AE33B}" srcId="{F178F0DC-4605-7743-9B00-573E0EFD16C3}" destId="{C923B896-6594-6748-B5C7-E1E9070EAA0E}" srcOrd="3" destOrd="0" parTransId="{4AAF6CC3-D978-804E-96B1-75D62E033A6F}" sibTransId="{B2C2E860-1EA5-AD44-AD92-CA1D1D93ED62}"/>
    <dgm:cxn modelId="{BA10EEDD-E0D5-6244-9ED1-CAF51FD7D633}" srcId="{F178F0DC-4605-7743-9B00-573E0EFD16C3}" destId="{D55A030B-F7FF-EC42-9AF7-8F127584F165}" srcOrd="7" destOrd="0" parTransId="{1BBCBE10-32B2-D544-8441-326790C0A73B}" sibTransId="{DBF70DA9-A9D0-F649-9578-9A0582C95A22}"/>
    <dgm:cxn modelId="{FE2E24E3-E02D-8C44-9271-10E9E0D2D538}" type="presOf" srcId="{0C210577-77B9-6F4E-82BD-9A9AAD7989DC}" destId="{E7F8FEAB-4CC0-F94B-A09F-DBB51EC19114}" srcOrd="0" destOrd="0" presId="urn:microsoft.com/office/officeart/2005/8/layout/default"/>
    <dgm:cxn modelId="{8C1F27EA-B3D5-3A4A-84BA-6E0C302B50E3}" srcId="{F178F0DC-4605-7743-9B00-573E0EFD16C3}" destId="{06AAA6B5-754B-D84F-84D1-4D268EBD1C10}" srcOrd="0" destOrd="0" parTransId="{9CA648B6-D737-B444-B780-97AC539CB198}" sibTransId="{296E8F7A-6037-D646-AEF4-4B24FD9C6574}"/>
    <dgm:cxn modelId="{4776E8F2-08B3-3E4C-BE42-427EF9620DF3}" type="presOf" srcId="{D55A030B-F7FF-EC42-9AF7-8F127584F165}" destId="{72C0B4ED-B88B-7C4C-A6DE-EE2433019B73}" srcOrd="0" destOrd="0" presId="urn:microsoft.com/office/officeart/2005/8/layout/default"/>
    <dgm:cxn modelId="{6AF23441-74B0-9640-9125-E5A79EF448EC}" type="presParOf" srcId="{E529B231-BAD5-F642-87AB-5392CA5C4292}" destId="{C04E57B1-2D5F-C84C-94B9-7C1D35A94586}" srcOrd="0" destOrd="0" presId="urn:microsoft.com/office/officeart/2005/8/layout/default"/>
    <dgm:cxn modelId="{07A5A4D6-8E08-0443-AB9A-AD776479B451}" type="presParOf" srcId="{E529B231-BAD5-F642-87AB-5392CA5C4292}" destId="{0F0D2F8F-5893-3940-9A7F-3A0674C06A25}" srcOrd="1" destOrd="0" presId="urn:microsoft.com/office/officeart/2005/8/layout/default"/>
    <dgm:cxn modelId="{A7908E53-97E8-9B43-A3A0-8011C7AB2AB1}" type="presParOf" srcId="{E529B231-BAD5-F642-87AB-5392CA5C4292}" destId="{37B7A3E1-F68F-544D-89B7-C540BA6EC5A4}" srcOrd="2" destOrd="0" presId="urn:microsoft.com/office/officeart/2005/8/layout/default"/>
    <dgm:cxn modelId="{1EC8E50B-D89B-5A4F-95AD-3E19CB4801A3}" type="presParOf" srcId="{E529B231-BAD5-F642-87AB-5392CA5C4292}" destId="{DA9B6AD7-E357-D146-ACE3-CCBC6A79E7F5}" srcOrd="3" destOrd="0" presId="urn:microsoft.com/office/officeart/2005/8/layout/default"/>
    <dgm:cxn modelId="{3304F01F-F5E0-0346-98EB-69D72B3D2344}" type="presParOf" srcId="{E529B231-BAD5-F642-87AB-5392CA5C4292}" destId="{7AECB77E-E9F1-6244-8F5C-B0E2B58E0907}" srcOrd="4" destOrd="0" presId="urn:microsoft.com/office/officeart/2005/8/layout/default"/>
    <dgm:cxn modelId="{97EACDAC-A6B7-1646-81CA-6685A6FCE8BB}" type="presParOf" srcId="{E529B231-BAD5-F642-87AB-5392CA5C4292}" destId="{356545A3-EF7E-D54F-AF58-483A0D4C37F3}" srcOrd="5" destOrd="0" presId="urn:microsoft.com/office/officeart/2005/8/layout/default"/>
    <dgm:cxn modelId="{50B9AAA3-351C-7048-955E-EBC1694A56E9}" type="presParOf" srcId="{E529B231-BAD5-F642-87AB-5392CA5C4292}" destId="{C0353296-3733-774C-8C53-B3B4153D3D6B}" srcOrd="6" destOrd="0" presId="urn:microsoft.com/office/officeart/2005/8/layout/default"/>
    <dgm:cxn modelId="{730B85DF-75E3-9C4D-9500-BC47C8091A5D}" type="presParOf" srcId="{E529B231-BAD5-F642-87AB-5392CA5C4292}" destId="{0F955F1D-F4CB-0348-8F86-FA7376BA57C9}" srcOrd="7" destOrd="0" presId="urn:microsoft.com/office/officeart/2005/8/layout/default"/>
    <dgm:cxn modelId="{4420A07B-1C61-9A40-A3C8-12D4D20D9F4E}" type="presParOf" srcId="{E529B231-BAD5-F642-87AB-5392CA5C4292}" destId="{D24365E8-69DE-C747-9E83-52B84A61D2F6}" srcOrd="8" destOrd="0" presId="urn:microsoft.com/office/officeart/2005/8/layout/default"/>
    <dgm:cxn modelId="{3AD3C2E6-33AA-AB49-B3A7-F70185278D5B}" type="presParOf" srcId="{E529B231-BAD5-F642-87AB-5392CA5C4292}" destId="{77D9B1E0-CA6E-2A4A-925B-9FEEDF4805DE}" srcOrd="9" destOrd="0" presId="urn:microsoft.com/office/officeart/2005/8/layout/default"/>
    <dgm:cxn modelId="{47F9CBDE-B17A-4C4B-8A0C-5C263AF60CC0}" type="presParOf" srcId="{E529B231-BAD5-F642-87AB-5392CA5C4292}" destId="{66E8F405-FAFC-9145-ADC8-EB70BBB725C7}" srcOrd="10" destOrd="0" presId="urn:microsoft.com/office/officeart/2005/8/layout/default"/>
    <dgm:cxn modelId="{9F7A5DA3-E368-D346-A2E4-94D5A28A3D86}" type="presParOf" srcId="{E529B231-BAD5-F642-87AB-5392CA5C4292}" destId="{9F9FE9E0-E1C2-EE4E-A222-C08EE018CEB1}" srcOrd="11" destOrd="0" presId="urn:microsoft.com/office/officeart/2005/8/layout/default"/>
    <dgm:cxn modelId="{3912FE44-1DFB-434D-BF6E-BC5C09471EDA}" type="presParOf" srcId="{E529B231-BAD5-F642-87AB-5392CA5C4292}" destId="{4E482E25-3721-7343-81CE-F685686CC338}" srcOrd="12" destOrd="0" presId="urn:microsoft.com/office/officeart/2005/8/layout/default"/>
    <dgm:cxn modelId="{7E8ED8FD-D5CD-3A4C-A35F-55A81B4B1B09}" type="presParOf" srcId="{E529B231-BAD5-F642-87AB-5392CA5C4292}" destId="{9BA3AE47-A6EA-2443-A6C3-582D653A8613}" srcOrd="13" destOrd="0" presId="urn:microsoft.com/office/officeart/2005/8/layout/default"/>
    <dgm:cxn modelId="{94B9394F-1AA1-6948-9776-D90CFB5A9F00}" type="presParOf" srcId="{E529B231-BAD5-F642-87AB-5392CA5C4292}" destId="{72C0B4ED-B88B-7C4C-A6DE-EE2433019B73}" srcOrd="14" destOrd="0" presId="urn:microsoft.com/office/officeart/2005/8/layout/default"/>
    <dgm:cxn modelId="{2F649211-8C46-934D-9A59-8116C1860C1D}" type="presParOf" srcId="{E529B231-BAD5-F642-87AB-5392CA5C4292}" destId="{AC022A94-D16F-0B42-8961-FC5209804E84}" srcOrd="15" destOrd="0" presId="urn:microsoft.com/office/officeart/2005/8/layout/default"/>
    <dgm:cxn modelId="{D24FE2A1-A88A-DC41-A1AB-C4552D6E62ED}" type="presParOf" srcId="{E529B231-BAD5-F642-87AB-5392CA5C4292}" destId="{E7F8FEAB-4CC0-F94B-A09F-DBB51EC19114}" srcOrd="16" destOrd="0" presId="urn:microsoft.com/office/officeart/2005/8/layout/default"/>
    <dgm:cxn modelId="{FBB3BBC9-F707-1544-B71C-4A01396216E4}" type="presParOf" srcId="{E529B231-BAD5-F642-87AB-5392CA5C4292}" destId="{6BC6FE83-91A5-8A40-B9FD-ED8727FE5D95}" srcOrd="17" destOrd="0" presId="urn:microsoft.com/office/officeart/2005/8/layout/default"/>
    <dgm:cxn modelId="{70CE29DD-BC98-E340-A63E-4D6A00770CFD}" type="presParOf" srcId="{E529B231-BAD5-F642-87AB-5392CA5C4292}" destId="{7DB8A28C-61C8-9143-8B1B-9DF0E1FBE863}" srcOrd="18" destOrd="0" presId="urn:microsoft.com/office/officeart/2005/8/layout/default"/>
    <dgm:cxn modelId="{5DA81A28-1DBC-2E4C-AEC0-1E386239106E}" type="presParOf" srcId="{E529B231-BAD5-F642-87AB-5392CA5C4292}" destId="{EA75BDAC-A5C9-264B-96CE-16FEA051E77B}" srcOrd="19" destOrd="0" presId="urn:microsoft.com/office/officeart/2005/8/layout/default"/>
    <dgm:cxn modelId="{865DD227-A7B7-6C4B-BEE5-5EF21E00473B}" type="presParOf" srcId="{E529B231-BAD5-F642-87AB-5392CA5C4292}" destId="{7C264F48-7FD7-0040-A586-23F28C4C2BDD}" srcOrd="20" destOrd="0" presId="urn:microsoft.com/office/officeart/2005/8/layout/default"/>
    <dgm:cxn modelId="{68C5DAB9-27EC-F546-91BA-4EB0392E4DC6}" type="presParOf" srcId="{E529B231-BAD5-F642-87AB-5392CA5C4292}" destId="{E9C563B9-3E9C-5741-9891-D40A7435FBD0}" srcOrd="21" destOrd="0" presId="urn:microsoft.com/office/officeart/2005/8/layout/default"/>
    <dgm:cxn modelId="{B4B99ABC-B874-974B-9124-F90A51AAAD7B}" type="presParOf" srcId="{E529B231-BAD5-F642-87AB-5392CA5C4292}" destId="{4F8F62E2-B8D6-E24B-AD95-B7E8E9B9084C}" srcOrd="22" destOrd="0" presId="urn:microsoft.com/office/officeart/2005/8/layout/default"/>
    <dgm:cxn modelId="{DBD8C398-5B73-2442-A81D-96682042FD4E}" type="presParOf" srcId="{E529B231-BAD5-F642-87AB-5392CA5C4292}" destId="{B3C8984B-6BEF-DA4B-8DB2-549615C752DB}" srcOrd="23" destOrd="0" presId="urn:microsoft.com/office/officeart/2005/8/layout/default"/>
    <dgm:cxn modelId="{8279B503-DF15-9545-9880-BA98FC031716}" type="presParOf" srcId="{E529B231-BAD5-F642-87AB-5392CA5C4292}" destId="{074D8911-5684-FE4C-8E5A-B14661BEBFB1}"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E8E6F1-5C90-3346-A398-C2531D830B97}" type="doc">
      <dgm:prSet loTypeId="urn:microsoft.com/office/officeart/2005/8/layout/process4" loCatId="" qsTypeId="urn:microsoft.com/office/officeart/2005/8/quickstyle/simple1" qsCatId="simple" csTypeId="urn:microsoft.com/office/officeart/2005/8/colors/accent1_2" csCatId="accent1" phldr="1"/>
      <dgm:spPr/>
      <dgm:t>
        <a:bodyPr/>
        <a:lstStyle/>
        <a:p>
          <a:endParaRPr kumimoji="1" lang="ja-JP" altLang="en-US"/>
        </a:p>
      </dgm:t>
    </dgm:pt>
    <dgm:pt modelId="{0FB9644B-8C52-E346-8AEC-6B79062497E6}">
      <dgm:prSet phldrT="[テキスト]" custT="1"/>
      <dgm:spPr/>
      <dgm:t>
        <a:bodyPr/>
        <a:lstStyle/>
        <a:p>
          <a:pPr algn="l"/>
          <a:r>
            <a:rPr lang="en-US" sz="1600" b="1" dirty="0">
              <a:solidFill>
                <a:schemeClr val="bg1"/>
              </a:solidFill>
              <a:latin typeface="Yu Gothic" pitchFamily="34" charset="0"/>
              <a:ea typeface="Yu Gothic" pitchFamily="34" charset="-122"/>
              <a:cs typeface="Yu Gothic" pitchFamily="34" charset="-120"/>
            </a:rPr>
            <a:t>Step2:	</a:t>
          </a:r>
          <a:r>
            <a:rPr lang="en-US" sz="1600" b="1" dirty="0" err="1">
              <a:solidFill>
                <a:schemeClr val="bg1"/>
              </a:solidFill>
              <a:latin typeface="Yu Gothic" pitchFamily="34" charset="0"/>
              <a:ea typeface="Yu Gothic" pitchFamily="34" charset="-122"/>
              <a:cs typeface="Yu Gothic" pitchFamily="34" charset="-120"/>
            </a:rPr>
            <a:t>メネラウスの定理</a:t>
          </a:r>
          <a:endParaRPr kumimoji="1" lang="ja-JP" altLang="en-US" sz="1600">
            <a:solidFill>
              <a:schemeClr val="bg1"/>
            </a:solidFill>
          </a:endParaRPr>
        </a:p>
      </dgm:t>
    </dgm:pt>
    <dgm:pt modelId="{5C51FCCB-995F-7049-A725-5930A5758596}" type="parTrans" cxnId="{1484680D-AFBD-544D-9C00-B366DCE4A57B}">
      <dgm:prSet/>
      <dgm:spPr/>
      <dgm:t>
        <a:bodyPr/>
        <a:lstStyle/>
        <a:p>
          <a:endParaRPr kumimoji="1" lang="ja-JP" altLang="en-US"/>
        </a:p>
      </dgm:t>
    </dgm:pt>
    <dgm:pt modelId="{338613F8-0120-724A-AB06-4208EBA13979}" type="sibTrans" cxnId="{1484680D-AFBD-544D-9C00-B366DCE4A57B}">
      <dgm:prSet/>
      <dgm:spPr/>
      <dgm:t>
        <a:bodyPr/>
        <a:lstStyle/>
        <a:p>
          <a:endParaRPr kumimoji="1" lang="ja-JP" altLang="en-US"/>
        </a:p>
      </dgm:t>
    </dgm:pt>
    <dgm:pt modelId="{689A02EE-CE2D-1849-90E9-71979C03774E}">
      <dgm:prSet phldrT="[テキスト]"/>
      <dgm:spPr>
        <a:solidFill>
          <a:schemeClr val="bg1">
            <a:lumMod val="95000"/>
            <a:alpha val="90000"/>
          </a:schemeClr>
        </a:solidFill>
      </dgm:spPr>
      <dgm:t>
        <a:bodyPr/>
        <a:lstStyle/>
        <a:p>
          <a:pPr>
            <a:buNone/>
          </a:pPr>
          <a:r>
            <a:rPr lang="en-US" dirty="0">
              <a:solidFill>
                <a:srgbClr val="333333"/>
              </a:solidFill>
              <a:latin typeface="Yu Gothic" pitchFamily="34" charset="0"/>
              <a:ea typeface="Yu Gothic" pitchFamily="34" charset="-122"/>
              <a:cs typeface="Yu Gothic" pitchFamily="34" charset="-120"/>
            </a:rPr>
            <a:t>△XYZ を横切る３本の直線（BCQ, DEP, FAR）に各１回，計３回適用し，比の式を導く。</a:t>
          </a:r>
          <a:endParaRPr kumimoji="1" lang="ja-JP" altLang="en-US"/>
        </a:p>
      </dgm:t>
    </dgm:pt>
    <dgm:pt modelId="{A3A59AE9-5005-604E-AE29-6A5893EA3A3D}" type="parTrans" cxnId="{CD1D3FE9-2084-3045-B10D-D49466FCE76D}">
      <dgm:prSet/>
      <dgm:spPr/>
      <dgm:t>
        <a:bodyPr/>
        <a:lstStyle/>
        <a:p>
          <a:endParaRPr kumimoji="1" lang="ja-JP" altLang="en-US"/>
        </a:p>
      </dgm:t>
    </dgm:pt>
    <dgm:pt modelId="{A9E5E475-0CD6-B847-857E-FE069005B1A6}" type="sibTrans" cxnId="{CD1D3FE9-2084-3045-B10D-D49466FCE76D}">
      <dgm:prSet/>
      <dgm:spPr/>
      <dgm:t>
        <a:bodyPr/>
        <a:lstStyle/>
        <a:p>
          <a:endParaRPr kumimoji="1" lang="ja-JP" altLang="en-US"/>
        </a:p>
      </dgm:t>
    </dgm:pt>
    <dgm:pt modelId="{9438839A-4BF5-0849-82D3-611C62D0ACD9}">
      <dgm:prSet phldrT="[テキスト]" custT="1"/>
      <dgm:spPr/>
      <dgm:t>
        <a:bodyPr/>
        <a:lstStyle/>
        <a:p>
          <a:pPr algn="l">
            <a:buNone/>
          </a:pPr>
          <a:r>
            <a:rPr lang="en-US" sz="1600" b="1" dirty="0">
              <a:solidFill>
                <a:schemeClr val="bg1"/>
              </a:solidFill>
              <a:latin typeface="Yu Gothic" pitchFamily="34" charset="0"/>
              <a:ea typeface="Yu Gothic" pitchFamily="34" charset="-122"/>
              <a:cs typeface="Yu Gothic" pitchFamily="34" charset="-120"/>
            </a:rPr>
            <a:t>Step3:	</a:t>
          </a:r>
          <a:r>
            <a:rPr lang="en-US" sz="1600" b="1" dirty="0" err="1">
              <a:solidFill>
                <a:schemeClr val="bg1"/>
              </a:solidFill>
              <a:latin typeface="Yu Gothic" pitchFamily="34" charset="0"/>
              <a:ea typeface="Yu Gothic" pitchFamily="34" charset="-122"/>
              <a:cs typeface="Yu Gothic" pitchFamily="34" charset="-120"/>
            </a:rPr>
            <a:t>方べきの定理</a:t>
          </a:r>
          <a:endParaRPr kumimoji="1" lang="ja-JP" altLang="en-US" sz="1100">
            <a:solidFill>
              <a:schemeClr val="bg1"/>
            </a:solidFill>
          </a:endParaRPr>
        </a:p>
      </dgm:t>
    </dgm:pt>
    <dgm:pt modelId="{5AAB6890-2E93-924D-8CA0-9D075B52E587}" type="parTrans" cxnId="{E40AC3CE-2483-B343-96B0-6C35849108D7}">
      <dgm:prSet/>
      <dgm:spPr/>
      <dgm:t>
        <a:bodyPr/>
        <a:lstStyle/>
        <a:p>
          <a:endParaRPr kumimoji="1" lang="ja-JP" altLang="en-US"/>
        </a:p>
      </dgm:t>
    </dgm:pt>
    <dgm:pt modelId="{C787D707-8C2D-424A-B9F3-C86B02A2B67C}" type="sibTrans" cxnId="{E40AC3CE-2483-B343-96B0-6C35849108D7}">
      <dgm:prSet/>
      <dgm:spPr/>
      <dgm:t>
        <a:bodyPr/>
        <a:lstStyle/>
        <a:p>
          <a:endParaRPr kumimoji="1" lang="ja-JP" altLang="en-US"/>
        </a:p>
      </dgm:t>
    </dgm:pt>
    <dgm:pt modelId="{E6795A7E-DEED-D948-A47C-0708A89A8916}">
      <dgm:prSet phldrT="[テキスト]"/>
      <dgm:spPr>
        <a:solidFill>
          <a:schemeClr val="bg1">
            <a:lumMod val="95000"/>
            <a:alpha val="90000"/>
          </a:schemeClr>
        </a:solidFill>
      </dgm:spPr>
      <dgm:t>
        <a:bodyPr/>
        <a:lstStyle/>
        <a:p>
          <a:pPr>
            <a:buNone/>
          </a:pPr>
          <a:r>
            <a:rPr lang="en-US" dirty="0" err="1">
              <a:solidFill>
                <a:srgbClr val="333333"/>
              </a:solidFill>
              <a:latin typeface="Yu Gothic" pitchFamily="34" charset="0"/>
              <a:ea typeface="Yu Gothic" pitchFamily="34" charset="-122"/>
              <a:cs typeface="Yu Gothic" pitchFamily="34" charset="-120"/>
            </a:rPr>
            <a:t>円に内接するという条件から，各頂点</a:t>
          </a:r>
          <a:r>
            <a:rPr lang="en-US" dirty="0">
              <a:solidFill>
                <a:srgbClr val="333333"/>
              </a:solidFill>
              <a:latin typeface="Yu Gothic" pitchFamily="34" charset="0"/>
              <a:ea typeface="Yu Gothic" pitchFamily="34" charset="-122"/>
              <a:cs typeface="Yu Gothic" pitchFamily="34" charset="-120"/>
            </a:rPr>
            <a:t> X, Y, Z 周りの比がそれぞれ１に相殺される。</a:t>
          </a:r>
          <a:endParaRPr kumimoji="1" lang="ja-JP" altLang="en-US"/>
        </a:p>
      </dgm:t>
    </dgm:pt>
    <dgm:pt modelId="{46C1F4FD-3945-1240-BDCD-D23A8E9D074A}" type="parTrans" cxnId="{0F35E63C-FA48-9344-A0D6-85DD8B4492D1}">
      <dgm:prSet/>
      <dgm:spPr/>
      <dgm:t>
        <a:bodyPr/>
        <a:lstStyle/>
        <a:p>
          <a:endParaRPr kumimoji="1" lang="ja-JP" altLang="en-US"/>
        </a:p>
      </dgm:t>
    </dgm:pt>
    <dgm:pt modelId="{EA81639F-DC33-E64F-9BC0-4539041C468A}" type="sibTrans" cxnId="{0F35E63C-FA48-9344-A0D6-85DD8B4492D1}">
      <dgm:prSet/>
      <dgm:spPr/>
      <dgm:t>
        <a:bodyPr/>
        <a:lstStyle/>
        <a:p>
          <a:endParaRPr kumimoji="1" lang="ja-JP" altLang="en-US"/>
        </a:p>
      </dgm:t>
    </dgm:pt>
    <dgm:pt modelId="{19C0BA8A-723F-C147-AD56-3DD976A61DBD}">
      <dgm:prSet phldrT="[テキスト]" custT="1"/>
      <dgm:spPr/>
      <dgm:t>
        <a:bodyPr/>
        <a:lstStyle/>
        <a:p>
          <a:pPr algn="l">
            <a:buNone/>
          </a:pPr>
          <a:r>
            <a:rPr lang="en-US" sz="1600" b="1" dirty="0">
              <a:solidFill>
                <a:schemeClr val="bg1"/>
              </a:solidFill>
              <a:latin typeface="Yu Gothic" pitchFamily="34" charset="0"/>
              <a:ea typeface="Yu Gothic" pitchFamily="34" charset="-122"/>
              <a:cs typeface="Yu Gothic" pitchFamily="34" charset="-120"/>
            </a:rPr>
            <a:t>Step1:	</a:t>
          </a:r>
          <a:r>
            <a:rPr lang="en-US" sz="1600" b="1" dirty="0" err="1">
              <a:solidFill>
                <a:schemeClr val="bg1"/>
              </a:solidFill>
              <a:latin typeface="Yu Gothic" pitchFamily="34" charset="0"/>
              <a:ea typeface="Yu Gothic" pitchFamily="34" charset="-122"/>
              <a:cs typeface="Yu Gothic" pitchFamily="34" charset="-120"/>
            </a:rPr>
            <a:t>補助三角形の作り方</a:t>
          </a:r>
          <a:endParaRPr kumimoji="1" lang="ja-JP" altLang="en-US" sz="1100">
            <a:solidFill>
              <a:schemeClr val="bg1"/>
            </a:solidFill>
          </a:endParaRPr>
        </a:p>
      </dgm:t>
    </dgm:pt>
    <dgm:pt modelId="{85ED5766-40A5-7F4F-A760-22C3B9F02130}" type="sibTrans" cxnId="{FB0617B3-C10A-9448-B388-67D66E40D3B0}">
      <dgm:prSet/>
      <dgm:spPr/>
      <dgm:t>
        <a:bodyPr/>
        <a:lstStyle/>
        <a:p>
          <a:endParaRPr kumimoji="1" lang="ja-JP" altLang="en-US"/>
        </a:p>
      </dgm:t>
    </dgm:pt>
    <dgm:pt modelId="{593B09F2-7449-3A45-AD56-A98C0246D3B9}" type="parTrans" cxnId="{FB0617B3-C10A-9448-B388-67D66E40D3B0}">
      <dgm:prSet/>
      <dgm:spPr/>
      <dgm:t>
        <a:bodyPr/>
        <a:lstStyle/>
        <a:p>
          <a:endParaRPr kumimoji="1" lang="ja-JP" altLang="en-US"/>
        </a:p>
      </dgm:t>
    </dgm:pt>
    <dgm:pt modelId="{978F9FD7-9D0F-ED4B-8C19-D7464C19B3F4}">
      <dgm:prSet phldrT="[テキスト]"/>
      <dgm:spPr>
        <a:solidFill>
          <a:schemeClr val="bg1">
            <a:lumMod val="95000"/>
            <a:alpha val="90000"/>
          </a:schemeClr>
        </a:solidFill>
      </dgm:spPr>
      <dgm:t>
        <a:bodyPr/>
        <a:lstStyle/>
        <a:p>
          <a:pPr>
            <a:buNone/>
          </a:pPr>
          <a:r>
            <a:rPr lang="en-US" dirty="0" err="1">
              <a:solidFill>
                <a:srgbClr val="333333"/>
              </a:solidFill>
              <a:latin typeface="Yu Gothic" pitchFamily="34" charset="0"/>
              <a:ea typeface="Yu Gothic" pitchFamily="34" charset="-122"/>
              <a:cs typeface="Yu Gothic" pitchFamily="34" charset="-120"/>
            </a:rPr>
            <a:t>交互の対辺（AB</a:t>
          </a:r>
          <a:r>
            <a:rPr lang="en-US" dirty="0">
              <a:solidFill>
                <a:srgbClr val="333333"/>
              </a:solidFill>
              <a:latin typeface="Yu Gothic" pitchFamily="34" charset="0"/>
              <a:ea typeface="Yu Gothic" pitchFamily="34" charset="-122"/>
              <a:cs typeface="Yu Gothic" pitchFamily="34" charset="-120"/>
            </a:rPr>
            <a:t>, CD, </a:t>
          </a:r>
          <a:r>
            <a:rPr lang="en-US" dirty="0" err="1">
              <a:solidFill>
                <a:srgbClr val="333333"/>
              </a:solidFill>
              <a:latin typeface="Yu Gothic" pitchFamily="34" charset="0"/>
              <a:ea typeface="Yu Gothic" pitchFamily="34" charset="-122"/>
              <a:cs typeface="Yu Gothic" pitchFamily="34" charset="-120"/>
            </a:rPr>
            <a:t>EF）の交点を頂点として</a:t>
          </a:r>
          <a:r>
            <a:rPr lang="en-US" dirty="0">
              <a:solidFill>
                <a:srgbClr val="333333"/>
              </a:solidFill>
              <a:latin typeface="Yu Gothic" pitchFamily="34" charset="0"/>
              <a:ea typeface="Yu Gothic" pitchFamily="34" charset="-122"/>
              <a:cs typeface="Yu Gothic" pitchFamily="34" charset="-120"/>
            </a:rPr>
            <a:t> △XYZ </a:t>
          </a:r>
          <a:r>
            <a:rPr lang="en-US" dirty="0" err="1">
              <a:solidFill>
                <a:srgbClr val="333333"/>
              </a:solidFill>
              <a:latin typeface="Yu Gothic" pitchFamily="34" charset="0"/>
              <a:ea typeface="Yu Gothic" pitchFamily="34" charset="-122"/>
              <a:cs typeface="Yu Gothic" pitchFamily="34" charset="-120"/>
            </a:rPr>
            <a:t>を設定する</a:t>
          </a:r>
          <a:r>
            <a:rPr lang="en-US" dirty="0">
              <a:solidFill>
                <a:srgbClr val="333333"/>
              </a:solidFill>
              <a:latin typeface="Yu Gothic" pitchFamily="34" charset="0"/>
              <a:ea typeface="Yu Gothic" pitchFamily="34" charset="-122"/>
              <a:cs typeface="Yu Gothic" pitchFamily="34" charset="-120"/>
            </a:rPr>
            <a:t>。</a:t>
          </a:r>
          <a:endParaRPr kumimoji="1" lang="ja-JP" altLang="en-US"/>
        </a:p>
      </dgm:t>
    </dgm:pt>
    <dgm:pt modelId="{78091ECE-DD29-E040-A435-215F194564AD}" type="sibTrans" cxnId="{D04E9E02-07F9-1F4D-82B4-D526952A2577}">
      <dgm:prSet/>
      <dgm:spPr/>
      <dgm:t>
        <a:bodyPr/>
        <a:lstStyle/>
        <a:p>
          <a:endParaRPr kumimoji="1" lang="ja-JP" altLang="en-US"/>
        </a:p>
      </dgm:t>
    </dgm:pt>
    <dgm:pt modelId="{1D3CD5DA-4DE1-8743-A8AD-459D807FBDCE}" type="parTrans" cxnId="{D04E9E02-07F9-1F4D-82B4-D526952A2577}">
      <dgm:prSet/>
      <dgm:spPr/>
      <dgm:t>
        <a:bodyPr/>
        <a:lstStyle/>
        <a:p>
          <a:endParaRPr kumimoji="1" lang="ja-JP" altLang="en-US"/>
        </a:p>
      </dgm:t>
    </dgm:pt>
    <dgm:pt modelId="{E461D4B3-A00D-0443-A677-01572FF4B50F}">
      <dgm:prSet phldrT="[テキスト]" custT="1"/>
      <dgm:spPr/>
      <dgm:t>
        <a:bodyPr/>
        <a:lstStyle/>
        <a:p>
          <a:pPr algn="l">
            <a:buNone/>
          </a:pPr>
          <a:r>
            <a:rPr lang="en-US" sz="1600" b="1" dirty="0">
              <a:solidFill>
                <a:schemeClr val="bg1"/>
              </a:solidFill>
              <a:latin typeface="Yu Gothic" pitchFamily="34" charset="0"/>
              <a:ea typeface="Yu Gothic" pitchFamily="34" charset="-122"/>
              <a:cs typeface="Yu Gothic" pitchFamily="34" charset="-120"/>
            </a:rPr>
            <a:t>Step4:	</a:t>
          </a:r>
          <a:r>
            <a:rPr lang="en-US" sz="1600" b="1" dirty="0" err="1">
              <a:solidFill>
                <a:schemeClr val="bg1"/>
              </a:solidFill>
              <a:latin typeface="Yu Gothic" pitchFamily="34" charset="0"/>
              <a:ea typeface="Yu Gothic" pitchFamily="34" charset="-122"/>
              <a:cs typeface="Yu Gothic" pitchFamily="34" charset="-120"/>
            </a:rPr>
            <a:t>逆の活用</a:t>
          </a:r>
          <a:endParaRPr kumimoji="1" lang="ja-JP" altLang="en-US" sz="1100">
            <a:solidFill>
              <a:schemeClr val="bg1"/>
            </a:solidFill>
          </a:endParaRPr>
        </a:p>
      </dgm:t>
    </dgm:pt>
    <dgm:pt modelId="{89521BC8-A478-9E4F-9193-D48F803E0E10}" type="parTrans" cxnId="{03D43EB6-D245-CF47-9994-73CAC73886FC}">
      <dgm:prSet/>
      <dgm:spPr/>
      <dgm:t>
        <a:bodyPr/>
        <a:lstStyle/>
        <a:p>
          <a:endParaRPr kumimoji="1" lang="ja-JP" altLang="en-US"/>
        </a:p>
      </dgm:t>
    </dgm:pt>
    <dgm:pt modelId="{083FC9EC-574A-1A48-974C-E00265192676}" type="sibTrans" cxnId="{03D43EB6-D245-CF47-9994-73CAC73886FC}">
      <dgm:prSet/>
      <dgm:spPr/>
      <dgm:t>
        <a:bodyPr/>
        <a:lstStyle/>
        <a:p>
          <a:endParaRPr kumimoji="1" lang="ja-JP" altLang="en-US"/>
        </a:p>
      </dgm:t>
    </dgm:pt>
    <dgm:pt modelId="{BD6276E2-15C7-844F-A596-731B3D0DFAC7}">
      <dgm:prSet phldrT="[テキスト]"/>
      <dgm:spPr>
        <a:solidFill>
          <a:schemeClr val="bg1">
            <a:lumMod val="95000"/>
            <a:alpha val="90000"/>
          </a:schemeClr>
        </a:solidFill>
      </dgm:spPr>
      <dgm:t>
        <a:bodyPr/>
        <a:lstStyle/>
        <a:p>
          <a:pPr>
            <a:buNone/>
          </a:pPr>
          <a:r>
            <a:rPr lang="en-US">
              <a:solidFill>
                <a:srgbClr val="333333"/>
              </a:solidFill>
              <a:latin typeface="Yu Gothic" pitchFamily="34" charset="0"/>
              <a:ea typeface="Yu Gothic" pitchFamily="34" charset="-122"/>
              <a:cs typeface="Yu Gothic" pitchFamily="34" charset="-120"/>
            </a:rPr>
            <a:t>最終的にメネラウスの定理の「逆」を使い，共線性（P, Q, R が一直線上）を結論づける。</a:t>
          </a:r>
          <a:endParaRPr kumimoji="1" lang="ja-JP" altLang="en-US"/>
        </a:p>
      </dgm:t>
    </dgm:pt>
    <dgm:pt modelId="{18C4A229-9F4D-DF4C-B303-3D40CC7C0CF8}" type="parTrans" cxnId="{12F79E97-C8B2-BD46-BA8F-0E2931B6EB09}">
      <dgm:prSet/>
      <dgm:spPr/>
      <dgm:t>
        <a:bodyPr/>
        <a:lstStyle/>
        <a:p>
          <a:endParaRPr kumimoji="1" lang="ja-JP" altLang="en-US"/>
        </a:p>
      </dgm:t>
    </dgm:pt>
    <dgm:pt modelId="{10E33D9B-9AF6-0E47-9627-A632E6B119BA}" type="sibTrans" cxnId="{12F79E97-C8B2-BD46-BA8F-0E2931B6EB09}">
      <dgm:prSet/>
      <dgm:spPr/>
      <dgm:t>
        <a:bodyPr/>
        <a:lstStyle/>
        <a:p>
          <a:endParaRPr kumimoji="1" lang="ja-JP" altLang="en-US"/>
        </a:p>
      </dgm:t>
    </dgm:pt>
    <dgm:pt modelId="{72106515-4A8D-A542-9BDB-6017153C26A9}" type="pres">
      <dgm:prSet presAssocID="{69E8E6F1-5C90-3346-A398-C2531D830B97}" presName="Name0" presStyleCnt="0">
        <dgm:presLayoutVars>
          <dgm:dir/>
          <dgm:animLvl val="lvl"/>
          <dgm:resizeHandles val="exact"/>
        </dgm:presLayoutVars>
      </dgm:prSet>
      <dgm:spPr/>
    </dgm:pt>
    <dgm:pt modelId="{BAC9FD67-5217-9C40-A3BB-CD824D673086}" type="pres">
      <dgm:prSet presAssocID="{E461D4B3-A00D-0443-A677-01572FF4B50F}" presName="boxAndChildren" presStyleCnt="0"/>
      <dgm:spPr/>
    </dgm:pt>
    <dgm:pt modelId="{DCBAB26D-FD72-C048-8ACD-B7DB50B22EA0}" type="pres">
      <dgm:prSet presAssocID="{E461D4B3-A00D-0443-A677-01572FF4B50F}" presName="parentTextBox" presStyleLbl="node1" presStyleIdx="0" presStyleCnt="4"/>
      <dgm:spPr/>
    </dgm:pt>
    <dgm:pt modelId="{3A43DC92-9560-8649-9BF9-37F7EF8CF964}" type="pres">
      <dgm:prSet presAssocID="{E461D4B3-A00D-0443-A677-01572FF4B50F}" presName="entireBox" presStyleLbl="node1" presStyleIdx="0" presStyleCnt="4"/>
      <dgm:spPr/>
    </dgm:pt>
    <dgm:pt modelId="{8C338539-E81C-8A41-B7C7-6C50178AB308}" type="pres">
      <dgm:prSet presAssocID="{E461D4B3-A00D-0443-A677-01572FF4B50F}" presName="descendantBox" presStyleCnt="0"/>
      <dgm:spPr/>
    </dgm:pt>
    <dgm:pt modelId="{AB66726F-9A22-0044-BAFA-D00E8AA8835B}" type="pres">
      <dgm:prSet presAssocID="{BD6276E2-15C7-844F-A596-731B3D0DFAC7}" presName="childTextBox" presStyleLbl="fgAccFollowNode1" presStyleIdx="0" presStyleCnt="4">
        <dgm:presLayoutVars>
          <dgm:bulletEnabled val="1"/>
        </dgm:presLayoutVars>
      </dgm:prSet>
      <dgm:spPr/>
    </dgm:pt>
    <dgm:pt modelId="{875D6891-C740-8D4F-8FCB-2C9534A87F13}" type="pres">
      <dgm:prSet presAssocID="{C787D707-8C2D-424A-B9F3-C86B02A2B67C}" presName="sp" presStyleCnt="0"/>
      <dgm:spPr/>
    </dgm:pt>
    <dgm:pt modelId="{7580982D-4498-644F-81B3-332AA6E994E6}" type="pres">
      <dgm:prSet presAssocID="{9438839A-4BF5-0849-82D3-611C62D0ACD9}" presName="arrowAndChildren" presStyleCnt="0"/>
      <dgm:spPr/>
    </dgm:pt>
    <dgm:pt modelId="{A2475A66-D8B3-3848-8D1B-72629A8C8E39}" type="pres">
      <dgm:prSet presAssocID="{9438839A-4BF5-0849-82D3-611C62D0ACD9}" presName="parentTextArrow" presStyleLbl="node1" presStyleIdx="0" presStyleCnt="4"/>
      <dgm:spPr/>
    </dgm:pt>
    <dgm:pt modelId="{2B23B2C1-D837-1949-B456-B81F960C47F9}" type="pres">
      <dgm:prSet presAssocID="{9438839A-4BF5-0849-82D3-611C62D0ACD9}" presName="arrow" presStyleLbl="node1" presStyleIdx="1" presStyleCnt="4"/>
      <dgm:spPr/>
    </dgm:pt>
    <dgm:pt modelId="{F9A6A51A-B210-9645-ACB3-370D76A6F432}" type="pres">
      <dgm:prSet presAssocID="{9438839A-4BF5-0849-82D3-611C62D0ACD9}" presName="descendantArrow" presStyleCnt="0"/>
      <dgm:spPr/>
    </dgm:pt>
    <dgm:pt modelId="{1FB958F3-A071-CD48-BCCF-B3C12E8B01CD}" type="pres">
      <dgm:prSet presAssocID="{E6795A7E-DEED-D948-A47C-0708A89A8916}" presName="childTextArrow" presStyleLbl="fgAccFollowNode1" presStyleIdx="1" presStyleCnt="4">
        <dgm:presLayoutVars>
          <dgm:bulletEnabled val="1"/>
        </dgm:presLayoutVars>
      </dgm:prSet>
      <dgm:spPr/>
    </dgm:pt>
    <dgm:pt modelId="{1B2B0551-4FEF-8648-A991-4A3AE39E397D}" type="pres">
      <dgm:prSet presAssocID="{338613F8-0120-724A-AB06-4208EBA13979}" presName="sp" presStyleCnt="0"/>
      <dgm:spPr/>
    </dgm:pt>
    <dgm:pt modelId="{8B28EF87-5A0B-D447-A669-7E1256A9F5BB}" type="pres">
      <dgm:prSet presAssocID="{0FB9644B-8C52-E346-8AEC-6B79062497E6}" presName="arrowAndChildren" presStyleCnt="0"/>
      <dgm:spPr/>
    </dgm:pt>
    <dgm:pt modelId="{EEBDEEF7-5F83-2940-940F-0B273FEF56FB}" type="pres">
      <dgm:prSet presAssocID="{0FB9644B-8C52-E346-8AEC-6B79062497E6}" presName="parentTextArrow" presStyleLbl="node1" presStyleIdx="1" presStyleCnt="4"/>
      <dgm:spPr/>
    </dgm:pt>
    <dgm:pt modelId="{AF5CD479-99C2-CF4C-99E3-DBACF7A3705F}" type="pres">
      <dgm:prSet presAssocID="{0FB9644B-8C52-E346-8AEC-6B79062497E6}" presName="arrow" presStyleLbl="node1" presStyleIdx="2" presStyleCnt="4"/>
      <dgm:spPr/>
    </dgm:pt>
    <dgm:pt modelId="{96C62894-03B2-944A-8A12-38977BAF54FA}" type="pres">
      <dgm:prSet presAssocID="{0FB9644B-8C52-E346-8AEC-6B79062497E6}" presName="descendantArrow" presStyleCnt="0"/>
      <dgm:spPr/>
    </dgm:pt>
    <dgm:pt modelId="{B1B9CBB8-1BAB-4F4E-8885-5B7F843E530D}" type="pres">
      <dgm:prSet presAssocID="{689A02EE-CE2D-1849-90E9-71979C03774E}" presName="childTextArrow" presStyleLbl="fgAccFollowNode1" presStyleIdx="2" presStyleCnt="4">
        <dgm:presLayoutVars>
          <dgm:bulletEnabled val="1"/>
        </dgm:presLayoutVars>
      </dgm:prSet>
      <dgm:spPr/>
    </dgm:pt>
    <dgm:pt modelId="{B098E9DE-43A4-DF45-B744-CF3418E70B4C}" type="pres">
      <dgm:prSet presAssocID="{85ED5766-40A5-7F4F-A760-22C3B9F02130}" presName="sp" presStyleCnt="0"/>
      <dgm:spPr/>
    </dgm:pt>
    <dgm:pt modelId="{1CB85AB1-770B-5741-9DDD-A9C2293CBC1B}" type="pres">
      <dgm:prSet presAssocID="{19C0BA8A-723F-C147-AD56-3DD976A61DBD}" presName="arrowAndChildren" presStyleCnt="0"/>
      <dgm:spPr/>
    </dgm:pt>
    <dgm:pt modelId="{A4B4C4E8-FC09-AD4B-8017-41F7F6CA6B40}" type="pres">
      <dgm:prSet presAssocID="{19C0BA8A-723F-C147-AD56-3DD976A61DBD}" presName="parentTextArrow" presStyleLbl="node1" presStyleIdx="2" presStyleCnt="4"/>
      <dgm:spPr/>
    </dgm:pt>
    <dgm:pt modelId="{7622A61D-779D-1846-A4D8-20EA790989AF}" type="pres">
      <dgm:prSet presAssocID="{19C0BA8A-723F-C147-AD56-3DD976A61DBD}" presName="arrow" presStyleLbl="node1" presStyleIdx="3" presStyleCnt="4"/>
      <dgm:spPr/>
    </dgm:pt>
    <dgm:pt modelId="{DBF56F03-FAFD-4444-9102-55F858EDB603}" type="pres">
      <dgm:prSet presAssocID="{19C0BA8A-723F-C147-AD56-3DD976A61DBD}" presName="descendantArrow" presStyleCnt="0"/>
      <dgm:spPr/>
    </dgm:pt>
    <dgm:pt modelId="{B3E7860E-F092-744D-BD23-8F8812306AE2}" type="pres">
      <dgm:prSet presAssocID="{978F9FD7-9D0F-ED4B-8C19-D7464C19B3F4}" presName="childTextArrow" presStyleLbl="fgAccFollowNode1" presStyleIdx="3" presStyleCnt="4">
        <dgm:presLayoutVars>
          <dgm:bulletEnabled val="1"/>
        </dgm:presLayoutVars>
      </dgm:prSet>
      <dgm:spPr/>
    </dgm:pt>
  </dgm:ptLst>
  <dgm:cxnLst>
    <dgm:cxn modelId="{D04E9E02-07F9-1F4D-82B4-D526952A2577}" srcId="{19C0BA8A-723F-C147-AD56-3DD976A61DBD}" destId="{978F9FD7-9D0F-ED4B-8C19-D7464C19B3F4}" srcOrd="0" destOrd="0" parTransId="{1D3CD5DA-4DE1-8743-A8AD-459D807FBDCE}" sibTransId="{78091ECE-DD29-E040-A435-215F194564AD}"/>
    <dgm:cxn modelId="{5CD7E306-D036-0E4C-B95C-C19D2F88236A}" type="presOf" srcId="{9438839A-4BF5-0849-82D3-611C62D0ACD9}" destId="{A2475A66-D8B3-3848-8D1B-72629A8C8E39}" srcOrd="0" destOrd="0" presId="urn:microsoft.com/office/officeart/2005/8/layout/process4"/>
    <dgm:cxn modelId="{1484680D-AFBD-544D-9C00-B366DCE4A57B}" srcId="{69E8E6F1-5C90-3346-A398-C2531D830B97}" destId="{0FB9644B-8C52-E346-8AEC-6B79062497E6}" srcOrd="1" destOrd="0" parTransId="{5C51FCCB-995F-7049-A725-5930A5758596}" sibTransId="{338613F8-0120-724A-AB06-4208EBA13979}"/>
    <dgm:cxn modelId="{CCF3BD14-11A7-5A4F-A94A-9119F7924651}" type="presOf" srcId="{BD6276E2-15C7-844F-A596-731B3D0DFAC7}" destId="{AB66726F-9A22-0044-BAFA-D00E8AA8835B}" srcOrd="0" destOrd="0" presId="urn:microsoft.com/office/officeart/2005/8/layout/process4"/>
    <dgm:cxn modelId="{C32B6A1E-1C05-BF47-AD07-24EEF958EE55}" type="presOf" srcId="{0FB9644B-8C52-E346-8AEC-6B79062497E6}" destId="{EEBDEEF7-5F83-2940-940F-0B273FEF56FB}" srcOrd="0" destOrd="0" presId="urn:microsoft.com/office/officeart/2005/8/layout/process4"/>
    <dgm:cxn modelId="{C2437036-ED52-6047-BFA1-9B43CA204820}" type="presOf" srcId="{978F9FD7-9D0F-ED4B-8C19-D7464C19B3F4}" destId="{B3E7860E-F092-744D-BD23-8F8812306AE2}" srcOrd="0" destOrd="0" presId="urn:microsoft.com/office/officeart/2005/8/layout/process4"/>
    <dgm:cxn modelId="{01510D3A-6C8D-9845-8522-C134B527A343}" type="presOf" srcId="{19C0BA8A-723F-C147-AD56-3DD976A61DBD}" destId="{A4B4C4E8-FC09-AD4B-8017-41F7F6CA6B40}" srcOrd="0" destOrd="0" presId="urn:microsoft.com/office/officeart/2005/8/layout/process4"/>
    <dgm:cxn modelId="{0F35E63C-FA48-9344-A0D6-85DD8B4492D1}" srcId="{9438839A-4BF5-0849-82D3-611C62D0ACD9}" destId="{E6795A7E-DEED-D948-A47C-0708A89A8916}" srcOrd="0" destOrd="0" parTransId="{46C1F4FD-3945-1240-BDCD-D23A8E9D074A}" sibTransId="{EA81639F-DC33-E64F-9BC0-4539041C468A}"/>
    <dgm:cxn modelId="{DB0B0542-358D-C749-8264-797C79D8B3E3}" type="presOf" srcId="{19C0BA8A-723F-C147-AD56-3DD976A61DBD}" destId="{7622A61D-779D-1846-A4D8-20EA790989AF}" srcOrd="1" destOrd="0" presId="urn:microsoft.com/office/officeart/2005/8/layout/process4"/>
    <dgm:cxn modelId="{B421C545-1CC8-C842-A774-981C7707C6ED}" type="presOf" srcId="{9438839A-4BF5-0849-82D3-611C62D0ACD9}" destId="{2B23B2C1-D837-1949-B456-B81F960C47F9}" srcOrd="1" destOrd="0" presId="urn:microsoft.com/office/officeart/2005/8/layout/process4"/>
    <dgm:cxn modelId="{C3762456-BD31-5348-816A-AD4DAACB93C0}" type="presOf" srcId="{69E8E6F1-5C90-3346-A398-C2531D830B97}" destId="{72106515-4A8D-A542-9BDB-6017153C26A9}" srcOrd="0" destOrd="0" presId="urn:microsoft.com/office/officeart/2005/8/layout/process4"/>
    <dgm:cxn modelId="{0416AD6C-CF57-A74A-9A60-902BD25AFF3F}" type="presOf" srcId="{E461D4B3-A00D-0443-A677-01572FF4B50F}" destId="{DCBAB26D-FD72-C048-8ACD-B7DB50B22EA0}" srcOrd="0" destOrd="0" presId="urn:microsoft.com/office/officeart/2005/8/layout/process4"/>
    <dgm:cxn modelId="{6E813B7D-BB73-8F48-A714-39EEA8C09A8E}" type="presOf" srcId="{E461D4B3-A00D-0443-A677-01572FF4B50F}" destId="{3A43DC92-9560-8649-9BF9-37F7EF8CF964}" srcOrd="1" destOrd="0" presId="urn:microsoft.com/office/officeart/2005/8/layout/process4"/>
    <dgm:cxn modelId="{44F3788A-53B5-8140-9BD6-5118FA97F35A}" type="presOf" srcId="{0FB9644B-8C52-E346-8AEC-6B79062497E6}" destId="{AF5CD479-99C2-CF4C-99E3-DBACF7A3705F}" srcOrd="1" destOrd="0" presId="urn:microsoft.com/office/officeart/2005/8/layout/process4"/>
    <dgm:cxn modelId="{61D89E91-D735-B64A-B01B-6524472C6C15}" type="presOf" srcId="{689A02EE-CE2D-1849-90E9-71979C03774E}" destId="{B1B9CBB8-1BAB-4F4E-8885-5B7F843E530D}" srcOrd="0" destOrd="0" presId="urn:microsoft.com/office/officeart/2005/8/layout/process4"/>
    <dgm:cxn modelId="{12F79E97-C8B2-BD46-BA8F-0E2931B6EB09}" srcId="{E461D4B3-A00D-0443-A677-01572FF4B50F}" destId="{BD6276E2-15C7-844F-A596-731B3D0DFAC7}" srcOrd="0" destOrd="0" parTransId="{18C4A229-9F4D-DF4C-B303-3D40CC7C0CF8}" sibTransId="{10E33D9B-9AF6-0E47-9627-A632E6B119BA}"/>
    <dgm:cxn modelId="{BCE725AB-0CBB-DA41-B2FC-EE5052B7CF77}" type="presOf" srcId="{E6795A7E-DEED-D948-A47C-0708A89A8916}" destId="{1FB958F3-A071-CD48-BCCF-B3C12E8B01CD}" srcOrd="0" destOrd="0" presId="urn:microsoft.com/office/officeart/2005/8/layout/process4"/>
    <dgm:cxn modelId="{FB0617B3-C10A-9448-B388-67D66E40D3B0}" srcId="{69E8E6F1-5C90-3346-A398-C2531D830B97}" destId="{19C0BA8A-723F-C147-AD56-3DD976A61DBD}" srcOrd="0" destOrd="0" parTransId="{593B09F2-7449-3A45-AD56-A98C0246D3B9}" sibTransId="{85ED5766-40A5-7F4F-A760-22C3B9F02130}"/>
    <dgm:cxn modelId="{03D43EB6-D245-CF47-9994-73CAC73886FC}" srcId="{69E8E6F1-5C90-3346-A398-C2531D830B97}" destId="{E461D4B3-A00D-0443-A677-01572FF4B50F}" srcOrd="3" destOrd="0" parTransId="{89521BC8-A478-9E4F-9193-D48F803E0E10}" sibTransId="{083FC9EC-574A-1A48-974C-E00265192676}"/>
    <dgm:cxn modelId="{E40AC3CE-2483-B343-96B0-6C35849108D7}" srcId="{69E8E6F1-5C90-3346-A398-C2531D830B97}" destId="{9438839A-4BF5-0849-82D3-611C62D0ACD9}" srcOrd="2" destOrd="0" parTransId="{5AAB6890-2E93-924D-8CA0-9D075B52E587}" sibTransId="{C787D707-8C2D-424A-B9F3-C86B02A2B67C}"/>
    <dgm:cxn modelId="{CD1D3FE9-2084-3045-B10D-D49466FCE76D}" srcId="{0FB9644B-8C52-E346-8AEC-6B79062497E6}" destId="{689A02EE-CE2D-1849-90E9-71979C03774E}" srcOrd="0" destOrd="0" parTransId="{A3A59AE9-5005-604E-AE29-6A5893EA3A3D}" sibTransId="{A9E5E475-0CD6-B847-857E-FE069005B1A6}"/>
    <dgm:cxn modelId="{15F7F380-85E3-7440-867F-CDF4E6D5F417}" type="presParOf" srcId="{72106515-4A8D-A542-9BDB-6017153C26A9}" destId="{BAC9FD67-5217-9C40-A3BB-CD824D673086}" srcOrd="0" destOrd="0" presId="urn:microsoft.com/office/officeart/2005/8/layout/process4"/>
    <dgm:cxn modelId="{6162A5AF-633E-014E-B227-60210D8BB57B}" type="presParOf" srcId="{BAC9FD67-5217-9C40-A3BB-CD824D673086}" destId="{DCBAB26D-FD72-C048-8ACD-B7DB50B22EA0}" srcOrd="0" destOrd="0" presId="urn:microsoft.com/office/officeart/2005/8/layout/process4"/>
    <dgm:cxn modelId="{0051971F-ED6A-A544-9A6B-F244E58EF2EA}" type="presParOf" srcId="{BAC9FD67-5217-9C40-A3BB-CD824D673086}" destId="{3A43DC92-9560-8649-9BF9-37F7EF8CF964}" srcOrd="1" destOrd="0" presId="urn:microsoft.com/office/officeart/2005/8/layout/process4"/>
    <dgm:cxn modelId="{6FD860E1-D9F2-3D44-9ADA-5841D0B93C36}" type="presParOf" srcId="{BAC9FD67-5217-9C40-A3BB-CD824D673086}" destId="{8C338539-E81C-8A41-B7C7-6C50178AB308}" srcOrd="2" destOrd="0" presId="urn:microsoft.com/office/officeart/2005/8/layout/process4"/>
    <dgm:cxn modelId="{7F78C099-3CB9-4645-8790-FC0DA25BCBC2}" type="presParOf" srcId="{8C338539-E81C-8A41-B7C7-6C50178AB308}" destId="{AB66726F-9A22-0044-BAFA-D00E8AA8835B}" srcOrd="0" destOrd="0" presId="urn:microsoft.com/office/officeart/2005/8/layout/process4"/>
    <dgm:cxn modelId="{99187A69-1603-4E47-812D-396B38DFEFF3}" type="presParOf" srcId="{72106515-4A8D-A542-9BDB-6017153C26A9}" destId="{875D6891-C740-8D4F-8FCB-2C9534A87F13}" srcOrd="1" destOrd="0" presId="urn:microsoft.com/office/officeart/2005/8/layout/process4"/>
    <dgm:cxn modelId="{F2EEE673-FA0C-0A41-A444-FD9944E72060}" type="presParOf" srcId="{72106515-4A8D-A542-9BDB-6017153C26A9}" destId="{7580982D-4498-644F-81B3-332AA6E994E6}" srcOrd="2" destOrd="0" presId="urn:microsoft.com/office/officeart/2005/8/layout/process4"/>
    <dgm:cxn modelId="{19B0BF9B-5587-C44D-89FA-985B4E589735}" type="presParOf" srcId="{7580982D-4498-644F-81B3-332AA6E994E6}" destId="{A2475A66-D8B3-3848-8D1B-72629A8C8E39}" srcOrd="0" destOrd="0" presId="urn:microsoft.com/office/officeart/2005/8/layout/process4"/>
    <dgm:cxn modelId="{19EB642D-910D-1648-A09B-B4F0BE0C1680}" type="presParOf" srcId="{7580982D-4498-644F-81B3-332AA6E994E6}" destId="{2B23B2C1-D837-1949-B456-B81F960C47F9}" srcOrd="1" destOrd="0" presId="urn:microsoft.com/office/officeart/2005/8/layout/process4"/>
    <dgm:cxn modelId="{BB3E75E0-395B-5745-B979-AE3C6639D161}" type="presParOf" srcId="{7580982D-4498-644F-81B3-332AA6E994E6}" destId="{F9A6A51A-B210-9645-ACB3-370D76A6F432}" srcOrd="2" destOrd="0" presId="urn:microsoft.com/office/officeart/2005/8/layout/process4"/>
    <dgm:cxn modelId="{08F12341-6CF8-F943-9E63-6744001FE748}" type="presParOf" srcId="{F9A6A51A-B210-9645-ACB3-370D76A6F432}" destId="{1FB958F3-A071-CD48-BCCF-B3C12E8B01CD}" srcOrd="0" destOrd="0" presId="urn:microsoft.com/office/officeart/2005/8/layout/process4"/>
    <dgm:cxn modelId="{E22923FD-3D7A-3D40-81DF-AC89A275E130}" type="presParOf" srcId="{72106515-4A8D-A542-9BDB-6017153C26A9}" destId="{1B2B0551-4FEF-8648-A991-4A3AE39E397D}" srcOrd="3" destOrd="0" presId="urn:microsoft.com/office/officeart/2005/8/layout/process4"/>
    <dgm:cxn modelId="{CCA1E671-B713-5640-A003-BDE031B229B6}" type="presParOf" srcId="{72106515-4A8D-A542-9BDB-6017153C26A9}" destId="{8B28EF87-5A0B-D447-A669-7E1256A9F5BB}" srcOrd="4" destOrd="0" presId="urn:microsoft.com/office/officeart/2005/8/layout/process4"/>
    <dgm:cxn modelId="{6395F51F-237C-4A40-95FA-D7B80B8D1CEB}" type="presParOf" srcId="{8B28EF87-5A0B-D447-A669-7E1256A9F5BB}" destId="{EEBDEEF7-5F83-2940-940F-0B273FEF56FB}" srcOrd="0" destOrd="0" presId="urn:microsoft.com/office/officeart/2005/8/layout/process4"/>
    <dgm:cxn modelId="{302EE7C2-4A0F-374F-85CB-F2CD53331997}" type="presParOf" srcId="{8B28EF87-5A0B-D447-A669-7E1256A9F5BB}" destId="{AF5CD479-99C2-CF4C-99E3-DBACF7A3705F}" srcOrd="1" destOrd="0" presId="urn:microsoft.com/office/officeart/2005/8/layout/process4"/>
    <dgm:cxn modelId="{DFA624C7-8FAD-7A4C-8681-3B322BBB7BC9}" type="presParOf" srcId="{8B28EF87-5A0B-D447-A669-7E1256A9F5BB}" destId="{96C62894-03B2-944A-8A12-38977BAF54FA}" srcOrd="2" destOrd="0" presId="urn:microsoft.com/office/officeart/2005/8/layout/process4"/>
    <dgm:cxn modelId="{35210232-A87A-2242-8BEA-3C91A898AE0D}" type="presParOf" srcId="{96C62894-03B2-944A-8A12-38977BAF54FA}" destId="{B1B9CBB8-1BAB-4F4E-8885-5B7F843E530D}" srcOrd="0" destOrd="0" presId="urn:microsoft.com/office/officeart/2005/8/layout/process4"/>
    <dgm:cxn modelId="{04A0AF0D-9E44-BA41-8D4B-29821FE4243D}" type="presParOf" srcId="{72106515-4A8D-A542-9BDB-6017153C26A9}" destId="{B098E9DE-43A4-DF45-B744-CF3418E70B4C}" srcOrd="5" destOrd="0" presId="urn:microsoft.com/office/officeart/2005/8/layout/process4"/>
    <dgm:cxn modelId="{BB63034F-C187-6B43-9E5C-ADF62E049B94}" type="presParOf" srcId="{72106515-4A8D-A542-9BDB-6017153C26A9}" destId="{1CB85AB1-770B-5741-9DDD-A9C2293CBC1B}" srcOrd="6" destOrd="0" presId="urn:microsoft.com/office/officeart/2005/8/layout/process4"/>
    <dgm:cxn modelId="{1940C741-3C99-CF47-AB3F-006B4483A057}" type="presParOf" srcId="{1CB85AB1-770B-5741-9DDD-A9C2293CBC1B}" destId="{A4B4C4E8-FC09-AD4B-8017-41F7F6CA6B40}" srcOrd="0" destOrd="0" presId="urn:microsoft.com/office/officeart/2005/8/layout/process4"/>
    <dgm:cxn modelId="{BE3B0282-0312-7048-BE12-55EE66A2C1E1}" type="presParOf" srcId="{1CB85AB1-770B-5741-9DDD-A9C2293CBC1B}" destId="{7622A61D-779D-1846-A4D8-20EA790989AF}" srcOrd="1" destOrd="0" presId="urn:microsoft.com/office/officeart/2005/8/layout/process4"/>
    <dgm:cxn modelId="{1FFC6EA6-3FDD-4E49-87A4-66F9869C5E73}" type="presParOf" srcId="{1CB85AB1-770B-5741-9DDD-A9C2293CBC1B}" destId="{DBF56F03-FAFD-4444-9102-55F858EDB603}" srcOrd="2" destOrd="0" presId="urn:microsoft.com/office/officeart/2005/8/layout/process4"/>
    <dgm:cxn modelId="{84AC7F1C-3494-644B-9915-95CB756D7F2A}" type="presParOf" srcId="{DBF56F03-FAFD-4444-9102-55F858EDB603}" destId="{B3E7860E-F092-744D-BD23-8F8812306AE2}"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78F0DC-4605-7743-9B00-573E0EFD16C3}"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kumimoji="1" lang="ja-JP" altLang="en-US"/>
        </a:p>
      </dgm:t>
    </dgm:pt>
    <dgm:pt modelId="{06AAA6B5-754B-D84F-84D1-4D268EBD1C10}">
      <dgm:prSet phldrT="[テキスト]"/>
      <dgm:spPr>
        <a:solidFill>
          <a:schemeClr val="accent6"/>
        </a:solidFill>
      </dgm:spPr>
      <dgm:t>
        <a:bodyPr/>
        <a:lstStyle/>
        <a:p>
          <a:pPr>
            <a:buNone/>
          </a:pPr>
          <a:r>
            <a:rPr lang="en-US" altLang="ja-JP" b="1" i="0" dirty="0">
              <a:solidFill>
                <a:srgbClr val="FAFAFA"/>
              </a:solidFill>
            </a:rPr>
            <a:t>①</a:t>
          </a:r>
          <a:r>
            <a:rPr lang="ja-JP" b="1" i="0">
              <a:solidFill>
                <a:srgbClr val="FAFAFA"/>
              </a:solidFill>
            </a:rPr>
            <a:t>帰納的な発想を用いる</a:t>
          </a:r>
          <a:endParaRPr kumimoji="1" lang="ja-JP" altLang="en-US">
            <a:solidFill>
              <a:srgbClr val="FAFAFA"/>
            </a:solidFill>
          </a:endParaRPr>
        </a:p>
      </dgm:t>
    </dgm:pt>
    <dgm:pt modelId="{9CA648B6-D737-B444-B780-97AC539CB198}" type="parTrans" cxnId="{8C1F27EA-B3D5-3A4A-84BA-6E0C302B50E3}">
      <dgm:prSet/>
      <dgm:spPr/>
      <dgm:t>
        <a:bodyPr/>
        <a:lstStyle/>
        <a:p>
          <a:endParaRPr kumimoji="1" lang="ja-JP" altLang="en-US"/>
        </a:p>
      </dgm:t>
    </dgm:pt>
    <dgm:pt modelId="{296E8F7A-6037-D646-AEF4-4B24FD9C6574}" type="sibTrans" cxnId="{8C1F27EA-B3D5-3A4A-84BA-6E0C302B50E3}">
      <dgm:prSet/>
      <dgm:spPr/>
      <dgm:t>
        <a:bodyPr/>
        <a:lstStyle/>
        <a:p>
          <a:endParaRPr kumimoji="1" lang="ja-JP" altLang="en-US"/>
        </a:p>
      </dgm:t>
    </dgm:pt>
    <dgm:pt modelId="{6F847ACB-A0A6-A543-A1C9-F127EAAA2BBB}">
      <dgm:prSet phldrT="[テキスト]"/>
      <dgm:spPr>
        <a:solidFill>
          <a:schemeClr val="accent6"/>
        </a:solidFill>
      </dgm:spPr>
      <dgm:t>
        <a:bodyPr/>
        <a:lstStyle/>
        <a:p>
          <a:pPr>
            <a:buNone/>
          </a:pPr>
          <a:r>
            <a:rPr lang="en-US" altLang="ja-JP" b="1" i="0" dirty="0">
              <a:solidFill>
                <a:srgbClr val="FAFAFA"/>
              </a:solidFill>
            </a:rPr>
            <a:t>②</a:t>
          </a:r>
          <a:r>
            <a:rPr lang="ja-JP" b="1" i="0">
              <a:solidFill>
                <a:srgbClr val="FAFAFA"/>
              </a:solidFill>
            </a:rPr>
            <a:t>定義や基礎に戻る</a:t>
          </a:r>
          <a:endParaRPr kumimoji="1" lang="ja-JP" altLang="en-US">
            <a:solidFill>
              <a:srgbClr val="FAFAFA"/>
            </a:solidFill>
          </a:endParaRPr>
        </a:p>
      </dgm:t>
    </dgm:pt>
    <dgm:pt modelId="{4D036016-795D-3B43-9A2F-BEB4DD50EE63}" type="parTrans" cxnId="{895F482D-E7FB-274F-A71F-A40DCB25DD35}">
      <dgm:prSet/>
      <dgm:spPr/>
      <dgm:t>
        <a:bodyPr/>
        <a:lstStyle/>
        <a:p>
          <a:endParaRPr kumimoji="1" lang="ja-JP" altLang="en-US"/>
        </a:p>
      </dgm:t>
    </dgm:pt>
    <dgm:pt modelId="{B03F6BC5-D7A1-484D-84F2-A1E628040C3E}" type="sibTrans" cxnId="{895F482D-E7FB-274F-A71F-A40DCB25DD35}">
      <dgm:prSet/>
      <dgm:spPr/>
      <dgm:t>
        <a:bodyPr/>
        <a:lstStyle/>
        <a:p>
          <a:endParaRPr kumimoji="1" lang="ja-JP" altLang="en-US"/>
        </a:p>
      </dgm:t>
    </dgm:pt>
    <dgm:pt modelId="{6D5B435D-CE85-D943-9C2C-E8A4A344C33D}">
      <dgm:prSet phldrT="[テキスト]"/>
      <dgm:spPr>
        <a:solidFill>
          <a:schemeClr val="accent6"/>
        </a:solidFill>
      </dgm:spPr>
      <dgm:t>
        <a:bodyPr/>
        <a:lstStyle/>
        <a:p>
          <a:pPr>
            <a:buNone/>
          </a:pPr>
          <a:r>
            <a:rPr lang="en-US" altLang="ja-JP" b="1" i="0" dirty="0">
              <a:solidFill>
                <a:srgbClr val="FAFAFA"/>
              </a:solidFill>
            </a:rPr>
            <a:t>③</a:t>
          </a:r>
          <a:r>
            <a:rPr lang="ja-JP" b="1" i="0">
              <a:solidFill>
                <a:srgbClr val="FAFAFA"/>
              </a:solidFill>
            </a:rPr>
            <a:t>背理法を用いる</a:t>
          </a:r>
          <a:endParaRPr kumimoji="1" lang="ja-JP" altLang="en-US">
            <a:solidFill>
              <a:srgbClr val="FAFAFA"/>
            </a:solidFill>
          </a:endParaRPr>
        </a:p>
      </dgm:t>
    </dgm:pt>
    <dgm:pt modelId="{BE398076-65A2-4443-AF5F-F2447D5CFC75}" type="parTrans" cxnId="{D727E96C-5E60-E946-B4F0-B779E2C5955A}">
      <dgm:prSet/>
      <dgm:spPr/>
      <dgm:t>
        <a:bodyPr/>
        <a:lstStyle/>
        <a:p>
          <a:endParaRPr kumimoji="1" lang="ja-JP" altLang="en-US"/>
        </a:p>
      </dgm:t>
    </dgm:pt>
    <dgm:pt modelId="{FA0BDA17-BCC5-024D-9A23-8D9CB33B6EBA}" type="sibTrans" cxnId="{D727E96C-5E60-E946-B4F0-B779E2C5955A}">
      <dgm:prSet/>
      <dgm:spPr/>
      <dgm:t>
        <a:bodyPr/>
        <a:lstStyle/>
        <a:p>
          <a:endParaRPr kumimoji="1" lang="ja-JP" altLang="en-US"/>
        </a:p>
      </dgm:t>
    </dgm:pt>
    <dgm:pt modelId="{C923B896-6594-6748-B5C7-E1E9070EAA0E}">
      <dgm:prSet phldrT="[テキスト]"/>
      <dgm:spPr>
        <a:solidFill>
          <a:schemeClr val="accent6"/>
        </a:solidFill>
      </dgm:spPr>
      <dgm:t>
        <a:bodyPr/>
        <a:lstStyle/>
        <a:p>
          <a:pPr>
            <a:buNone/>
          </a:pPr>
          <a:r>
            <a:rPr lang="en-US" altLang="ja-JP" b="1" i="0" dirty="0">
              <a:solidFill>
                <a:srgbClr val="FAFAFA"/>
              </a:solidFill>
            </a:rPr>
            <a:t>④</a:t>
          </a:r>
          <a:r>
            <a:rPr lang="ja-JP" b="1" i="0">
              <a:solidFill>
                <a:srgbClr val="FAFAFA"/>
              </a:solidFill>
            </a:rPr>
            <a:t>条件を使いこなしているか</a:t>
          </a:r>
          <a:endParaRPr kumimoji="1" lang="ja-JP" altLang="en-US">
            <a:solidFill>
              <a:srgbClr val="FAFAFA"/>
            </a:solidFill>
          </a:endParaRPr>
        </a:p>
      </dgm:t>
    </dgm:pt>
    <dgm:pt modelId="{4AAF6CC3-D978-804E-96B1-75D62E033A6F}" type="parTrans" cxnId="{CEB4F5B7-11F7-A248-8F25-F45B9F3AE33B}">
      <dgm:prSet/>
      <dgm:spPr/>
      <dgm:t>
        <a:bodyPr/>
        <a:lstStyle/>
        <a:p>
          <a:endParaRPr kumimoji="1" lang="ja-JP" altLang="en-US"/>
        </a:p>
      </dgm:t>
    </dgm:pt>
    <dgm:pt modelId="{B2C2E860-1EA5-AD44-AD92-CA1D1D93ED62}" type="sibTrans" cxnId="{CEB4F5B7-11F7-A248-8F25-F45B9F3AE33B}">
      <dgm:prSet/>
      <dgm:spPr/>
      <dgm:t>
        <a:bodyPr/>
        <a:lstStyle/>
        <a:p>
          <a:endParaRPr kumimoji="1" lang="ja-JP" altLang="en-US"/>
        </a:p>
      </dgm:t>
    </dgm:pt>
    <dgm:pt modelId="{1EED44D3-1523-2743-AC4B-D95D4472E9C1}">
      <dgm:prSet phldrT="[テキスト]"/>
      <dgm:spPr>
        <a:solidFill>
          <a:schemeClr val="accent6"/>
        </a:solidFill>
      </dgm:spPr>
      <dgm:t>
        <a:bodyPr/>
        <a:lstStyle/>
        <a:p>
          <a:pPr>
            <a:buNone/>
          </a:pPr>
          <a:r>
            <a:rPr lang="en-US" altLang="ja-JP" b="1" i="0" dirty="0">
              <a:solidFill>
                <a:srgbClr val="FAFAFA"/>
              </a:solidFill>
            </a:rPr>
            <a:t>⑤</a:t>
          </a:r>
          <a:r>
            <a:rPr lang="ja-JP" b="1" i="0">
              <a:solidFill>
                <a:srgbClr val="FAFAFA"/>
              </a:solidFill>
            </a:rPr>
            <a:t>図を用いて考える</a:t>
          </a:r>
          <a:endParaRPr kumimoji="1" lang="ja-JP" altLang="en-US">
            <a:solidFill>
              <a:srgbClr val="FAFAFA"/>
            </a:solidFill>
          </a:endParaRPr>
        </a:p>
      </dgm:t>
    </dgm:pt>
    <dgm:pt modelId="{D62E2D82-41FE-EE4F-90A6-90D44427C1BB}" type="parTrans" cxnId="{FFA63D03-A1B8-B24D-8A3B-E458675C442F}">
      <dgm:prSet/>
      <dgm:spPr/>
      <dgm:t>
        <a:bodyPr/>
        <a:lstStyle/>
        <a:p>
          <a:endParaRPr kumimoji="1" lang="ja-JP" altLang="en-US"/>
        </a:p>
      </dgm:t>
    </dgm:pt>
    <dgm:pt modelId="{6CBAC25A-AAFE-A942-9BA7-6C6C44FE6440}" type="sibTrans" cxnId="{FFA63D03-A1B8-B24D-8A3B-E458675C442F}">
      <dgm:prSet/>
      <dgm:spPr/>
      <dgm:t>
        <a:bodyPr/>
        <a:lstStyle/>
        <a:p>
          <a:endParaRPr kumimoji="1" lang="ja-JP" altLang="en-US"/>
        </a:p>
      </dgm:t>
    </dgm:pt>
    <dgm:pt modelId="{2A675491-0078-064B-B6B4-6AE5F1D714FB}">
      <dgm:prSet/>
      <dgm:spPr>
        <a:solidFill>
          <a:schemeClr val="accent6"/>
        </a:solidFill>
      </dgm:spPr>
      <dgm:t>
        <a:bodyPr/>
        <a:lstStyle/>
        <a:p>
          <a:pPr>
            <a:buNone/>
          </a:pPr>
          <a:r>
            <a:rPr lang="en-US" altLang="ja-JP" b="1" i="0" dirty="0">
              <a:solidFill>
                <a:srgbClr val="FAFAFA"/>
              </a:solidFill>
            </a:rPr>
            <a:t>⑥</a:t>
          </a:r>
          <a:r>
            <a:rPr lang="ja-JP" b="1" i="0">
              <a:solidFill>
                <a:srgbClr val="FAFAFA"/>
              </a:solidFill>
            </a:rPr>
            <a:t>逆向きに考える</a:t>
          </a:r>
          <a:endParaRPr lang="ja-JP" altLang="en-US">
            <a:solidFill>
              <a:srgbClr val="FAFAFA"/>
            </a:solidFill>
          </a:endParaRPr>
        </a:p>
      </dgm:t>
    </dgm:pt>
    <dgm:pt modelId="{C6396AED-DE8A-2E4F-B9A2-83801C810EA1}" type="parTrans" cxnId="{979F8B19-B928-564B-8282-F5C09917E117}">
      <dgm:prSet/>
      <dgm:spPr/>
      <dgm:t>
        <a:bodyPr/>
        <a:lstStyle/>
        <a:p>
          <a:endParaRPr kumimoji="1" lang="ja-JP" altLang="en-US"/>
        </a:p>
      </dgm:t>
    </dgm:pt>
    <dgm:pt modelId="{C0086915-FBD4-C34A-B2DD-BDF32E77A6D0}" type="sibTrans" cxnId="{979F8B19-B928-564B-8282-F5C09917E117}">
      <dgm:prSet/>
      <dgm:spPr/>
      <dgm:t>
        <a:bodyPr/>
        <a:lstStyle/>
        <a:p>
          <a:endParaRPr kumimoji="1" lang="ja-JP" altLang="en-US"/>
        </a:p>
      </dgm:t>
    </dgm:pt>
    <dgm:pt modelId="{061BF52E-9B16-F349-9DD6-E9E0EC541096}">
      <dgm:prSet phldrT="[テキスト]"/>
      <dgm:spPr>
        <a:solidFill>
          <a:schemeClr val="accent6"/>
        </a:solidFill>
      </dgm:spPr>
      <dgm:t>
        <a:bodyPr/>
        <a:lstStyle/>
        <a:p>
          <a:pPr>
            <a:buNone/>
          </a:pPr>
          <a:r>
            <a:rPr lang="en-US" altLang="ja-JP" b="1" i="0" dirty="0">
              <a:solidFill>
                <a:srgbClr val="FAFAFA"/>
              </a:solidFill>
            </a:rPr>
            <a:t>⑦</a:t>
          </a:r>
          <a:r>
            <a:rPr lang="ja-JP" b="1" i="0">
              <a:solidFill>
                <a:srgbClr val="FAFAFA"/>
              </a:solidFill>
            </a:rPr>
            <a:t>一般化して考える</a:t>
          </a:r>
          <a:endParaRPr kumimoji="1" lang="ja-JP" altLang="en-US">
            <a:solidFill>
              <a:srgbClr val="FAFAFA"/>
            </a:solidFill>
          </a:endParaRPr>
        </a:p>
      </dgm:t>
    </dgm:pt>
    <dgm:pt modelId="{392F348B-95F3-1A4F-9C9F-B855BC5C6BCE}" type="parTrans" cxnId="{D6C6D50B-65BA-C34C-BD77-C3D8C293E1DB}">
      <dgm:prSet/>
      <dgm:spPr/>
      <dgm:t>
        <a:bodyPr/>
        <a:lstStyle/>
        <a:p>
          <a:endParaRPr kumimoji="1" lang="ja-JP" altLang="en-US"/>
        </a:p>
      </dgm:t>
    </dgm:pt>
    <dgm:pt modelId="{EEB2FD0B-DE9D-5146-AD51-EC4A8B549EBE}" type="sibTrans" cxnId="{D6C6D50B-65BA-C34C-BD77-C3D8C293E1DB}">
      <dgm:prSet/>
      <dgm:spPr/>
      <dgm:t>
        <a:bodyPr/>
        <a:lstStyle/>
        <a:p>
          <a:endParaRPr kumimoji="1" lang="ja-JP" altLang="en-US"/>
        </a:p>
      </dgm:t>
    </dgm:pt>
    <dgm:pt modelId="{D55A030B-F7FF-EC42-9AF7-8F127584F165}">
      <dgm:prSet phldrT="[テキスト]"/>
      <dgm:spPr>
        <a:solidFill>
          <a:schemeClr val="accent6"/>
        </a:solidFill>
      </dgm:spPr>
      <dgm:t>
        <a:bodyPr/>
        <a:lstStyle/>
        <a:p>
          <a:pPr>
            <a:buNone/>
          </a:pPr>
          <a:r>
            <a:rPr lang="en-US" altLang="ja-JP" b="1" i="0" dirty="0">
              <a:solidFill>
                <a:srgbClr val="FAFAFA"/>
              </a:solidFill>
            </a:rPr>
            <a:t>⑧</a:t>
          </a:r>
          <a:r>
            <a:rPr lang="ja-JP" b="1" i="0">
              <a:solidFill>
                <a:srgbClr val="FAFAFA"/>
              </a:solidFill>
            </a:rPr>
            <a:t>特殊化して考える</a:t>
          </a:r>
          <a:endParaRPr kumimoji="1" lang="ja-JP" altLang="en-US">
            <a:solidFill>
              <a:srgbClr val="FAFAFA"/>
            </a:solidFill>
          </a:endParaRPr>
        </a:p>
      </dgm:t>
    </dgm:pt>
    <dgm:pt modelId="{1BBCBE10-32B2-D544-8441-326790C0A73B}" type="parTrans" cxnId="{BA10EEDD-E0D5-6244-9ED1-CAF51FD7D633}">
      <dgm:prSet/>
      <dgm:spPr/>
      <dgm:t>
        <a:bodyPr/>
        <a:lstStyle/>
        <a:p>
          <a:endParaRPr kumimoji="1" lang="ja-JP" altLang="en-US"/>
        </a:p>
      </dgm:t>
    </dgm:pt>
    <dgm:pt modelId="{DBF70DA9-A9D0-F649-9578-9A0582C95A22}" type="sibTrans" cxnId="{BA10EEDD-E0D5-6244-9ED1-CAF51FD7D633}">
      <dgm:prSet/>
      <dgm:spPr/>
      <dgm:t>
        <a:bodyPr/>
        <a:lstStyle/>
        <a:p>
          <a:endParaRPr kumimoji="1" lang="ja-JP" altLang="en-US"/>
        </a:p>
      </dgm:t>
    </dgm:pt>
    <dgm:pt modelId="{0C210577-77B9-6F4E-82BD-9A9AAD7989DC}">
      <dgm:prSet/>
      <dgm:spPr>
        <a:solidFill>
          <a:schemeClr val="accent6"/>
        </a:solidFill>
      </dgm:spPr>
      <dgm:t>
        <a:bodyPr/>
        <a:lstStyle/>
        <a:p>
          <a:pPr>
            <a:buNone/>
          </a:pPr>
          <a:r>
            <a:rPr lang="en-US" altLang="ja-JP" b="1" i="0" dirty="0">
              <a:solidFill>
                <a:srgbClr val="FAFAFA"/>
              </a:solidFill>
            </a:rPr>
            <a:t>⑨</a:t>
          </a:r>
          <a:r>
            <a:rPr lang="ja-JP" b="1" i="0">
              <a:solidFill>
                <a:srgbClr val="FAFAFA"/>
              </a:solidFill>
            </a:rPr>
            <a:t>類推する</a:t>
          </a:r>
          <a:endParaRPr lang="ja-JP" altLang="en-US">
            <a:solidFill>
              <a:srgbClr val="FAFAFA"/>
            </a:solidFill>
          </a:endParaRPr>
        </a:p>
      </dgm:t>
    </dgm:pt>
    <dgm:pt modelId="{D0A1FE19-D740-9C4D-A52F-0C0185DFAB0C}" type="parTrans" cxnId="{3F719B48-99F1-7344-B0A2-681AA1BEE189}">
      <dgm:prSet/>
      <dgm:spPr/>
      <dgm:t>
        <a:bodyPr/>
        <a:lstStyle/>
        <a:p>
          <a:endParaRPr kumimoji="1" lang="ja-JP" altLang="en-US"/>
        </a:p>
      </dgm:t>
    </dgm:pt>
    <dgm:pt modelId="{61D93068-790D-6944-9E8A-229E21F289C7}" type="sibTrans" cxnId="{3F719B48-99F1-7344-B0A2-681AA1BEE189}">
      <dgm:prSet/>
      <dgm:spPr/>
      <dgm:t>
        <a:bodyPr/>
        <a:lstStyle/>
        <a:p>
          <a:endParaRPr kumimoji="1" lang="ja-JP" altLang="en-US"/>
        </a:p>
      </dgm:t>
    </dgm:pt>
    <dgm:pt modelId="{F571EE18-EAAE-E34F-8B2E-B4C1B9E9BB4F}">
      <dgm:prSet/>
      <dgm:spPr>
        <a:solidFill>
          <a:schemeClr val="accent6"/>
        </a:solidFill>
      </dgm:spPr>
      <dgm:t>
        <a:bodyPr/>
        <a:lstStyle/>
        <a:p>
          <a:pPr>
            <a:buNone/>
          </a:pPr>
          <a:r>
            <a:rPr lang="en-US" altLang="ja-JP" b="1" i="0" dirty="0">
              <a:solidFill>
                <a:srgbClr val="FAFAFA"/>
              </a:solidFill>
            </a:rPr>
            <a:t>⑩</a:t>
          </a:r>
          <a:r>
            <a:rPr lang="ja-JP" b="1" i="0">
              <a:solidFill>
                <a:srgbClr val="FAFAFA"/>
              </a:solidFill>
            </a:rPr>
            <a:t>兆候から見通す</a:t>
          </a:r>
          <a:endParaRPr lang="ja-JP" altLang="en-US">
            <a:solidFill>
              <a:srgbClr val="FAFAFA"/>
            </a:solidFill>
          </a:endParaRPr>
        </a:p>
      </dgm:t>
    </dgm:pt>
    <dgm:pt modelId="{BC008457-5B3B-134E-B084-10294E616D24}" type="parTrans" cxnId="{0D50FF88-0AB6-9948-8DFD-D9C7CD2C186D}">
      <dgm:prSet/>
      <dgm:spPr/>
      <dgm:t>
        <a:bodyPr/>
        <a:lstStyle/>
        <a:p>
          <a:endParaRPr kumimoji="1" lang="ja-JP" altLang="en-US"/>
        </a:p>
      </dgm:t>
    </dgm:pt>
    <dgm:pt modelId="{886EA4D1-A230-1146-9C8C-6254D2C40721}" type="sibTrans" cxnId="{0D50FF88-0AB6-9948-8DFD-D9C7CD2C186D}">
      <dgm:prSet/>
      <dgm:spPr/>
      <dgm:t>
        <a:bodyPr/>
        <a:lstStyle/>
        <a:p>
          <a:endParaRPr kumimoji="1" lang="ja-JP" altLang="en-US"/>
        </a:p>
      </dgm:t>
    </dgm:pt>
    <dgm:pt modelId="{4DE9BD78-E09A-B641-8E02-5B72C7148974}">
      <dgm:prSet/>
      <dgm:spPr>
        <a:solidFill>
          <a:schemeClr val="accent6"/>
        </a:solidFill>
      </dgm:spPr>
      <dgm:t>
        <a:bodyPr/>
        <a:lstStyle/>
        <a:p>
          <a:pPr>
            <a:buNone/>
          </a:pPr>
          <a:r>
            <a:rPr lang="ja-JP" b="0" i="0" u="none"/>
            <a:t>⑪</a:t>
          </a:r>
          <a:r>
            <a:rPr lang="ja-JP" b="1" i="0">
              <a:solidFill>
                <a:srgbClr val="FAFAFA"/>
              </a:solidFill>
            </a:rPr>
            <a:t>効果的な記号を使う</a:t>
          </a:r>
          <a:endParaRPr lang="ja-JP" altLang="en-US">
            <a:solidFill>
              <a:srgbClr val="FAFAFA"/>
            </a:solidFill>
          </a:endParaRPr>
        </a:p>
      </dgm:t>
    </dgm:pt>
    <dgm:pt modelId="{3CF701EA-1433-B34A-BFD9-F155B6CA8E88}" type="parTrans" cxnId="{56169D7E-7900-ED45-B254-EF43CF7F2C04}">
      <dgm:prSet/>
      <dgm:spPr/>
      <dgm:t>
        <a:bodyPr/>
        <a:lstStyle/>
        <a:p>
          <a:endParaRPr kumimoji="1" lang="ja-JP" altLang="en-US"/>
        </a:p>
      </dgm:t>
    </dgm:pt>
    <dgm:pt modelId="{DF9DF219-A5E1-594C-8D5B-3C8453A7BC88}" type="sibTrans" cxnId="{56169D7E-7900-ED45-B254-EF43CF7F2C04}">
      <dgm:prSet/>
      <dgm:spPr/>
      <dgm:t>
        <a:bodyPr/>
        <a:lstStyle/>
        <a:p>
          <a:endParaRPr kumimoji="1" lang="ja-JP" altLang="en-US"/>
        </a:p>
      </dgm:t>
    </dgm:pt>
    <dgm:pt modelId="{1C02BCDB-8518-8C45-B40E-BDD94E8E5B5C}">
      <dgm:prSet/>
      <dgm:spPr>
        <a:solidFill>
          <a:schemeClr val="accent6"/>
        </a:solidFill>
      </dgm:spPr>
      <dgm:t>
        <a:bodyPr/>
        <a:lstStyle/>
        <a:p>
          <a:pPr>
            <a:buNone/>
          </a:pPr>
          <a:r>
            <a:rPr lang="ja-JP" b="0" i="0" u="none"/>
            <a:t>⑫</a:t>
          </a:r>
          <a:r>
            <a:rPr lang="ja-JP" b="1" i="0">
              <a:solidFill>
                <a:srgbClr val="FAFAFA"/>
              </a:solidFill>
            </a:rPr>
            <a:t>対称性を利用する</a:t>
          </a:r>
          <a:endParaRPr lang="ja-JP" altLang="en-US">
            <a:solidFill>
              <a:srgbClr val="FAFAFA"/>
            </a:solidFill>
          </a:endParaRPr>
        </a:p>
      </dgm:t>
    </dgm:pt>
    <dgm:pt modelId="{C556489E-FDE6-7846-B8AD-069F8098F14E}" type="parTrans" cxnId="{F8B72622-6B53-EE4F-A690-688FE60FB8E7}">
      <dgm:prSet/>
      <dgm:spPr/>
      <dgm:t>
        <a:bodyPr/>
        <a:lstStyle/>
        <a:p>
          <a:endParaRPr kumimoji="1" lang="ja-JP" altLang="en-US"/>
        </a:p>
      </dgm:t>
    </dgm:pt>
    <dgm:pt modelId="{E0957738-2295-BA49-8A89-C73B2EAD72B9}" type="sibTrans" cxnId="{F8B72622-6B53-EE4F-A690-688FE60FB8E7}">
      <dgm:prSet/>
      <dgm:spPr/>
      <dgm:t>
        <a:bodyPr/>
        <a:lstStyle/>
        <a:p>
          <a:endParaRPr kumimoji="1" lang="ja-JP" altLang="en-US"/>
        </a:p>
      </dgm:t>
    </dgm:pt>
    <dgm:pt modelId="{D9D6BB53-B325-AC4C-956F-5B18246BD6EB}">
      <dgm:prSet/>
      <dgm:spPr>
        <a:solidFill>
          <a:schemeClr val="accent6"/>
        </a:solidFill>
      </dgm:spPr>
      <dgm:t>
        <a:bodyPr/>
        <a:lstStyle/>
        <a:p>
          <a:pPr>
            <a:buNone/>
          </a:pPr>
          <a:r>
            <a:rPr lang="ja-JP" b="0" i="0" u="none"/>
            <a:t>⑬</a:t>
          </a:r>
          <a:r>
            <a:rPr lang="ja-JP" b="1" i="0">
              <a:solidFill>
                <a:srgbClr val="FAFAFA"/>
              </a:solidFill>
            </a:rPr>
            <a:t>見直しの勧め</a:t>
          </a:r>
          <a:endParaRPr lang="ja-JP" altLang="en-US">
            <a:solidFill>
              <a:srgbClr val="FAFAFA"/>
            </a:solidFill>
          </a:endParaRPr>
        </a:p>
      </dgm:t>
    </dgm:pt>
    <dgm:pt modelId="{5B8202E1-728E-D342-B85D-31FEF70B38A9}" type="parTrans" cxnId="{59D3F101-0EF6-084C-8971-9DB2899D7E82}">
      <dgm:prSet/>
      <dgm:spPr/>
      <dgm:t>
        <a:bodyPr/>
        <a:lstStyle/>
        <a:p>
          <a:endParaRPr kumimoji="1" lang="ja-JP" altLang="en-US"/>
        </a:p>
      </dgm:t>
    </dgm:pt>
    <dgm:pt modelId="{24F928BE-1ACA-EF45-800B-3E75B1CCD182}" type="sibTrans" cxnId="{59D3F101-0EF6-084C-8971-9DB2899D7E82}">
      <dgm:prSet/>
      <dgm:spPr/>
      <dgm:t>
        <a:bodyPr/>
        <a:lstStyle/>
        <a:p>
          <a:endParaRPr kumimoji="1" lang="ja-JP" altLang="en-US"/>
        </a:p>
      </dgm:t>
    </dgm:pt>
    <dgm:pt modelId="{E529B231-BAD5-F642-87AB-5392CA5C4292}" type="pres">
      <dgm:prSet presAssocID="{F178F0DC-4605-7743-9B00-573E0EFD16C3}" presName="diagram" presStyleCnt="0">
        <dgm:presLayoutVars>
          <dgm:dir/>
          <dgm:resizeHandles val="exact"/>
        </dgm:presLayoutVars>
      </dgm:prSet>
      <dgm:spPr/>
    </dgm:pt>
    <dgm:pt modelId="{C04E57B1-2D5F-C84C-94B9-7C1D35A94586}" type="pres">
      <dgm:prSet presAssocID="{06AAA6B5-754B-D84F-84D1-4D268EBD1C10}" presName="node" presStyleLbl="node1" presStyleIdx="0" presStyleCnt="13">
        <dgm:presLayoutVars>
          <dgm:bulletEnabled val="1"/>
        </dgm:presLayoutVars>
      </dgm:prSet>
      <dgm:spPr/>
    </dgm:pt>
    <dgm:pt modelId="{0F0D2F8F-5893-3940-9A7F-3A0674C06A25}" type="pres">
      <dgm:prSet presAssocID="{296E8F7A-6037-D646-AEF4-4B24FD9C6574}" presName="sibTrans" presStyleCnt="0"/>
      <dgm:spPr/>
    </dgm:pt>
    <dgm:pt modelId="{37B7A3E1-F68F-544D-89B7-C540BA6EC5A4}" type="pres">
      <dgm:prSet presAssocID="{6F847ACB-A0A6-A543-A1C9-F127EAAA2BBB}" presName="node" presStyleLbl="node1" presStyleIdx="1" presStyleCnt="13">
        <dgm:presLayoutVars>
          <dgm:bulletEnabled val="1"/>
        </dgm:presLayoutVars>
      </dgm:prSet>
      <dgm:spPr/>
    </dgm:pt>
    <dgm:pt modelId="{DA9B6AD7-E357-D146-ACE3-CCBC6A79E7F5}" type="pres">
      <dgm:prSet presAssocID="{B03F6BC5-D7A1-484D-84F2-A1E628040C3E}" presName="sibTrans" presStyleCnt="0"/>
      <dgm:spPr/>
    </dgm:pt>
    <dgm:pt modelId="{7AECB77E-E9F1-6244-8F5C-B0E2B58E0907}" type="pres">
      <dgm:prSet presAssocID="{6D5B435D-CE85-D943-9C2C-E8A4A344C33D}" presName="node" presStyleLbl="node1" presStyleIdx="2" presStyleCnt="13">
        <dgm:presLayoutVars>
          <dgm:bulletEnabled val="1"/>
        </dgm:presLayoutVars>
      </dgm:prSet>
      <dgm:spPr/>
    </dgm:pt>
    <dgm:pt modelId="{356545A3-EF7E-D54F-AF58-483A0D4C37F3}" type="pres">
      <dgm:prSet presAssocID="{FA0BDA17-BCC5-024D-9A23-8D9CB33B6EBA}" presName="sibTrans" presStyleCnt="0"/>
      <dgm:spPr/>
    </dgm:pt>
    <dgm:pt modelId="{C0353296-3733-774C-8C53-B3B4153D3D6B}" type="pres">
      <dgm:prSet presAssocID="{C923B896-6594-6748-B5C7-E1E9070EAA0E}" presName="node" presStyleLbl="node1" presStyleIdx="3" presStyleCnt="13">
        <dgm:presLayoutVars>
          <dgm:bulletEnabled val="1"/>
        </dgm:presLayoutVars>
      </dgm:prSet>
      <dgm:spPr/>
    </dgm:pt>
    <dgm:pt modelId="{0F955F1D-F4CB-0348-8F86-FA7376BA57C9}" type="pres">
      <dgm:prSet presAssocID="{B2C2E860-1EA5-AD44-AD92-CA1D1D93ED62}" presName="sibTrans" presStyleCnt="0"/>
      <dgm:spPr/>
    </dgm:pt>
    <dgm:pt modelId="{D24365E8-69DE-C747-9E83-52B84A61D2F6}" type="pres">
      <dgm:prSet presAssocID="{1EED44D3-1523-2743-AC4B-D95D4472E9C1}" presName="node" presStyleLbl="node1" presStyleIdx="4" presStyleCnt="13">
        <dgm:presLayoutVars>
          <dgm:bulletEnabled val="1"/>
        </dgm:presLayoutVars>
      </dgm:prSet>
      <dgm:spPr/>
    </dgm:pt>
    <dgm:pt modelId="{77D9B1E0-CA6E-2A4A-925B-9FEEDF4805DE}" type="pres">
      <dgm:prSet presAssocID="{6CBAC25A-AAFE-A942-9BA7-6C6C44FE6440}" presName="sibTrans" presStyleCnt="0"/>
      <dgm:spPr/>
    </dgm:pt>
    <dgm:pt modelId="{66E8F405-FAFC-9145-ADC8-EB70BBB725C7}" type="pres">
      <dgm:prSet presAssocID="{2A675491-0078-064B-B6B4-6AE5F1D714FB}" presName="node" presStyleLbl="node1" presStyleIdx="5" presStyleCnt="13">
        <dgm:presLayoutVars>
          <dgm:bulletEnabled val="1"/>
        </dgm:presLayoutVars>
      </dgm:prSet>
      <dgm:spPr/>
    </dgm:pt>
    <dgm:pt modelId="{9F9FE9E0-E1C2-EE4E-A222-C08EE018CEB1}" type="pres">
      <dgm:prSet presAssocID="{C0086915-FBD4-C34A-B2DD-BDF32E77A6D0}" presName="sibTrans" presStyleCnt="0"/>
      <dgm:spPr/>
    </dgm:pt>
    <dgm:pt modelId="{4E482E25-3721-7343-81CE-F685686CC338}" type="pres">
      <dgm:prSet presAssocID="{061BF52E-9B16-F349-9DD6-E9E0EC541096}" presName="node" presStyleLbl="node1" presStyleIdx="6" presStyleCnt="13">
        <dgm:presLayoutVars>
          <dgm:bulletEnabled val="1"/>
        </dgm:presLayoutVars>
      </dgm:prSet>
      <dgm:spPr/>
    </dgm:pt>
    <dgm:pt modelId="{9BA3AE47-A6EA-2443-A6C3-582D653A8613}" type="pres">
      <dgm:prSet presAssocID="{EEB2FD0B-DE9D-5146-AD51-EC4A8B549EBE}" presName="sibTrans" presStyleCnt="0"/>
      <dgm:spPr/>
    </dgm:pt>
    <dgm:pt modelId="{72C0B4ED-B88B-7C4C-A6DE-EE2433019B73}" type="pres">
      <dgm:prSet presAssocID="{D55A030B-F7FF-EC42-9AF7-8F127584F165}" presName="node" presStyleLbl="node1" presStyleIdx="7" presStyleCnt="13">
        <dgm:presLayoutVars>
          <dgm:bulletEnabled val="1"/>
        </dgm:presLayoutVars>
      </dgm:prSet>
      <dgm:spPr/>
    </dgm:pt>
    <dgm:pt modelId="{AC022A94-D16F-0B42-8961-FC5209804E84}" type="pres">
      <dgm:prSet presAssocID="{DBF70DA9-A9D0-F649-9578-9A0582C95A22}" presName="sibTrans" presStyleCnt="0"/>
      <dgm:spPr/>
    </dgm:pt>
    <dgm:pt modelId="{E7F8FEAB-4CC0-F94B-A09F-DBB51EC19114}" type="pres">
      <dgm:prSet presAssocID="{0C210577-77B9-6F4E-82BD-9A9AAD7989DC}" presName="node" presStyleLbl="node1" presStyleIdx="8" presStyleCnt="13">
        <dgm:presLayoutVars>
          <dgm:bulletEnabled val="1"/>
        </dgm:presLayoutVars>
      </dgm:prSet>
      <dgm:spPr/>
    </dgm:pt>
    <dgm:pt modelId="{6BC6FE83-91A5-8A40-B9FD-ED8727FE5D95}" type="pres">
      <dgm:prSet presAssocID="{61D93068-790D-6944-9E8A-229E21F289C7}" presName="sibTrans" presStyleCnt="0"/>
      <dgm:spPr/>
    </dgm:pt>
    <dgm:pt modelId="{7DB8A28C-61C8-9143-8B1B-9DF0E1FBE863}" type="pres">
      <dgm:prSet presAssocID="{F571EE18-EAAE-E34F-8B2E-B4C1B9E9BB4F}" presName="node" presStyleLbl="node1" presStyleIdx="9" presStyleCnt="13">
        <dgm:presLayoutVars>
          <dgm:bulletEnabled val="1"/>
        </dgm:presLayoutVars>
      </dgm:prSet>
      <dgm:spPr/>
    </dgm:pt>
    <dgm:pt modelId="{EA75BDAC-A5C9-264B-96CE-16FEA051E77B}" type="pres">
      <dgm:prSet presAssocID="{886EA4D1-A230-1146-9C8C-6254D2C40721}" presName="sibTrans" presStyleCnt="0"/>
      <dgm:spPr/>
    </dgm:pt>
    <dgm:pt modelId="{7C264F48-7FD7-0040-A586-23F28C4C2BDD}" type="pres">
      <dgm:prSet presAssocID="{4DE9BD78-E09A-B641-8E02-5B72C7148974}" presName="node" presStyleLbl="node1" presStyleIdx="10" presStyleCnt="13">
        <dgm:presLayoutVars>
          <dgm:bulletEnabled val="1"/>
        </dgm:presLayoutVars>
      </dgm:prSet>
      <dgm:spPr/>
    </dgm:pt>
    <dgm:pt modelId="{E9C563B9-3E9C-5741-9891-D40A7435FBD0}" type="pres">
      <dgm:prSet presAssocID="{DF9DF219-A5E1-594C-8D5B-3C8453A7BC88}" presName="sibTrans" presStyleCnt="0"/>
      <dgm:spPr/>
    </dgm:pt>
    <dgm:pt modelId="{4F8F62E2-B8D6-E24B-AD95-B7E8E9B9084C}" type="pres">
      <dgm:prSet presAssocID="{1C02BCDB-8518-8C45-B40E-BDD94E8E5B5C}" presName="node" presStyleLbl="node1" presStyleIdx="11" presStyleCnt="13">
        <dgm:presLayoutVars>
          <dgm:bulletEnabled val="1"/>
        </dgm:presLayoutVars>
      </dgm:prSet>
      <dgm:spPr/>
    </dgm:pt>
    <dgm:pt modelId="{B3C8984B-6BEF-DA4B-8DB2-549615C752DB}" type="pres">
      <dgm:prSet presAssocID="{E0957738-2295-BA49-8A89-C73B2EAD72B9}" presName="sibTrans" presStyleCnt="0"/>
      <dgm:spPr/>
    </dgm:pt>
    <dgm:pt modelId="{074D8911-5684-FE4C-8E5A-B14661BEBFB1}" type="pres">
      <dgm:prSet presAssocID="{D9D6BB53-B325-AC4C-956F-5B18246BD6EB}" presName="node" presStyleLbl="node1" presStyleIdx="12" presStyleCnt="13">
        <dgm:presLayoutVars>
          <dgm:bulletEnabled val="1"/>
        </dgm:presLayoutVars>
      </dgm:prSet>
      <dgm:spPr/>
    </dgm:pt>
  </dgm:ptLst>
  <dgm:cxnLst>
    <dgm:cxn modelId="{59D3F101-0EF6-084C-8971-9DB2899D7E82}" srcId="{F178F0DC-4605-7743-9B00-573E0EFD16C3}" destId="{D9D6BB53-B325-AC4C-956F-5B18246BD6EB}" srcOrd="12" destOrd="0" parTransId="{5B8202E1-728E-D342-B85D-31FEF70B38A9}" sibTransId="{24F928BE-1ACA-EF45-800B-3E75B1CCD182}"/>
    <dgm:cxn modelId="{FFA63D03-A1B8-B24D-8A3B-E458675C442F}" srcId="{F178F0DC-4605-7743-9B00-573E0EFD16C3}" destId="{1EED44D3-1523-2743-AC4B-D95D4472E9C1}" srcOrd="4" destOrd="0" parTransId="{D62E2D82-41FE-EE4F-90A6-90D44427C1BB}" sibTransId="{6CBAC25A-AAFE-A942-9BA7-6C6C44FE6440}"/>
    <dgm:cxn modelId="{D6C6D50B-65BA-C34C-BD77-C3D8C293E1DB}" srcId="{F178F0DC-4605-7743-9B00-573E0EFD16C3}" destId="{061BF52E-9B16-F349-9DD6-E9E0EC541096}" srcOrd="6" destOrd="0" parTransId="{392F348B-95F3-1A4F-9C9F-B855BC5C6BCE}" sibTransId="{EEB2FD0B-DE9D-5146-AD51-EC4A8B549EBE}"/>
    <dgm:cxn modelId="{F3D67B16-0E05-3B4A-8EBC-DCAEA7C8EAEB}" type="presOf" srcId="{061BF52E-9B16-F349-9DD6-E9E0EC541096}" destId="{4E482E25-3721-7343-81CE-F685686CC338}" srcOrd="0" destOrd="0" presId="urn:microsoft.com/office/officeart/2005/8/layout/default"/>
    <dgm:cxn modelId="{979F8B19-B928-564B-8282-F5C09917E117}" srcId="{F178F0DC-4605-7743-9B00-573E0EFD16C3}" destId="{2A675491-0078-064B-B6B4-6AE5F1D714FB}" srcOrd="5" destOrd="0" parTransId="{C6396AED-DE8A-2E4F-B9A2-83801C810EA1}" sibTransId="{C0086915-FBD4-C34A-B2DD-BDF32E77A6D0}"/>
    <dgm:cxn modelId="{F8B72622-6B53-EE4F-A690-688FE60FB8E7}" srcId="{F178F0DC-4605-7743-9B00-573E0EFD16C3}" destId="{1C02BCDB-8518-8C45-B40E-BDD94E8E5B5C}" srcOrd="11" destOrd="0" parTransId="{C556489E-FDE6-7846-B8AD-069F8098F14E}" sibTransId="{E0957738-2295-BA49-8A89-C73B2EAD72B9}"/>
    <dgm:cxn modelId="{895F482D-E7FB-274F-A71F-A40DCB25DD35}" srcId="{F178F0DC-4605-7743-9B00-573E0EFD16C3}" destId="{6F847ACB-A0A6-A543-A1C9-F127EAAA2BBB}" srcOrd="1" destOrd="0" parTransId="{4D036016-795D-3B43-9A2F-BEB4DD50EE63}" sibTransId="{B03F6BC5-D7A1-484D-84F2-A1E628040C3E}"/>
    <dgm:cxn modelId="{E320F32E-81D1-B041-93F7-93945B6EF942}" type="presOf" srcId="{4DE9BD78-E09A-B641-8E02-5B72C7148974}" destId="{7C264F48-7FD7-0040-A586-23F28C4C2BDD}" srcOrd="0" destOrd="0" presId="urn:microsoft.com/office/officeart/2005/8/layout/default"/>
    <dgm:cxn modelId="{7BC45D33-F756-784D-BE7B-B0C77F856709}" type="presOf" srcId="{C923B896-6594-6748-B5C7-E1E9070EAA0E}" destId="{C0353296-3733-774C-8C53-B3B4153D3D6B}" srcOrd="0" destOrd="0" presId="urn:microsoft.com/office/officeart/2005/8/layout/default"/>
    <dgm:cxn modelId="{78311E3C-8800-B244-AD6D-1A441BC287F6}" type="presOf" srcId="{6D5B435D-CE85-D943-9C2C-E8A4A344C33D}" destId="{7AECB77E-E9F1-6244-8F5C-B0E2B58E0907}" srcOrd="0" destOrd="0" presId="urn:microsoft.com/office/officeart/2005/8/layout/default"/>
    <dgm:cxn modelId="{F58C4D47-4AAB-2043-BEAC-179519DB3C3A}" type="presOf" srcId="{F571EE18-EAAE-E34F-8B2E-B4C1B9E9BB4F}" destId="{7DB8A28C-61C8-9143-8B1B-9DF0E1FBE863}" srcOrd="0" destOrd="0" presId="urn:microsoft.com/office/officeart/2005/8/layout/default"/>
    <dgm:cxn modelId="{3F719B48-99F1-7344-B0A2-681AA1BEE189}" srcId="{F178F0DC-4605-7743-9B00-573E0EFD16C3}" destId="{0C210577-77B9-6F4E-82BD-9A9AAD7989DC}" srcOrd="8" destOrd="0" parTransId="{D0A1FE19-D740-9C4D-A52F-0C0185DFAB0C}" sibTransId="{61D93068-790D-6944-9E8A-229E21F289C7}"/>
    <dgm:cxn modelId="{63910A4F-E89F-7A4C-AFD0-73F8AD9AF2B2}" type="presOf" srcId="{06AAA6B5-754B-D84F-84D1-4D268EBD1C10}" destId="{C04E57B1-2D5F-C84C-94B9-7C1D35A94586}" srcOrd="0" destOrd="0" presId="urn:microsoft.com/office/officeart/2005/8/layout/default"/>
    <dgm:cxn modelId="{CABFFC4F-8E76-BF47-AA9D-085FE59B64C1}" type="presOf" srcId="{D9D6BB53-B325-AC4C-956F-5B18246BD6EB}" destId="{074D8911-5684-FE4C-8E5A-B14661BEBFB1}" srcOrd="0" destOrd="0" presId="urn:microsoft.com/office/officeart/2005/8/layout/default"/>
    <dgm:cxn modelId="{D727E96C-5E60-E946-B4F0-B779E2C5955A}" srcId="{F178F0DC-4605-7743-9B00-573E0EFD16C3}" destId="{6D5B435D-CE85-D943-9C2C-E8A4A344C33D}" srcOrd="2" destOrd="0" parTransId="{BE398076-65A2-4443-AF5F-F2447D5CFC75}" sibTransId="{FA0BDA17-BCC5-024D-9A23-8D9CB33B6EBA}"/>
    <dgm:cxn modelId="{7F18D571-BD7F-5644-AB39-625F490B7883}" type="presOf" srcId="{1EED44D3-1523-2743-AC4B-D95D4472E9C1}" destId="{D24365E8-69DE-C747-9E83-52B84A61D2F6}" srcOrd="0" destOrd="0" presId="urn:microsoft.com/office/officeart/2005/8/layout/default"/>
    <dgm:cxn modelId="{56169D7E-7900-ED45-B254-EF43CF7F2C04}" srcId="{F178F0DC-4605-7743-9B00-573E0EFD16C3}" destId="{4DE9BD78-E09A-B641-8E02-5B72C7148974}" srcOrd="10" destOrd="0" parTransId="{3CF701EA-1433-B34A-BFD9-F155B6CA8E88}" sibTransId="{DF9DF219-A5E1-594C-8D5B-3C8453A7BC88}"/>
    <dgm:cxn modelId="{8184A77E-3B7C-E04A-AFB3-0D7671D6168C}" type="presOf" srcId="{6F847ACB-A0A6-A543-A1C9-F127EAAA2BBB}" destId="{37B7A3E1-F68F-544D-89B7-C540BA6EC5A4}" srcOrd="0" destOrd="0" presId="urn:microsoft.com/office/officeart/2005/8/layout/default"/>
    <dgm:cxn modelId="{D1CA0B85-3FAB-574A-B2AD-D609083F9D30}" type="presOf" srcId="{1C02BCDB-8518-8C45-B40E-BDD94E8E5B5C}" destId="{4F8F62E2-B8D6-E24B-AD95-B7E8E9B9084C}" srcOrd="0" destOrd="0" presId="urn:microsoft.com/office/officeart/2005/8/layout/default"/>
    <dgm:cxn modelId="{0D50FF88-0AB6-9948-8DFD-D9C7CD2C186D}" srcId="{F178F0DC-4605-7743-9B00-573E0EFD16C3}" destId="{F571EE18-EAAE-E34F-8B2E-B4C1B9E9BB4F}" srcOrd="9" destOrd="0" parTransId="{BC008457-5B3B-134E-B084-10294E616D24}" sibTransId="{886EA4D1-A230-1146-9C8C-6254D2C40721}"/>
    <dgm:cxn modelId="{1EC6C789-0A66-7E4D-8473-322FF68A5E95}" type="presOf" srcId="{F178F0DC-4605-7743-9B00-573E0EFD16C3}" destId="{E529B231-BAD5-F642-87AB-5392CA5C4292}" srcOrd="0" destOrd="0" presId="urn:microsoft.com/office/officeart/2005/8/layout/default"/>
    <dgm:cxn modelId="{33A9ECA5-0F96-D242-85B1-9D5F65B93F49}" type="presOf" srcId="{2A675491-0078-064B-B6B4-6AE5F1D714FB}" destId="{66E8F405-FAFC-9145-ADC8-EB70BBB725C7}" srcOrd="0" destOrd="0" presId="urn:microsoft.com/office/officeart/2005/8/layout/default"/>
    <dgm:cxn modelId="{CEB4F5B7-11F7-A248-8F25-F45B9F3AE33B}" srcId="{F178F0DC-4605-7743-9B00-573E0EFD16C3}" destId="{C923B896-6594-6748-B5C7-E1E9070EAA0E}" srcOrd="3" destOrd="0" parTransId="{4AAF6CC3-D978-804E-96B1-75D62E033A6F}" sibTransId="{B2C2E860-1EA5-AD44-AD92-CA1D1D93ED62}"/>
    <dgm:cxn modelId="{BA10EEDD-E0D5-6244-9ED1-CAF51FD7D633}" srcId="{F178F0DC-4605-7743-9B00-573E0EFD16C3}" destId="{D55A030B-F7FF-EC42-9AF7-8F127584F165}" srcOrd="7" destOrd="0" parTransId="{1BBCBE10-32B2-D544-8441-326790C0A73B}" sibTransId="{DBF70DA9-A9D0-F649-9578-9A0582C95A22}"/>
    <dgm:cxn modelId="{FE2E24E3-E02D-8C44-9271-10E9E0D2D538}" type="presOf" srcId="{0C210577-77B9-6F4E-82BD-9A9AAD7989DC}" destId="{E7F8FEAB-4CC0-F94B-A09F-DBB51EC19114}" srcOrd="0" destOrd="0" presId="urn:microsoft.com/office/officeart/2005/8/layout/default"/>
    <dgm:cxn modelId="{8C1F27EA-B3D5-3A4A-84BA-6E0C302B50E3}" srcId="{F178F0DC-4605-7743-9B00-573E0EFD16C3}" destId="{06AAA6B5-754B-D84F-84D1-4D268EBD1C10}" srcOrd="0" destOrd="0" parTransId="{9CA648B6-D737-B444-B780-97AC539CB198}" sibTransId="{296E8F7A-6037-D646-AEF4-4B24FD9C6574}"/>
    <dgm:cxn modelId="{4776E8F2-08B3-3E4C-BE42-427EF9620DF3}" type="presOf" srcId="{D55A030B-F7FF-EC42-9AF7-8F127584F165}" destId="{72C0B4ED-B88B-7C4C-A6DE-EE2433019B73}" srcOrd="0" destOrd="0" presId="urn:microsoft.com/office/officeart/2005/8/layout/default"/>
    <dgm:cxn modelId="{6AF23441-74B0-9640-9125-E5A79EF448EC}" type="presParOf" srcId="{E529B231-BAD5-F642-87AB-5392CA5C4292}" destId="{C04E57B1-2D5F-C84C-94B9-7C1D35A94586}" srcOrd="0" destOrd="0" presId="urn:microsoft.com/office/officeart/2005/8/layout/default"/>
    <dgm:cxn modelId="{07A5A4D6-8E08-0443-AB9A-AD776479B451}" type="presParOf" srcId="{E529B231-BAD5-F642-87AB-5392CA5C4292}" destId="{0F0D2F8F-5893-3940-9A7F-3A0674C06A25}" srcOrd="1" destOrd="0" presId="urn:microsoft.com/office/officeart/2005/8/layout/default"/>
    <dgm:cxn modelId="{A7908E53-97E8-9B43-A3A0-8011C7AB2AB1}" type="presParOf" srcId="{E529B231-BAD5-F642-87AB-5392CA5C4292}" destId="{37B7A3E1-F68F-544D-89B7-C540BA6EC5A4}" srcOrd="2" destOrd="0" presId="urn:microsoft.com/office/officeart/2005/8/layout/default"/>
    <dgm:cxn modelId="{1EC8E50B-D89B-5A4F-95AD-3E19CB4801A3}" type="presParOf" srcId="{E529B231-BAD5-F642-87AB-5392CA5C4292}" destId="{DA9B6AD7-E357-D146-ACE3-CCBC6A79E7F5}" srcOrd="3" destOrd="0" presId="urn:microsoft.com/office/officeart/2005/8/layout/default"/>
    <dgm:cxn modelId="{3304F01F-F5E0-0346-98EB-69D72B3D2344}" type="presParOf" srcId="{E529B231-BAD5-F642-87AB-5392CA5C4292}" destId="{7AECB77E-E9F1-6244-8F5C-B0E2B58E0907}" srcOrd="4" destOrd="0" presId="urn:microsoft.com/office/officeart/2005/8/layout/default"/>
    <dgm:cxn modelId="{97EACDAC-A6B7-1646-81CA-6685A6FCE8BB}" type="presParOf" srcId="{E529B231-BAD5-F642-87AB-5392CA5C4292}" destId="{356545A3-EF7E-D54F-AF58-483A0D4C37F3}" srcOrd="5" destOrd="0" presId="urn:microsoft.com/office/officeart/2005/8/layout/default"/>
    <dgm:cxn modelId="{50B9AAA3-351C-7048-955E-EBC1694A56E9}" type="presParOf" srcId="{E529B231-BAD5-F642-87AB-5392CA5C4292}" destId="{C0353296-3733-774C-8C53-B3B4153D3D6B}" srcOrd="6" destOrd="0" presId="urn:microsoft.com/office/officeart/2005/8/layout/default"/>
    <dgm:cxn modelId="{730B85DF-75E3-9C4D-9500-BC47C8091A5D}" type="presParOf" srcId="{E529B231-BAD5-F642-87AB-5392CA5C4292}" destId="{0F955F1D-F4CB-0348-8F86-FA7376BA57C9}" srcOrd="7" destOrd="0" presId="urn:microsoft.com/office/officeart/2005/8/layout/default"/>
    <dgm:cxn modelId="{4420A07B-1C61-9A40-A3C8-12D4D20D9F4E}" type="presParOf" srcId="{E529B231-BAD5-F642-87AB-5392CA5C4292}" destId="{D24365E8-69DE-C747-9E83-52B84A61D2F6}" srcOrd="8" destOrd="0" presId="urn:microsoft.com/office/officeart/2005/8/layout/default"/>
    <dgm:cxn modelId="{3AD3C2E6-33AA-AB49-B3A7-F70185278D5B}" type="presParOf" srcId="{E529B231-BAD5-F642-87AB-5392CA5C4292}" destId="{77D9B1E0-CA6E-2A4A-925B-9FEEDF4805DE}" srcOrd="9" destOrd="0" presId="urn:microsoft.com/office/officeart/2005/8/layout/default"/>
    <dgm:cxn modelId="{47F9CBDE-B17A-4C4B-8A0C-5C263AF60CC0}" type="presParOf" srcId="{E529B231-BAD5-F642-87AB-5392CA5C4292}" destId="{66E8F405-FAFC-9145-ADC8-EB70BBB725C7}" srcOrd="10" destOrd="0" presId="urn:microsoft.com/office/officeart/2005/8/layout/default"/>
    <dgm:cxn modelId="{9F7A5DA3-E368-D346-A2E4-94D5A28A3D86}" type="presParOf" srcId="{E529B231-BAD5-F642-87AB-5392CA5C4292}" destId="{9F9FE9E0-E1C2-EE4E-A222-C08EE018CEB1}" srcOrd="11" destOrd="0" presId="urn:microsoft.com/office/officeart/2005/8/layout/default"/>
    <dgm:cxn modelId="{3912FE44-1DFB-434D-BF6E-BC5C09471EDA}" type="presParOf" srcId="{E529B231-BAD5-F642-87AB-5392CA5C4292}" destId="{4E482E25-3721-7343-81CE-F685686CC338}" srcOrd="12" destOrd="0" presId="urn:microsoft.com/office/officeart/2005/8/layout/default"/>
    <dgm:cxn modelId="{7E8ED8FD-D5CD-3A4C-A35F-55A81B4B1B09}" type="presParOf" srcId="{E529B231-BAD5-F642-87AB-5392CA5C4292}" destId="{9BA3AE47-A6EA-2443-A6C3-582D653A8613}" srcOrd="13" destOrd="0" presId="urn:microsoft.com/office/officeart/2005/8/layout/default"/>
    <dgm:cxn modelId="{94B9394F-1AA1-6948-9776-D90CFB5A9F00}" type="presParOf" srcId="{E529B231-BAD5-F642-87AB-5392CA5C4292}" destId="{72C0B4ED-B88B-7C4C-A6DE-EE2433019B73}" srcOrd="14" destOrd="0" presId="urn:microsoft.com/office/officeart/2005/8/layout/default"/>
    <dgm:cxn modelId="{2F649211-8C46-934D-9A59-8116C1860C1D}" type="presParOf" srcId="{E529B231-BAD5-F642-87AB-5392CA5C4292}" destId="{AC022A94-D16F-0B42-8961-FC5209804E84}" srcOrd="15" destOrd="0" presId="urn:microsoft.com/office/officeart/2005/8/layout/default"/>
    <dgm:cxn modelId="{D24FE2A1-A88A-DC41-A1AB-C4552D6E62ED}" type="presParOf" srcId="{E529B231-BAD5-F642-87AB-5392CA5C4292}" destId="{E7F8FEAB-4CC0-F94B-A09F-DBB51EC19114}" srcOrd="16" destOrd="0" presId="urn:microsoft.com/office/officeart/2005/8/layout/default"/>
    <dgm:cxn modelId="{FBB3BBC9-F707-1544-B71C-4A01396216E4}" type="presParOf" srcId="{E529B231-BAD5-F642-87AB-5392CA5C4292}" destId="{6BC6FE83-91A5-8A40-B9FD-ED8727FE5D95}" srcOrd="17" destOrd="0" presId="urn:microsoft.com/office/officeart/2005/8/layout/default"/>
    <dgm:cxn modelId="{70CE29DD-BC98-E340-A63E-4D6A00770CFD}" type="presParOf" srcId="{E529B231-BAD5-F642-87AB-5392CA5C4292}" destId="{7DB8A28C-61C8-9143-8B1B-9DF0E1FBE863}" srcOrd="18" destOrd="0" presId="urn:microsoft.com/office/officeart/2005/8/layout/default"/>
    <dgm:cxn modelId="{5DA81A28-1DBC-2E4C-AEC0-1E386239106E}" type="presParOf" srcId="{E529B231-BAD5-F642-87AB-5392CA5C4292}" destId="{EA75BDAC-A5C9-264B-96CE-16FEA051E77B}" srcOrd="19" destOrd="0" presId="urn:microsoft.com/office/officeart/2005/8/layout/default"/>
    <dgm:cxn modelId="{865DD227-A7B7-6C4B-BEE5-5EF21E00473B}" type="presParOf" srcId="{E529B231-BAD5-F642-87AB-5392CA5C4292}" destId="{7C264F48-7FD7-0040-A586-23F28C4C2BDD}" srcOrd="20" destOrd="0" presId="urn:microsoft.com/office/officeart/2005/8/layout/default"/>
    <dgm:cxn modelId="{68C5DAB9-27EC-F546-91BA-4EB0392E4DC6}" type="presParOf" srcId="{E529B231-BAD5-F642-87AB-5392CA5C4292}" destId="{E9C563B9-3E9C-5741-9891-D40A7435FBD0}" srcOrd="21" destOrd="0" presId="urn:microsoft.com/office/officeart/2005/8/layout/default"/>
    <dgm:cxn modelId="{B4B99ABC-B874-974B-9124-F90A51AAAD7B}" type="presParOf" srcId="{E529B231-BAD5-F642-87AB-5392CA5C4292}" destId="{4F8F62E2-B8D6-E24B-AD95-B7E8E9B9084C}" srcOrd="22" destOrd="0" presId="urn:microsoft.com/office/officeart/2005/8/layout/default"/>
    <dgm:cxn modelId="{DBD8C398-5B73-2442-A81D-96682042FD4E}" type="presParOf" srcId="{E529B231-BAD5-F642-87AB-5392CA5C4292}" destId="{B3C8984B-6BEF-DA4B-8DB2-549615C752DB}" srcOrd="23" destOrd="0" presId="urn:microsoft.com/office/officeart/2005/8/layout/default"/>
    <dgm:cxn modelId="{8279B503-DF15-9545-9880-BA98FC031716}" type="presParOf" srcId="{E529B231-BAD5-F642-87AB-5392CA5C4292}" destId="{074D8911-5684-FE4C-8E5A-B14661BEBFB1}"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E57B1-2D5F-C84C-94B9-7C1D35A94586}">
      <dsp:nvSpPr>
        <dsp:cNvPr id="0" name=""/>
        <dsp:cNvSpPr/>
      </dsp:nvSpPr>
      <dsp:spPr>
        <a:xfrm>
          <a:off x="2812" y="138836"/>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帰納的な発想を用いる</a:t>
          </a:r>
          <a:endParaRPr kumimoji="1" lang="ja-JP" altLang="en-US" sz="1800" kern="1200"/>
        </a:p>
      </dsp:txBody>
      <dsp:txXfrm>
        <a:off x="2812" y="138836"/>
        <a:ext cx="1522958" cy="913774"/>
      </dsp:txXfrm>
    </dsp:sp>
    <dsp:sp modelId="{37B7A3E1-F68F-544D-89B7-C540BA6EC5A4}">
      <dsp:nvSpPr>
        <dsp:cNvPr id="0" name=""/>
        <dsp:cNvSpPr/>
      </dsp:nvSpPr>
      <dsp:spPr>
        <a:xfrm>
          <a:off x="1678066" y="138836"/>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定義や基礎に戻る</a:t>
          </a:r>
          <a:endParaRPr kumimoji="1" lang="ja-JP" altLang="en-US" sz="1800" kern="1200"/>
        </a:p>
      </dsp:txBody>
      <dsp:txXfrm>
        <a:off x="1678066" y="138836"/>
        <a:ext cx="1522958" cy="913774"/>
      </dsp:txXfrm>
    </dsp:sp>
    <dsp:sp modelId="{7AECB77E-E9F1-6244-8F5C-B0E2B58E0907}">
      <dsp:nvSpPr>
        <dsp:cNvPr id="0" name=""/>
        <dsp:cNvSpPr/>
      </dsp:nvSpPr>
      <dsp:spPr>
        <a:xfrm>
          <a:off x="3353320" y="138836"/>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背理法を用いる</a:t>
          </a:r>
          <a:endParaRPr kumimoji="1" lang="ja-JP" altLang="en-US" sz="1800" kern="1200"/>
        </a:p>
      </dsp:txBody>
      <dsp:txXfrm>
        <a:off x="3353320" y="138836"/>
        <a:ext cx="1522958" cy="913774"/>
      </dsp:txXfrm>
    </dsp:sp>
    <dsp:sp modelId="{C0353296-3733-774C-8C53-B3B4153D3D6B}">
      <dsp:nvSpPr>
        <dsp:cNvPr id="0" name=""/>
        <dsp:cNvSpPr/>
      </dsp:nvSpPr>
      <dsp:spPr>
        <a:xfrm>
          <a:off x="5028574" y="138836"/>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条件を使いこなしているか</a:t>
          </a:r>
          <a:endParaRPr kumimoji="1" lang="ja-JP" altLang="en-US" sz="1800" kern="1200"/>
        </a:p>
      </dsp:txBody>
      <dsp:txXfrm>
        <a:off x="5028574" y="138836"/>
        <a:ext cx="1522958" cy="913774"/>
      </dsp:txXfrm>
    </dsp:sp>
    <dsp:sp modelId="{D24365E8-69DE-C747-9E83-52B84A61D2F6}">
      <dsp:nvSpPr>
        <dsp:cNvPr id="0" name=""/>
        <dsp:cNvSpPr/>
      </dsp:nvSpPr>
      <dsp:spPr>
        <a:xfrm>
          <a:off x="6703828" y="138836"/>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図を用いて考える</a:t>
          </a:r>
          <a:endParaRPr kumimoji="1" lang="ja-JP" altLang="en-US" sz="1800" kern="1200"/>
        </a:p>
      </dsp:txBody>
      <dsp:txXfrm>
        <a:off x="6703828" y="138836"/>
        <a:ext cx="1522958" cy="913774"/>
      </dsp:txXfrm>
    </dsp:sp>
    <dsp:sp modelId="{66E8F405-FAFC-9145-ADC8-EB70BBB725C7}">
      <dsp:nvSpPr>
        <dsp:cNvPr id="0" name=""/>
        <dsp:cNvSpPr/>
      </dsp:nvSpPr>
      <dsp:spPr>
        <a:xfrm>
          <a:off x="2812" y="1204907"/>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逆向きに考える</a:t>
          </a:r>
          <a:endParaRPr lang="ja-JP" altLang="en-US" sz="1800" kern="1200"/>
        </a:p>
      </dsp:txBody>
      <dsp:txXfrm>
        <a:off x="2812" y="1204907"/>
        <a:ext cx="1522958" cy="913774"/>
      </dsp:txXfrm>
    </dsp:sp>
    <dsp:sp modelId="{4E482E25-3721-7343-81CE-F685686CC338}">
      <dsp:nvSpPr>
        <dsp:cNvPr id="0" name=""/>
        <dsp:cNvSpPr/>
      </dsp:nvSpPr>
      <dsp:spPr>
        <a:xfrm>
          <a:off x="1678066" y="1204907"/>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一般化して考える</a:t>
          </a:r>
          <a:endParaRPr kumimoji="1" lang="ja-JP" altLang="en-US" sz="1800" kern="1200"/>
        </a:p>
      </dsp:txBody>
      <dsp:txXfrm>
        <a:off x="1678066" y="1204907"/>
        <a:ext cx="1522958" cy="913774"/>
      </dsp:txXfrm>
    </dsp:sp>
    <dsp:sp modelId="{72C0B4ED-B88B-7C4C-A6DE-EE2433019B73}">
      <dsp:nvSpPr>
        <dsp:cNvPr id="0" name=""/>
        <dsp:cNvSpPr/>
      </dsp:nvSpPr>
      <dsp:spPr>
        <a:xfrm>
          <a:off x="3353320" y="1204907"/>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特殊化して考える</a:t>
          </a:r>
          <a:endParaRPr kumimoji="1" lang="ja-JP" altLang="en-US" sz="1800" kern="1200"/>
        </a:p>
      </dsp:txBody>
      <dsp:txXfrm>
        <a:off x="3353320" y="1204907"/>
        <a:ext cx="1522958" cy="913774"/>
      </dsp:txXfrm>
    </dsp:sp>
    <dsp:sp modelId="{E7F8FEAB-4CC0-F94B-A09F-DBB51EC19114}">
      <dsp:nvSpPr>
        <dsp:cNvPr id="0" name=""/>
        <dsp:cNvSpPr/>
      </dsp:nvSpPr>
      <dsp:spPr>
        <a:xfrm>
          <a:off x="5028574" y="1204907"/>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類推する</a:t>
          </a:r>
          <a:endParaRPr lang="ja-JP" altLang="en-US" sz="1800" kern="1200"/>
        </a:p>
      </dsp:txBody>
      <dsp:txXfrm>
        <a:off x="5028574" y="1204907"/>
        <a:ext cx="1522958" cy="913774"/>
      </dsp:txXfrm>
    </dsp:sp>
    <dsp:sp modelId="{7DB8A28C-61C8-9143-8B1B-9DF0E1FBE863}">
      <dsp:nvSpPr>
        <dsp:cNvPr id="0" name=""/>
        <dsp:cNvSpPr/>
      </dsp:nvSpPr>
      <dsp:spPr>
        <a:xfrm>
          <a:off x="6703828" y="1204907"/>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兆候から見通す</a:t>
          </a:r>
          <a:endParaRPr lang="ja-JP" altLang="en-US" sz="1800" kern="1200"/>
        </a:p>
      </dsp:txBody>
      <dsp:txXfrm>
        <a:off x="6703828" y="1204907"/>
        <a:ext cx="1522958" cy="913774"/>
      </dsp:txXfrm>
    </dsp:sp>
    <dsp:sp modelId="{7C264F48-7FD7-0040-A586-23F28C4C2BDD}">
      <dsp:nvSpPr>
        <dsp:cNvPr id="0" name=""/>
        <dsp:cNvSpPr/>
      </dsp:nvSpPr>
      <dsp:spPr>
        <a:xfrm>
          <a:off x="1678066" y="2270978"/>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効果的な記号を使う</a:t>
          </a:r>
          <a:endParaRPr lang="ja-JP" altLang="en-US" sz="1800" kern="1200"/>
        </a:p>
      </dsp:txBody>
      <dsp:txXfrm>
        <a:off x="1678066" y="2270978"/>
        <a:ext cx="1522958" cy="913774"/>
      </dsp:txXfrm>
    </dsp:sp>
    <dsp:sp modelId="{4F8F62E2-B8D6-E24B-AD95-B7E8E9B9084C}">
      <dsp:nvSpPr>
        <dsp:cNvPr id="0" name=""/>
        <dsp:cNvSpPr/>
      </dsp:nvSpPr>
      <dsp:spPr>
        <a:xfrm>
          <a:off x="3353320" y="2270978"/>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対称性を利用する</a:t>
          </a:r>
          <a:endParaRPr lang="ja-JP" altLang="en-US" sz="1800" kern="1200"/>
        </a:p>
      </dsp:txBody>
      <dsp:txXfrm>
        <a:off x="3353320" y="2270978"/>
        <a:ext cx="1522958" cy="913774"/>
      </dsp:txXfrm>
    </dsp:sp>
    <dsp:sp modelId="{074D8911-5684-FE4C-8E5A-B14661BEBFB1}">
      <dsp:nvSpPr>
        <dsp:cNvPr id="0" name=""/>
        <dsp:cNvSpPr/>
      </dsp:nvSpPr>
      <dsp:spPr>
        <a:xfrm>
          <a:off x="5028574" y="2270978"/>
          <a:ext cx="1522958" cy="913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sz="1800" b="1" i="0" kern="1200"/>
            <a:t>見直しの勧め</a:t>
          </a:r>
          <a:endParaRPr lang="ja-JP" altLang="en-US" sz="1800" kern="1200"/>
        </a:p>
      </dsp:txBody>
      <dsp:txXfrm>
        <a:off x="5028574" y="2270978"/>
        <a:ext cx="1522958" cy="9137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3DC92-9560-8649-9BF9-37F7EF8CF964}">
      <dsp:nvSpPr>
        <dsp:cNvPr id="0" name=""/>
        <dsp:cNvSpPr/>
      </dsp:nvSpPr>
      <dsp:spPr>
        <a:xfrm>
          <a:off x="0" y="2910023"/>
          <a:ext cx="6096000" cy="63664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Yu Gothic" pitchFamily="34" charset="0"/>
              <a:ea typeface="Yu Gothic" pitchFamily="34" charset="-122"/>
              <a:cs typeface="Yu Gothic" pitchFamily="34" charset="-120"/>
            </a:rPr>
            <a:t>Step4:	</a:t>
          </a:r>
          <a:r>
            <a:rPr lang="en-US" sz="1600" b="1" kern="1200" dirty="0" err="1">
              <a:solidFill>
                <a:schemeClr val="bg1"/>
              </a:solidFill>
              <a:latin typeface="Yu Gothic" pitchFamily="34" charset="0"/>
              <a:ea typeface="Yu Gothic" pitchFamily="34" charset="-122"/>
              <a:cs typeface="Yu Gothic" pitchFamily="34" charset="-120"/>
            </a:rPr>
            <a:t>逆の活用</a:t>
          </a:r>
          <a:endParaRPr kumimoji="1" lang="ja-JP" altLang="en-US" sz="1100" kern="1200">
            <a:solidFill>
              <a:schemeClr val="bg1"/>
            </a:solidFill>
          </a:endParaRPr>
        </a:p>
      </dsp:txBody>
      <dsp:txXfrm>
        <a:off x="0" y="2910023"/>
        <a:ext cx="6096000" cy="343786"/>
      </dsp:txXfrm>
    </dsp:sp>
    <dsp:sp modelId="{AB66726F-9A22-0044-BAFA-D00E8AA8835B}">
      <dsp:nvSpPr>
        <dsp:cNvPr id="0" name=""/>
        <dsp:cNvSpPr/>
      </dsp:nvSpPr>
      <dsp:spPr>
        <a:xfrm>
          <a:off x="0" y="3241077"/>
          <a:ext cx="6096000" cy="292855"/>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a:solidFill>
                <a:srgbClr val="333333"/>
              </a:solidFill>
              <a:latin typeface="Yu Gothic" pitchFamily="34" charset="0"/>
              <a:ea typeface="Yu Gothic" pitchFamily="34" charset="-122"/>
              <a:cs typeface="Yu Gothic" pitchFamily="34" charset="-120"/>
            </a:rPr>
            <a:t>最終的にメネラウスの定理の「逆」を使い，共線性（P, Q, R が一直線上）を結論づける。</a:t>
          </a:r>
          <a:endParaRPr kumimoji="1" lang="ja-JP" altLang="en-US" sz="1100" kern="1200"/>
        </a:p>
      </dsp:txBody>
      <dsp:txXfrm>
        <a:off x="0" y="3241077"/>
        <a:ext cx="6096000" cy="292855"/>
      </dsp:txXfrm>
    </dsp:sp>
    <dsp:sp modelId="{2B23B2C1-D837-1949-B456-B81F960C47F9}">
      <dsp:nvSpPr>
        <dsp:cNvPr id="0" name=""/>
        <dsp:cNvSpPr/>
      </dsp:nvSpPr>
      <dsp:spPr>
        <a:xfrm rot="10800000">
          <a:off x="0" y="1940417"/>
          <a:ext cx="6096000" cy="979155"/>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Yu Gothic" pitchFamily="34" charset="0"/>
              <a:ea typeface="Yu Gothic" pitchFamily="34" charset="-122"/>
              <a:cs typeface="Yu Gothic" pitchFamily="34" charset="-120"/>
            </a:rPr>
            <a:t>Step3:	</a:t>
          </a:r>
          <a:r>
            <a:rPr lang="en-US" sz="1600" b="1" kern="1200" dirty="0" err="1">
              <a:solidFill>
                <a:schemeClr val="bg1"/>
              </a:solidFill>
              <a:latin typeface="Yu Gothic" pitchFamily="34" charset="0"/>
              <a:ea typeface="Yu Gothic" pitchFamily="34" charset="-122"/>
              <a:cs typeface="Yu Gothic" pitchFamily="34" charset="-120"/>
            </a:rPr>
            <a:t>方べきの定理</a:t>
          </a:r>
          <a:endParaRPr kumimoji="1" lang="ja-JP" altLang="en-US" sz="1100" kern="1200">
            <a:solidFill>
              <a:schemeClr val="bg1"/>
            </a:solidFill>
          </a:endParaRPr>
        </a:p>
      </dsp:txBody>
      <dsp:txXfrm rot="-10800000">
        <a:off x="0" y="1940417"/>
        <a:ext cx="6096000" cy="343683"/>
      </dsp:txXfrm>
    </dsp:sp>
    <dsp:sp modelId="{1FB958F3-A071-CD48-BCCF-B3C12E8B01CD}">
      <dsp:nvSpPr>
        <dsp:cNvPr id="0" name=""/>
        <dsp:cNvSpPr/>
      </dsp:nvSpPr>
      <dsp:spPr>
        <a:xfrm>
          <a:off x="0" y="2284101"/>
          <a:ext cx="6096000" cy="292767"/>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rgbClr val="333333"/>
              </a:solidFill>
              <a:latin typeface="Yu Gothic" pitchFamily="34" charset="0"/>
              <a:ea typeface="Yu Gothic" pitchFamily="34" charset="-122"/>
              <a:cs typeface="Yu Gothic" pitchFamily="34" charset="-120"/>
            </a:rPr>
            <a:t>円に内接するという条件から，各頂点</a:t>
          </a:r>
          <a:r>
            <a:rPr lang="en-US" sz="1100" kern="1200" dirty="0">
              <a:solidFill>
                <a:srgbClr val="333333"/>
              </a:solidFill>
              <a:latin typeface="Yu Gothic" pitchFamily="34" charset="0"/>
              <a:ea typeface="Yu Gothic" pitchFamily="34" charset="-122"/>
              <a:cs typeface="Yu Gothic" pitchFamily="34" charset="-120"/>
            </a:rPr>
            <a:t> X, Y, Z 周りの比がそれぞれ１に相殺される。</a:t>
          </a:r>
          <a:endParaRPr kumimoji="1" lang="ja-JP" altLang="en-US" sz="1100" kern="1200"/>
        </a:p>
      </dsp:txBody>
      <dsp:txXfrm>
        <a:off x="0" y="2284101"/>
        <a:ext cx="6096000" cy="292767"/>
      </dsp:txXfrm>
    </dsp:sp>
    <dsp:sp modelId="{AF5CD479-99C2-CF4C-99E3-DBACF7A3705F}">
      <dsp:nvSpPr>
        <dsp:cNvPr id="0" name=""/>
        <dsp:cNvSpPr/>
      </dsp:nvSpPr>
      <dsp:spPr>
        <a:xfrm rot="10800000">
          <a:off x="0" y="970812"/>
          <a:ext cx="6096000" cy="979155"/>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Yu Gothic" pitchFamily="34" charset="0"/>
              <a:ea typeface="Yu Gothic" pitchFamily="34" charset="-122"/>
              <a:cs typeface="Yu Gothic" pitchFamily="34" charset="-120"/>
            </a:rPr>
            <a:t>Step2:	</a:t>
          </a:r>
          <a:r>
            <a:rPr lang="en-US" sz="1600" b="1" kern="1200" dirty="0" err="1">
              <a:solidFill>
                <a:schemeClr val="bg1"/>
              </a:solidFill>
              <a:latin typeface="Yu Gothic" pitchFamily="34" charset="0"/>
              <a:ea typeface="Yu Gothic" pitchFamily="34" charset="-122"/>
              <a:cs typeface="Yu Gothic" pitchFamily="34" charset="-120"/>
            </a:rPr>
            <a:t>メネラウスの定理</a:t>
          </a:r>
          <a:endParaRPr kumimoji="1" lang="ja-JP" altLang="en-US" sz="1600" kern="1200">
            <a:solidFill>
              <a:schemeClr val="bg1"/>
            </a:solidFill>
          </a:endParaRPr>
        </a:p>
      </dsp:txBody>
      <dsp:txXfrm rot="-10800000">
        <a:off x="0" y="970812"/>
        <a:ext cx="6096000" cy="343683"/>
      </dsp:txXfrm>
    </dsp:sp>
    <dsp:sp modelId="{B1B9CBB8-1BAB-4F4E-8885-5B7F843E530D}">
      <dsp:nvSpPr>
        <dsp:cNvPr id="0" name=""/>
        <dsp:cNvSpPr/>
      </dsp:nvSpPr>
      <dsp:spPr>
        <a:xfrm>
          <a:off x="0" y="1314495"/>
          <a:ext cx="6096000" cy="292767"/>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rgbClr val="333333"/>
              </a:solidFill>
              <a:latin typeface="Yu Gothic" pitchFamily="34" charset="0"/>
              <a:ea typeface="Yu Gothic" pitchFamily="34" charset="-122"/>
              <a:cs typeface="Yu Gothic" pitchFamily="34" charset="-120"/>
            </a:rPr>
            <a:t>△XYZ を横切る３本の直線（BCQ, DEP, FAR）に各１回，計３回適用し，比の式を導く。</a:t>
          </a:r>
          <a:endParaRPr kumimoji="1" lang="ja-JP" altLang="en-US" sz="1100" kern="1200"/>
        </a:p>
      </dsp:txBody>
      <dsp:txXfrm>
        <a:off x="0" y="1314495"/>
        <a:ext cx="6096000" cy="292767"/>
      </dsp:txXfrm>
    </dsp:sp>
    <dsp:sp modelId="{7622A61D-779D-1846-A4D8-20EA790989AF}">
      <dsp:nvSpPr>
        <dsp:cNvPr id="0" name=""/>
        <dsp:cNvSpPr/>
      </dsp:nvSpPr>
      <dsp:spPr>
        <a:xfrm rot="10800000">
          <a:off x="0" y="1206"/>
          <a:ext cx="6096000" cy="979155"/>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Yu Gothic" pitchFamily="34" charset="0"/>
              <a:ea typeface="Yu Gothic" pitchFamily="34" charset="-122"/>
              <a:cs typeface="Yu Gothic" pitchFamily="34" charset="-120"/>
            </a:rPr>
            <a:t>Step1:	</a:t>
          </a:r>
          <a:r>
            <a:rPr lang="en-US" sz="1600" b="1" kern="1200" dirty="0" err="1">
              <a:solidFill>
                <a:schemeClr val="bg1"/>
              </a:solidFill>
              <a:latin typeface="Yu Gothic" pitchFamily="34" charset="0"/>
              <a:ea typeface="Yu Gothic" pitchFamily="34" charset="-122"/>
              <a:cs typeface="Yu Gothic" pitchFamily="34" charset="-120"/>
            </a:rPr>
            <a:t>補助三角形の作り方</a:t>
          </a:r>
          <a:endParaRPr kumimoji="1" lang="ja-JP" altLang="en-US" sz="1100" kern="1200">
            <a:solidFill>
              <a:schemeClr val="bg1"/>
            </a:solidFill>
          </a:endParaRPr>
        </a:p>
      </dsp:txBody>
      <dsp:txXfrm rot="-10800000">
        <a:off x="0" y="1206"/>
        <a:ext cx="6096000" cy="343683"/>
      </dsp:txXfrm>
    </dsp:sp>
    <dsp:sp modelId="{B3E7860E-F092-744D-BD23-8F8812306AE2}">
      <dsp:nvSpPr>
        <dsp:cNvPr id="0" name=""/>
        <dsp:cNvSpPr/>
      </dsp:nvSpPr>
      <dsp:spPr>
        <a:xfrm>
          <a:off x="0" y="344889"/>
          <a:ext cx="6096000" cy="292767"/>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rgbClr val="333333"/>
              </a:solidFill>
              <a:latin typeface="Yu Gothic" pitchFamily="34" charset="0"/>
              <a:ea typeface="Yu Gothic" pitchFamily="34" charset="-122"/>
              <a:cs typeface="Yu Gothic" pitchFamily="34" charset="-120"/>
            </a:rPr>
            <a:t>交互の対辺（AB</a:t>
          </a:r>
          <a:r>
            <a:rPr lang="en-US" sz="1100" kern="1200" dirty="0">
              <a:solidFill>
                <a:srgbClr val="333333"/>
              </a:solidFill>
              <a:latin typeface="Yu Gothic" pitchFamily="34" charset="0"/>
              <a:ea typeface="Yu Gothic" pitchFamily="34" charset="-122"/>
              <a:cs typeface="Yu Gothic" pitchFamily="34" charset="-120"/>
            </a:rPr>
            <a:t>, CD, </a:t>
          </a:r>
          <a:r>
            <a:rPr lang="en-US" sz="1100" kern="1200" dirty="0" err="1">
              <a:solidFill>
                <a:srgbClr val="333333"/>
              </a:solidFill>
              <a:latin typeface="Yu Gothic" pitchFamily="34" charset="0"/>
              <a:ea typeface="Yu Gothic" pitchFamily="34" charset="-122"/>
              <a:cs typeface="Yu Gothic" pitchFamily="34" charset="-120"/>
            </a:rPr>
            <a:t>EF）の交点を頂点として</a:t>
          </a:r>
          <a:r>
            <a:rPr lang="en-US" sz="1100" kern="1200" dirty="0">
              <a:solidFill>
                <a:srgbClr val="333333"/>
              </a:solidFill>
              <a:latin typeface="Yu Gothic" pitchFamily="34" charset="0"/>
              <a:ea typeface="Yu Gothic" pitchFamily="34" charset="-122"/>
              <a:cs typeface="Yu Gothic" pitchFamily="34" charset="-120"/>
            </a:rPr>
            <a:t> △XYZ </a:t>
          </a:r>
          <a:r>
            <a:rPr lang="en-US" sz="1100" kern="1200" dirty="0" err="1">
              <a:solidFill>
                <a:srgbClr val="333333"/>
              </a:solidFill>
              <a:latin typeface="Yu Gothic" pitchFamily="34" charset="0"/>
              <a:ea typeface="Yu Gothic" pitchFamily="34" charset="-122"/>
              <a:cs typeface="Yu Gothic" pitchFamily="34" charset="-120"/>
            </a:rPr>
            <a:t>を設定する</a:t>
          </a:r>
          <a:r>
            <a:rPr lang="en-US" sz="1100" kern="1200" dirty="0">
              <a:solidFill>
                <a:srgbClr val="333333"/>
              </a:solidFill>
              <a:latin typeface="Yu Gothic" pitchFamily="34" charset="0"/>
              <a:ea typeface="Yu Gothic" pitchFamily="34" charset="-122"/>
              <a:cs typeface="Yu Gothic" pitchFamily="34" charset="-120"/>
            </a:rPr>
            <a:t>。</a:t>
          </a:r>
          <a:endParaRPr kumimoji="1" lang="ja-JP" altLang="en-US" sz="1100" kern="1200"/>
        </a:p>
      </dsp:txBody>
      <dsp:txXfrm>
        <a:off x="0" y="344889"/>
        <a:ext cx="6096000" cy="2927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E57B1-2D5F-C84C-94B9-7C1D35A94586}">
      <dsp:nvSpPr>
        <dsp:cNvPr id="0" name=""/>
        <dsp:cNvSpPr/>
      </dsp:nvSpPr>
      <dsp:spPr>
        <a:xfrm>
          <a:off x="301176" y="1297"/>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①</a:t>
          </a:r>
          <a:r>
            <a:rPr lang="ja-JP" sz="1400" b="1" i="0" kern="1200">
              <a:solidFill>
                <a:srgbClr val="FAFAFA"/>
              </a:solidFill>
            </a:rPr>
            <a:t>帰納的な発想を用いる</a:t>
          </a:r>
          <a:endParaRPr kumimoji="1" lang="ja-JP" altLang="en-US" sz="1400" kern="1200">
            <a:solidFill>
              <a:srgbClr val="FAFAFA"/>
            </a:solidFill>
          </a:endParaRPr>
        </a:p>
      </dsp:txBody>
      <dsp:txXfrm>
        <a:off x="301176" y="1297"/>
        <a:ext cx="1412453" cy="847471"/>
      </dsp:txXfrm>
    </dsp:sp>
    <dsp:sp modelId="{37B7A3E1-F68F-544D-89B7-C540BA6EC5A4}">
      <dsp:nvSpPr>
        <dsp:cNvPr id="0" name=""/>
        <dsp:cNvSpPr/>
      </dsp:nvSpPr>
      <dsp:spPr>
        <a:xfrm>
          <a:off x="1854874" y="1297"/>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②</a:t>
          </a:r>
          <a:r>
            <a:rPr lang="ja-JP" sz="1400" b="1" i="0" kern="1200">
              <a:solidFill>
                <a:srgbClr val="FAFAFA"/>
              </a:solidFill>
            </a:rPr>
            <a:t>定義や基礎に戻る</a:t>
          </a:r>
          <a:endParaRPr kumimoji="1" lang="ja-JP" altLang="en-US" sz="1400" kern="1200">
            <a:solidFill>
              <a:srgbClr val="FAFAFA"/>
            </a:solidFill>
          </a:endParaRPr>
        </a:p>
      </dsp:txBody>
      <dsp:txXfrm>
        <a:off x="1854874" y="1297"/>
        <a:ext cx="1412453" cy="847471"/>
      </dsp:txXfrm>
    </dsp:sp>
    <dsp:sp modelId="{7AECB77E-E9F1-6244-8F5C-B0E2B58E0907}">
      <dsp:nvSpPr>
        <dsp:cNvPr id="0" name=""/>
        <dsp:cNvSpPr/>
      </dsp:nvSpPr>
      <dsp:spPr>
        <a:xfrm>
          <a:off x="3408573" y="1297"/>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③</a:t>
          </a:r>
          <a:r>
            <a:rPr lang="ja-JP" sz="1400" b="1" i="0" kern="1200">
              <a:solidFill>
                <a:srgbClr val="FAFAFA"/>
              </a:solidFill>
            </a:rPr>
            <a:t>背理法を用いる</a:t>
          </a:r>
          <a:endParaRPr kumimoji="1" lang="ja-JP" altLang="en-US" sz="1400" kern="1200">
            <a:solidFill>
              <a:srgbClr val="FAFAFA"/>
            </a:solidFill>
          </a:endParaRPr>
        </a:p>
      </dsp:txBody>
      <dsp:txXfrm>
        <a:off x="3408573" y="1297"/>
        <a:ext cx="1412453" cy="847471"/>
      </dsp:txXfrm>
    </dsp:sp>
    <dsp:sp modelId="{C0353296-3733-774C-8C53-B3B4153D3D6B}">
      <dsp:nvSpPr>
        <dsp:cNvPr id="0" name=""/>
        <dsp:cNvSpPr/>
      </dsp:nvSpPr>
      <dsp:spPr>
        <a:xfrm>
          <a:off x="4962271" y="1297"/>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④</a:t>
          </a:r>
          <a:r>
            <a:rPr lang="ja-JP" sz="1400" b="1" i="0" kern="1200">
              <a:solidFill>
                <a:srgbClr val="FAFAFA"/>
              </a:solidFill>
            </a:rPr>
            <a:t>条件を使いこなしているか</a:t>
          </a:r>
          <a:endParaRPr kumimoji="1" lang="ja-JP" altLang="en-US" sz="1400" kern="1200">
            <a:solidFill>
              <a:srgbClr val="FAFAFA"/>
            </a:solidFill>
          </a:endParaRPr>
        </a:p>
      </dsp:txBody>
      <dsp:txXfrm>
        <a:off x="4962271" y="1297"/>
        <a:ext cx="1412453" cy="847471"/>
      </dsp:txXfrm>
    </dsp:sp>
    <dsp:sp modelId="{D24365E8-69DE-C747-9E83-52B84A61D2F6}">
      <dsp:nvSpPr>
        <dsp:cNvPr id="0" name=""/>
        <dsp:cNvSpPr/>
      </dsp:nvSpPr>
      <dsp:spPr>
        <a:xfrm>
          <a:off x="6515970" y="1297"/>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⑤</a:t>
          </a:r>
          <a:r>
            <a:rPr lang="ja-JP" sz="1400" b="1" i="0" kern="1200">
              <a:solidFill>
                <a:srgbClr val="FAFAFA"/>
              </a:solidFill>
            </a:rPr>
            <a:t>図を用いて考える</a:t>
          </a:r>
          <a:endParaRPr kumimoji="1" lang="ja-JP" altLang="en-US" sz="1400" kern="1200">
            <a:solidFill>
              <a:srgbClr val="FAFAFA"/>
            </a:solidFill>
          </a:endParaRPr>
        </a:p>
      </dsp:txBody>
      <dsp:txXfrm>
        <a:off x="6515970" y="1297"/>
        <a:ext cx="1412453" cy="847471"/>
      </dsp:txXfrm>
    </dsp:sp>
    <dsp:sp modelId="{66E8F405-FAFC-9145-ADC8-EB70BBB725C7}">
      <dsp:nvSpPr>
        <dsp:cNvPr id="0" name=""/>
        <dsp:cNvSpPr/>
      </dsp:nvSpPr>
      <dsp:spPr>
        <a:xfrm>
          <a:off x="301176" y="990015"/>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⑥</a:t>
          </a:r>
          <a:r>
            <a:rPr lang="ja-JP" sz="1400" b="1" i="0" kern="1200">
              <a:solidFill>
                <a:srgbClr val="FAFAFA"/>
              </a:solidFill>
            </a:rPr>
            <a:t>逆向きに考える</a:t>
          </a:r>
          <a:endParaRPr lang="ja-JP" altLang="en-US" sz="1400" kern="1200">
            <a:solidFill>
              <a:srgbClr val="FAFAFA"/>
            </a:solidFill>
          </a:endParaRPr>
        </a:p>
      </dsp:txBody>
      <dsp:txXfrm>
        <a:off x="301176" y="990015"/>
        <a:ext cx="1412453" cy="847471"/>
      </dsp:txXfrm>
    </dsp:sp>
    <dsp:sp modelId="{4E482E25-3721-7343-81CE-F685686CC338}">
      <dsp:nvSpPr>
        <dsp:cNvPr id="0" name=""/>
        <dsp:cNvSpPr/>
      </dsp:nvSpPr>
      <dsp:spPr>
        <a:xfrm>
          <a:off x="1854874" y="990015"/>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⑦</a:t>
          </a:r>
          <a:r>
            <a:rPr lang="ja-JP" sz="1400" b="1" i="0" kern="1200">
              <a:solidFill>
                <a:srgbClr val="FAFAFA"/>
              </a:solidFill>
            </a:rPr>
            <a:t>一般化して考える</a:t>
          </a:r>
          <a:endParaRPr kumimoji="1" lang="ja-JP" altLang="en-US" sz="1400" kern="1200">
            <a:solidFill>
              <a:srgbClr val="FAFAFA"/>
            </a:solidFill>
          </a:endParaRPr>
        </a:p>
      </dsp:txBody>
      <dsp:txXfrm>
        <a:off x="1854874" y="990015"/>
        <a:ext cx="1412453" cy="847471"/>
      </dsp:txXfrm>
    </dsp:sp>
    <dsp:sp modelId="{72C0B4ED-B88B-7C4C-A6DE-EE2433019B73}">
      <dsp:nvSpPr>
        <dsp:cNvPr id="0" name=""/>
        <dsp:cNvSpPr/>
      </dsp:nvSpPr>
      <dsp:spPr>
        <a:xfrm>
          <a:off x="3408573" y="990015"/>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⑧</a:t>
          </a:r>
          <a:r>
            <a:rPr lang="ja-JP" sz="1400" b="1" i="0" kern="1200">
              <a:solidFill>
                <a:srgbClr val="FAFAFA"/>
              </a:solidFill>
            </a:rPr>
            <a:t>特殊化して考える</a:t>
          </a:r>
          <a:endParaRPr kumimoji="1" lang="ja-JP" altLang="en-US" sz="1400" kern="1200">
            <a:solidFill>
              <a:srgbClr val="FAFAFA"/>
            </a:solidFill>
          </a:endParaRPr>
        </a:p>
      </dsp:txBody>
      <dsp:txXfrm>
        <a:off x="3408573" y="990015"/>
        <a:ext cx="1412453" cy="847471"/>
      </dsp:txXfrm>
    </dsp:sp>
    <dsp:sp modelId="{E7F8FEAB-4CC0-F94B-A09F-DBB51EC19114}">
      <dsp:nvSpPr>
        <dsp:cNvPr id="0" name=""/>
        <dsp:cNvSpPr/>
      </dsp:nvSpPr>
      <dsp:spPr>
        <a:xfrm>
          <a:off x="4962271" y="990015"/>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⑨</a:t>
          </a:r>
          <a:r>
            <a:rPr lang="ja-JP" sz="1400" b="1" i="0" kern="1200">
              <a:solidFill>
                <a:srgbClr val="FAFAFA"/>
              </a:solidFill>
            </a:rPr>
            <a:t>類推する</a:t>
          </a:r>
          <a:endParaRPr lang="ja-JP" altLang="en-US" sz="1400" kern="1200">
            <a:solidFill>
              <a:srgbClr val="FAFAFA"/>
            </a:solidFill>
          </a:endParaRPr>
        </a:p>
      </dsp:txBody>
      <dsp:txXfrm>
        <a:off x="4962271" y="990015"/>
        <a:ext cx="1412453" cy="847471"/>
      </dsp:txXfrm>
    </dsp:sp>
    <dsp:sp modelId="{7DB8A28C-61C8-9143-8B1B-9DF0E1FBE863}">
      <dsp:nvSpPr>
        <dsp:cNvPr id="0" name=""/>
        <dsp:cNvSpPr/>
      </dsp:nvSpPr>
      <dsp:spPr>
        <a:xfrm>
          <a:off x="6515970" y="990015"/>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ja-JP" sz="1400" b="1" i="0" kern="1200" dirty="0">
              <a:solidFill>
                <a:srgbClr val="FAFAFA"/>
              </a:solidFill>
            </a:rPr>
            <a:t>⑩</a:t>
          </a:r>
          <a:r>
            <a:rPr lang="ja-JP" sz="1400" b="1" i="0" kern="1200">
              <a:solidFill>
                <a:srgbClr val="FAFAFA"/>
              </a:solidFill>
            </a:rPr>
            <a:t>兆候から見通す</a:t>
          </a:r>
          <a:endParaRPr lang="ja-JP" altLang="en-US" sz="1400" kern="1200">
            <a:solidFill>
              <a:srgbClr val="FAFAFA"/>
            </a:solidFill>
          </a:endParaRPr>
        </a:p>
      </dsp:txBody>
      <dsp:txXfrm>
        <a:off x="6515970" y="990015"/>
        <a:ext cx="1412453" cy="847471"/>
      </dsp:txXfrm>
    </dsp:sp>
    <dsp:sp modelId="{7C264F48-7FD7-0040-A586-23F28C4C2BDD}">
      <dsp:nvSpPr>
        <dsp:cNvPr id="0" name=""/>
        <dsp:cNvSpPr/>
      </dsp:nvSpPr>
      <dsp:spPr>
        <a:xfrm>
          <a:off x="1854874" y="1978732"/>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ja-JP" sz="1400" b="0" i="0" u="none" kern="1200"/>
            <a:t>⑪</a:t>
          </a:r>
          <a:r>
            <a:rPr lang="ja-JP" sz="1400" b="1" i="0" kern="1200">
              <a:solidFill>
                <a:srgbClr val="FAFAFA"/>
              </a:solidFill>
            </a:rPr>
            <a:t>効果的な記号を使う</a:t>
          </a:r>
          <a:endParaRPr lang="ja-JP" altLang="en-US" sz="1400" kern="1200">
            <a:solidFill>
              <a:srgbClr val="FAFAFA"/>
            </a:solidFill>
          </a:endParaRPr>
        </a:p>
      </dsp:txBody>
      <dsp:txXfrm>
        <a:off x="1854874" y="1978732"/>
        <a:ext cx="1412453" cy="847471"/>
      </dsp:txXfrm>
    </dsp:sp>
    <dsp:sp modelId="{4F8F62E2-B8D6-E24B-AD95-B7E8E9B9084C}">
      <dsp:nvSpPr>
        <dsp:cNvPr id="0" name=""/>
        <dsp:cNvSpPr/>
      </dsp:nvSpPr>
      <dsp:spPr>
        <a:xfrm>
          <a:off x="3408573" y="1978732"/>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ja-JP" sz="1400" b="0" i="0" u="none" kern="1200"/>
            <a:t>⑫</a:t>
          </a:r>
          <a:r>
            <a:rPr lang="ja-JP" sz="1400" b="1" i="0" kern="1200">
              <a:solidFill>
                <a:srgbClr val="FAFAFA"/>
              </a:solidFill>
            </a:rPr>
            <a:t>対称性を利用する</a:t>
          </a:r>
          <a:endParaRPr lang="ja-JP" altLang="en-US" sz="1400" kern="1200">
            <a:solidFill>
              <a:srgbClr val="FAFAFA"/>
            </a:solidFill>
          </a:endParaRPr>
        </a:p>
      </dsp:txBody>
      <dsp:txXfrm>
        <a:off x="3408573" y="1978732"/>
        <a:ext cx="1412453" cy="847471"/>
      </dsp:txXfrm>
    </dsp:sp>
    <dsp:sp modelId="{074D8911-5684-FE4C-8E5A-B14661BEBFB1}">
      <dsp:nvSpPr>
        <dsp:cNvPr id="0" name=""/>
        <dsp:cNvSpPr/>
      </dsp:nvSpPr>
      <dsp:spPr>
        <a:xfrm>
          <a:off x="4962271" y="1978732"/>
          <a:ext cx="1412453" cy="847471"/>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ja-JP" sz="1400" b="0" i="0" u="none" kern="1200"/>
            <a:t>⑬</a:t>
          </a:r>
          <a:r>
            <a:rPr lang="ja-JP" sz="1400" b="1" i="0" kern="1200">
              <a:solidFill>
                <a:srgbClr val="FAFAFA"/>
              </a:solidFill>
            </a:rPr>
            <a:t>見直しの勧め</a:t>
          </a:r>
          <a:endParaRPr lang="ja-JP" altLang="en-US" sz="1400" kern="1200">
            <a:solidFill>
              <a:srgbClr val="FAFAFA"/>
            </a:solidFill>
          </a:endParaRPr>
        </a:p>
      </dsp:txBody>
      <dsp:txXfrm>
        <a:off x="4962271" y="1978732"/>
        <a:ext cx="1412453" cy="84747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7068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27E0E-5198-5640-3A65-899DD49DD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23D3E-71EB-47AD-1091-9693B7E1A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C22A6-FD0F-26BC-5BED-19C618FF3A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586458-1188-87D3-D91B-172A47AC9C5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79720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F5C98-7413-47B4-8919-B0C00629F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30DE4-7D33-2CA0-2627-2E3248A1F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00D5F-37CA-F24F-2EFD-5AA1A924F4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806D9E-A673-EA4E-96DB-EF94897D8F7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91670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D6C1-6D03-775A-0970-7EC56B210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68CFC-4B80-9E37-325B-81FCA954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4513D-397F-B58C-84DB-5301CF26D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F6F0F-0BE1-E430-6CCA-A9941563168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92151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9F9"/>
        </a:solidFill>
        <a:effectLst/>
      </p:bgPr>
    </p:bg>
    <p:spTree>
      <p:nvGrpSpPr>
        <p:cNvPr id="1" name=""/>
        <p:cNvGrpSpPr/>
        <p:nvPr/>
      </p:nvGrpSpPr>
      <p:grpSpPr>
        <a:xfrm>
          <a:off x="0" y="0"/>
          <a:ext cx="0" cy="0"/>
          <a:chOff x="0" y="0"/>
          <a:chExt cx="0" cy="0"/>
        </a:xfrm>
      </p:grpSpPr>
      <p:sp>
        <p:nvSpPr>
          <p:cNvPr id="10" name="Text 8"/>
          <p:cNvSpPr>
            <a:spLocks noGrp="1" noRot="1" noMove="1" noResize="1" noEditPoints="1" noAdjustHandles="1" noChangeArrowheads="1" noChangeShapeType="1"/>
          </p:cNvSpPr>
          <p:nvPr/>
        </p:nvSpPr>
        <p:spPr>
          <a:xfrm>
            <a:off x="502920" y="1783080"/>
            <a:ext cx="6583680" cy="1188720"/>
          </a:xfrm>
          <a:prstGeom prst="rect">
            <a:avLst/>
          </a:prstGeom>
          <a:noFill/>
          <a:ln/>
        </p:spPr>
        <p:txBody>
          <a:bodyPr wrap="square" lIns="0" tIns="0" rIns="0" bIns="0" rtlCol="0" anchor="ctr"/>
          <a:lstStyle/>
          <a:p>
            <a:pPr marL="0" indent="0">
              <a:buNone/>
            </a:pPr>
            <a:r>
              <a:rPr lang="en-US" sz="5400" b="1" dirty="0">
                <a:solidFill>
                  <a:srgbClr val="000000"/>
                </a:solidFill>
                <a:latin typeface="Yu Mincho" pitchFamily="34" charset="0"/>
                <a:ea typeface="Yu Mincho" pitchFamily="34" charset="-122"/>
                <a:cs typeface="Yu Mincho" pitchFamily="34" charset="-120"/>
              </a:rPr>
              <a:t>パスカルの定理</a:t>
            </a:r>
            <a:endParaRPr lang="en-US" sz="5400" dirty="0"/>
          </a:p>
        </p:txBody>
      </p:sp>
      <p:sp>
        <p:nvSpPr>
          <p:cNvPr id="11" name="Text 9"/>
          <p:cNvSpPr>
            <a:spLocks noGrp="1" noRot="1" noMove="1" noResize="1" noEditPoints="1" noAdjustHandles="1" noChangeArrowheads="1" noChangeShapeType="1"/>
          </p:cNvSpPr>
          <p:nvPr/>
        </p:nvSpPr>
        <p:spPr>
          <a:xfrm>
            <a:off x="548640" y="2880360"/>
            <a:ext cx="5943600" cy="457200"/>
          </a:xfrm>
          <a:prstGeom prst="rect">
            <a:avLst/>
          </a:prstGeom>
          <a:noFill/>
          <a:ln/>
        </p:spPr>
        <p:txBody>
          <a:bodyPr wrap="square" rtlCol="0" anchor="ctr"/>
          <a:lstStyle/>
          <a:p>
            <a:pPr marL="0" indent="0">
              <a:buNone/>
            </a:pPr>
            <a:r>
              <a:rPr lang="en-US" sz="1800" dirty="0">
                <a:solidFill>
                  <a:srgbClr val="333333"/>
                </a:solidFill>
                <a:latin typeface="Yu Gothic" pitchFamily="34" charset="0"/>
                <a:ea typeface="Yu Gothic" pitchFamily="34" charset="-122"/>
                <a:cs typeface="Yu Gothic" pitchFamily="34" charset="-120"/>
              </a:rPr>
              <a:t>円に内接する六角形と、三点の共線性</a:t>
            </a:r>
            <a:endParaRPr lang="en-US" sz="1800" dirty="0"/>
          </a:p>
        </p:txBody>
      </p:sp>
      <p:sp>
        <p:nvSpPr>
          <p:cNvPr id="12" name="Shape 10"/>
          <p:cNvSpPr>
            <a:spLocks noGrp="1" noRot="1" noMove="1" noResize="1" noEditPoints="1" noAdjustHandles="1" noChangeArrowheads="1" noChangeShapeType="1"/>
          </p:cNvSpPr>
          <p:nvPr/>
        </p:nvSpPr>
        <p:spPr>
          <a:xfrm>
            <a:off x="548640" y="3520440"/>
            <a:ext cx="2194560" cy="0"/>
          </a:xfrm>
          <a:prstGeom prst="line">
            <a:avLst/>
          </a:prstGeom>
          <a:noFill/>
          <a:ln w="12700">
            <a:solidFill>
              <a:srgbClr val="999999"/>
            </a:solidFill>
            <a:prstDash val="solid"/>
          </a:ln>
        </p:spPr>
        <p:txBody>
          <a:bodyPr/>
          <a:lstStyle/>
          <a:p>
            <a:endParaRPr lang="ja-JP" altLang="en-US"/>
          </a:p>
        </p:txBody>
      </p:sp>
      <p:sp>
        <p:nvSpPr>
          <p:cNvPr id="14" name="Text 12"/>
          <p:cNvSpPr/>
          <p:nvPr/>
        </p:nvSpPr>
        <p:spPr>
          <a:xfrm>
            <a:off x="548640" y="4480560"/>
            <a:ext cx="7772400" cy="457200"/>
          </a:xfrm>
          <a:prstGeom prst="rect">
            <a:avLst/>
          </a:prstGeom>
          <a:noFill/>
          <a:ln/>
        </p:spPr>
        <p:txBody>
          <a:bodyPr wrap="square" rtlCol="0" anchor="ctr"/>
          <a:lstStyle/>
          <a:p>
            <a:pPr marL="0" indent="0">
              <a:buNone/>
            </a:pPr>
            <a:r>
              <a:rPr lang="en-US" sz="1100" i="1" dirty="0">
                <a:solidFill>
                  <a:srgbClr val="333333"/>
                </a:solidFill>
                <a:latin typeface="Yu Gothic" pitchFamily="34" charset="0"/>
                <a:ea typeface="Yu Gothic" pitchFamily="34" charset="-122"/>
                <a:cs typeface="Yu Gothic" pitchFamily="34" charset="-120"/>
              </a:rPr>
              <a:t>数学科教育法３③</a:t>
            </a:r>
            <a:endParaRPr lang="en-US" sz="1100" dirty="0"/>
          </a:p>
        </p:txBody>
      </p:sp>
      <p:grpSp>
        <p:nvGrpSpPr>
          <p:cNvPr id="76" name="グループ化 75">
            <a:extLst>
              <a:ext uri="{FF2B5EF4-FFF2-40B4-BE49-F238E27FC236}">
                <a16:creationId xmlns:a16="http://schemas.microsoft.com/office/drawing/2014/main" id="{1A933131-2090-A107-2994-983505AC2325}"/>
              </a:ext>
            </a:extLst>
          </p:cNvPr>
          <p:cNvGrpSpPr/>
          <p:nvPr/>
        </p:nvGrpSpPr>
        <p:grpSpPr>
          <a:xfrm>
            <a:off x="4434840" y="842963"/>
            <a:ext cx="4855524" cy="3066097"/>
            <a:chOff x="2743200" y="1146120"/>
            <a:chExt cx="6185647" cy="3906024"/>
          </a:xfrm>
        </p:grpSpPr>
        <p:cxnSp>
          <p:nvCxnSpPr>
            <p:cNvPr id="55" name="直線コネクタ 54">
              <a:extLst>
                <a:ext uri="{FF2B5EF4-FFF2-40B4-BE49-F238E27FC236}">
                  <a16:creationId xmlns:a16="http://schemas.microsoft.com/office/drawing/2014/main" id="{AF6B4549-B78F-C452-67C4-174F18DFFFA3}"/>
                </a:ext>
              </a:extLst>
            </p:cNvPr>
            <p:cNvCxnSpPr>
              <a:cxnSpLocks/>
            </p:cNvCxnSpPr>
            <p:nvPr/>
          </p:nvCxnSpPr>
          <p:spPr>
            <a:xfrm flipV="1">
              <a:off x="6041175" y="2540200"/>
              <a:ext cx="1767364" cy="2511944"/>
            </a:xfrm>
            <a:prstGeom prst="line">
              <a:avLst/>
            </a:prstGeom>
            <a:ln w="1587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85EE11EF-3726-BDA2-6939-3BA4F2D4F7B9}"/>
                </a:ext>
              </a:extLst>
            </p:cNvPr>
            <p:cNvCxnSpPr>
              <a:cxnSpLocks/>
            </p:cNvCxnSpPr>
            <p:nvPr/>
          </p:nvCxnSpPr>
          <p:spPr>
            <a:xfrm flipV="1">
              <a:off x="3092149" y="3337078"/>
              <a:ext cx="4559052" cy="1583482"/>
            </a:xfrm>
            <a:prstGeom prst="line">
              <a:avLst/>
            </a:prstGeom>
            <a:ln w="190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94C75C49-9CBC-5EDD-A3EA-AA170BB59FA7}"/>
                </a:ext>
              </a:extLst>
            </p:cNvPr>
            <p:cNvCxnSpPr>
              <a:cxnSpLocks/>
            </p:cNvCxnSpPr>
            <p:nvPr/>
          </p:nvCxnSpPr>
          <p:spPr>
            <a:xfrm flipH="1" flipV="1">
              <a:off x="4511480" y="3054997"/>
              <a:ext cx="4417367" cy="1654163"/>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F774E68D-2C5E-91BC-B747-58B20183A44E}"/>
                </a:ext>
              </a:extLst>
            </p:cNvPr>
            <p:cNvCxnSpPr>
              <a:cxnSpLocks/>
            </p:cNvCxnSpPr>
            <p:nvPr/>
          </p:nvCxnSpPr>
          <p:spPr>
            <a:xfrm flipH="1" flipV="1">
              <a:off x="4274680" y="1417802"/>
              <a:ext cx="2347867" cy="3627897"/>
            </a:xfrm>
            <a:prstGeom prst="line">
              <a:avLst/>
            </a:prstGeom>
            <a:ln w="1587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43244E7F-9E9D-3BF7-0960-51343DC8EE4B}"/>
                </a:ext>
              </a:extLst>
            </p:cNvPr>
            <p:cNvCxnSpPr>
              <a:cxnSpLocks/>
            </p:cNvCxnSpPr>
            <p:nvPr/>
          </p:nvCxnSpPr>
          <p:spPr>
            <a:xfrm flipV="1">
              <a:off x="3231625" y="1146120"/>
              <a:ext cx="3761087" cy="3791640"/>
            </a:xfrm>
            <a:prstGeom prst="line">
              <a:avLst/>
            </a:prstGeom>
            <a:ln w="190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DCDE6E2B-F00E-23CB-9B04-65807AD04A3E}"/>
                </a:ext>
              </a:extLst>
            </p:cNvPr>
            <p:cNvCxnSpPr>
              <a:cxnSpLocks/>
            </p:cNvCxnSpPr>
            <p:nvPr/>
          </p:nvCxnSpPr>
          <p:spPr>
            <a:xfrm>
              <a:off x="6648157" y="1146120"/>
              <a:ext cx="1915268" cy="3727238"/>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Shape 0"/>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3" name="Shape 1"/>
            <p:cNvSpPr/>
            <p:nvPr/>
          </p:nvSpPr>
          <p:spPr>
            <a:xfrm>
              <a:off x="5207603" y="2869921"/>
              <a:ext cx="72839" cy="72839"/>
            </a:xfrm>
            <a:prstGeom prst="ellipse">
              <a:avLst/>
            </a:prstGeom>
            <a:solidFill>
              <a:schemeClr val="tx1"/>
            </a:solidFill>
            <a:ln/>
          </p:spPr>
          <p:txBody>
            <a:bodyPr/>
            <a:lstStyle/>
            <a:p>
              <a:r>
                <a:rPr lang="en-US" altLang="ja-JP" dirty="0"/>
                <a:t>F</a:t>
              </a:r>
              <a:endParaRPr lang="ja-JP" altLang="en-US"/>
            </a:p>
          </p:txBody>
        </p:sp>
        <p:sp>
          <p:nvSpPr>
            <p:cNvPr id="4" name="Shape 2"/>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5" name="Shape 3"/>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6" name="Shape 4"/>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7" name="Shape 5"/>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8" name="Shape 6"/>
            <p:cNvSpPr/>
            <p:nvPr/>
          </p:nvSpPr>
          <p:spPr>
            <a:xfrm>
              <a:off x="6718302" y="1344963"/>
              <a:ext cx="72839" cy="72839"/>
            </a:xfrm>
            <a:prstGeom prst="ellipse">
              <a:avLst/>
            </a:prstGeom>
            <a:solidFill>
              <a:schemeClr val="tx1"/>
            </a:solidFill>
            <a:ln/>
          </p:spPr>
          <p:txBody>
            <a:bodyPr>
              <a:noAutofit/>
            </a:bodyPr>
            <a:lstStyle/>
            <a:p>
              <a:r>
                <a:rPr lang="en-US" altLang="ja-JP" dirty="0"/>
                <a:t>A</a:t>
              </a:r>
              <a:endParaRPr lang="ja-JP" altLang="en-US"/>
            </a:p>
          </p:txBody>
        </p:sp>
        <p:cxnSp>
          <p:nvCxnSpPr>
            <p:cNvPr id="75" name="直線コネクタ 74">
              <a:extLst>
                <a:ext uri="{FF2B5EF4-FFF2-40B4-BE49-F238E27FC236}">
                  <a16:creationId xmlns:a16="http://schemas.microsoft.com/office/drawing/2014/main" id="{006E0F07-B518-548A-C0ED-C6CC6AC44D89}"/>
                </a:ext>
              </a:extLst>
            </p:cNvPr>
            <p:cNvCxnSpPr/>
            <p:nvPr/>
          </p:nvCxnSpPr>
          <p:spPr>
            <a:xfrm flipV="1">
              <a:off x="2743200" y="4480560"/>
              <a:ext cx="5947258" cy="392798"/>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3" name="Shape 5">
              <a:extLst>
                <a:ext uri="{FF2B5EF4-FFF2-40B4-BE49-F238E27FC236}">
                  <a16:creationId xmlns:a16="http://schemas.microsoft.com/office/drawing/2014/main" id="{5A63AC52-ABC3-7D34-EAD7-B5FD5F7EC492}"/>
                </a:ext>
              </a:extLst>
            </p:cNvPr>
            <p:cNvSpPr/>
            <p:nvPr/>
          </p:nvSpPr>
          <p:spPr>
            <a:xfrm>
              <a:off x="3318469" y="4787701"/>
              <a:ext cx="72839" cy="72839"/>
            </a:xfrm>
            <a:prstGeom prst="ellipse">
              <a:avLst/>
            </a:prstGeom>
            <a:solidFill>
              <a:schemeClr val="tx1"/>
            </a:solidFill>
            <a:ln/>
          </p:spPr>
          <p:txBody>
            <a:bodyPr/>
            <a:lstStyle/>
            <a:p>
              <a:r>
                <a:rPr lang="en-US" altLang="ja-JP" dirty="0"/>
                <a:t>R</a:t>
              </a:r>
              <a:endParaRPr lang="ja-JP" altLang="en-US"/>
            </a:p>
          </p:txBody>
        </p:sp>
        <p:sp>
          <p:nvSpPr>
            <p:cNvPr id="94" name="Shape 4">
              <a:extLst>
                <a:ext uri="{FF2B5EF4-FFF2-40B4-BE49-F238E27FC236}">
                  <a16:creationId xmlns:a16="http://schemas.microsoft.com/office/drawing/2014/main" id="{2CBBC164-2AEC-3262-B9D0-D11DA45E2E9A}"/>
                </a:ext>
              </a:extLst>
            </p:cNvPr>
            <p:cNvSpPr/>
            <p:nvPr/>
          </p:nvSpPr>
          <p:spPr>
            <a:xfrm>
              <a:off x="6311768" y="4588402"/>
              <a:ext cx="72839" cy="72839"/>
            </a:xfrm>
            <a:prstGeom prst="ellipse">
              <a:avLst/>
            </a:prstGeom>
            <a:solidFill>
              <a:schemeClr val="tx1"/>
            </a:solidFill>
            <a:ln/>
          </p:spPr>
          <p:txBody>
            <a:bodyPr/>
            <a:lstStyle/>
            <a:p>
              <a:r>
                <a:rPr lang="en-US" altLang="ja-JP" dirty="0"/>
                <a:t>Q</a:t>
              </a:r>
              <a:endParaRPr lang="ja-JP" altLang="en-US"/>
            </a:p>
          </p:txBody>
        </p:sp>
        <p:sp>
          <p:nvSpPr>
            <p:cNvPr id="95" name="Shape 2">
              <a:extLst>
                <a:ext uri="{FF2B5EF4-FFF2-40B4-BE49-F238E27FC236}">
                  <a16:creationId xmlns:a16="http://schemas.microsoft.com/office/drawing/2014/main" id="{CB3BB9C4-5FC7-273C-E462-A1F9B9DA9FB7}"/>
                </a:ext>
              </a:extLst>
            </p:cNvPr>
            <p:cNvSpPr/>
            <p:nvPr/>
          </p:nvSpPr>
          <p:spPr>
            <a:xfrm>
              <a:off x="8336430" y="4471130"/>
              <a:ext cx="72839" cy="72839"/>
            </a:xfrm>
            <a:prstGeom prst="ellipse">
              <a:avLst/>
            </a:prstGeom>
            <a:solidFill>
              <a:schemeClr val="tx1"/>
            </a:solidFill>
            <a:ln/>
          </p:spPr>
          <p:txBody>
            <a:bodyPr/>
            <a:lstStyle/>
            <a:p>
              <a:r>
                <a:rPr lang="en-US" altLang="ja-JP" dirty="0"/>
                <a:t>P</a:t>
              </a:r>
              <a:endParaRPr lang="ja-JP" altLang="en-US"/>
            </a:p>
          </p:txBody>
        </p:sp>
      </p:grpSp>
      <p:sp>
        <p:nvSpPr>
          <p:cNvPr id="96" name="Text 12">
            <a:extLst>
              <a:ext uri="{FF2B5EF4-FFF2-40B4-BE49-F238E27FC236}">
                <a16:creationId xmlns:a16="http://schemas.microsoft.com/office/drawing/2014/main" id="{4CDEE4AF-CD14-C8FA-18E7-696C37D77A92}"/>
              </a:ext>
            </a:extLst>
          </p:cNvPr>
          <p:cNvSpPr/>
          <p:nvPr/>
        </p:nvSpPr>
        <p:spPr>
          <a:xfrm>
            <a:off x="548640" y="3592159"/>
            <a:ext cx="2194560" cy="457200"/>
          </a:xfrm>
          <a:prstGeom prst="rect">
            <a:avLst/>
          </a:prstGeom>
          <a:noFill/>
          <a:ln/>
        </p:spPr>
        <p:txBody>
          <a:bodyPr wrap="square" rtlCol="0" anchor="ctr"/>
          <a:lstStyle/>
          <a:p>
            <a:pPr marL="0" indent="0">
              <a:buNone/>
            </a:pPr>
            <a:r>
              <a:rPr lang="en-US" sz="1100" i="1" dirty="0" err="1">
                <a:solidFill>
                  <a:srgbClr val="333333"/>
                </a:solidFill>
                <a:latin typeface="Yu Gothic" pitchFamily="34" charset="0"/>
                <a:ea typeface="Yu Gothic" pitchFamily="34" charset="-122"/>
                <a:cs typeface="Yu Gothic" pitchFamily="34" charset="-120"/>
              </a:rPr>
              <a:t>作成者</a:t>
            </a:r>
            <a:r>
              <a:rPr lang="en-US" sz="1100" i="1" dirty="0">
                <a:solidFill>
                  <a:srgbClr val="333333"/>
                </a:solidFill>
                <a:latin typeface="Yu Gothic" pitchFamily="34" charset="0"/>
                <a:ea typeface="Yu Gothic" pitchFamily="34" charset="-122"/>
                <a:cs typeface="Yu Gothic" pitchFamily="34" charset="-120"/>
              </a:rPr>
              <a:t>: </a:t>
            </a:r>
            <a:r>
              <a:rPr lang="en-US" sz="1100" i="1" dirty="0" err="1">
                <a:solidFill>
                  <a:srgbClr val="333333"/>
                </a:solidFill>
                <a:latin typeface="Yu Gothic" pitchFamily="34" charset="0"/>
                <a:ea typeface="Yu Gothic" pitchFamily="34" charset="-122"/>
                <a:cs typeface="Yu Gothic" pitchFamily="34" charset="-120"/>
              </a:rPr>
              <a:t>吉本</a:t>
            </a:r>
            <a:r>
              <a:rPr lang="en-US" sz="1100" i="1" dirty="0">
                <a:solidFill>
                  <a:srgbClr val="333333"/>
                </a:solidFill>
                <a:latin typeface="Yu Gothic" pitchFamily="34" charset="0"/>
                <a:ea typeface="Yu Gothic" pitchFamily="34" charset="-122"/>
                <a:cs typeface="Yu Gothic" pitchFamily="34" charset="-120"/>
              </a:rPr>
              <a:t> </a:t>
            </a:r>
            <a:r>
              <a:rPr lang="en-US" sz="1100" i="1" dirty="0" err="1">
                <a:solidFill>
                  <a:srgbClr val="333333"/>
                </a:solidFill>
                <a:latin typeface="Yu Gothic" pitchFamily="34" charset="0"/>
                <a:ea typeface="Yu Gothic" pitchFamily="34" charset="-122"/>
                <a:cs typeface="Yu Gothic" pitchFamily="34" charset="-120"/>
              </a:rPr>
              <a:t>稜葵</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38027-6168-5A1E-06E6-751A02BDC1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4C61F8-340A-F552-85B5-37C93AF1F90E}"/>
              </a:ext>
            </a:extLst>
          </p:cNvPr>
          <p:cNvSpPr/>
          <p:nvPr/>
        </p:nvSpPr>
        <p:spPr>
          <a:xfrm>
            <a:off x="0" y="0"/>
            <a:ext cx="109728" cy="5143500"/>
          </a:xfrm>
          <a:prstGeom prst="rect">
            <a:avLst/>
          </a:prstGeom>
          <a:solidFill>
            <a:srgbClr val="CC6600"/>
          </a:solidFill>
          <a:ln/>
        </p:spPr>
        <p:txBody>
          <a:bodyPr/>
          <a:lstStyle/>
          <a:p>
            <a:endParaRPr lang="ja-JP" altLang="en-US"/>
          </a:p>
        </p:txBody>
      </p:sp>
      <p:sp>
        <p:nvSpPr>
          <p:cNvPr id="3" name="Text 1">
            <a:extLst>
              <a:ext uri="{FF2B5EF4-FFF2-40B4-BE49-F238E27FC236}">
                <a16:creationId xmlns:a16="http://schemas.microsoft.com/office/drawing/2014/main" id="{F1135B0A-7B55-194C-EFB8-C7ADD0D4E116}"/>
              </a:ext>
            </a:extLst>
          </p:cNvPr>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CC6600"/>
                </a:solidFill>
                <a:latin typeface="Yu Gothic" pitchFamily="34" charset="0"/>
                <a:ea typeface="Yu Gothic" pitchFamily="34" charset="-122"/>
              </a:rPr>
              <a:t>NEWS</a:t>
            </a:r>
            <a:endParaRPr lang="en-US" sz="1200" dirty="0"/>
          </a:p>
        </p:txBody>
      </p:sp>
      <p:sp>
        <p:nvSpPr>
          <p:cNvPr id="4" name="Text 2">
            <a:extLst>
              <a:ext uri="{FF2B5EF4-FFF2-40B4-BE49-F238E27FC236}">
                <a16:creationId xmlns:a16="http://schemas.microsoft.com/office/drawing/2014/main" id="{CEDCFA47-A2D1-FE4E-54AB-69263EE26219}"/>
              </a:ext>
            </a:extLst>
          </p:cNvPr>
          <p:cNvSpPr/>
          <p:nvPr/>
        </p:nvSpPr>
        <p:spPr>
          <a:xfrm>
            <a:off x="457200" y="548640"/>
            <a:ext cx="8229600" cy="731520"/>
          </a:xfrm>
          <a:prstGeom prst="rect">
            <a:avLst/>
          </a:prstGeom>
          <a:noFill/>
          <a:ln/>
        </p:spPr>
        <p:txBody>
          <a:bodyPr wrap="square" lIns="0" tIns="0" rIns="0" bIns="0" rtlCol="0" anchor="ctr"/>
          <a:lstStyle/>
          <a:p>
            <a:r>
              <a:rPr lang="ja-JP" altLang="ja-JP" sz="2800" b="1"/>
              <a:t>数学の考え方と発見的問題解決法</a:t>
            </a:r>
          </a:p>
        </p:txBody>
      </p:sp>
      <p:sp>
        <p:nvSpPr>
          <p:cNvPr id="14" name="Text 12">
            <a:extLst>
              <a:ext uri="{FF2B5EF4-FFF2-40B4-BE49-F238E27FC236}">
                <a16:creationId xmlns:a16="http://schemas.microsoft.com/office/drawing/2014/main" id="{710512FB-D51B-4167-3C70-D77532D33529}"/>
              </a:ext>
            </a:extLst>
          </p:cNvPr>
          <p:cNvSpPr/>
          <p:nvPr/>
        </p:nvSpPr>
        <p:spPr>
          <a:xfrm>
            <a:off x="502920" y="4828032"/>
            <a:ext cx="5486400" cy="274320"/>
          </a:xfrm>
          <a:prstGeom prst="rect">
            <a:avLst/>
          </a:prstGeom>
          <a:noFill/>
          <a:ln/>
        </p:spPr>
        <p:txBody>
          <a:bodyPr wrap="square" rtlCol="0" anchor="ctr"/>
          <a:lstStyle/>
          <a:p>
            <a:pPr marL="0" indent="0">
              <a:buNone/>
            </a:pPr>
            <a:r>
              <a:rPr lang="en-US" sz="1000" dirty="0">
                <a:solidFill>
                  <a:srgbClr val="333333"/>
                </a:solidFill>
                <a:latin typeface="Yu Gothic" pitchFamily="34" charset="0"/>
                <a:ea typeface="Yu Gothic" pitchFamily="34" charset="-122"/>
                <a:cs typeface="Yu Gothic" pitchFamily="34" charset="-120"/>
              </a:rPr>
              <a:t>数学科教育法３③</a:t>
            </a:r>
            <a:endParaRPr lang="en-US" sz="1000" dirty="0"/>
          </a:p>
        </p:txBody>
      </p:sp>
      <p:sp>
        <p:nvSpPr>
          <p:cNvPr id="15" name="Text 13">
            <a:extLst>
              <a:ext uri="{FF2B5EF4-FFF2-40B4-BE49-F238E27FC236}">
                <a16:creationId xmlns:a16="http://schemas.microsoft.com/office/drawing/2014/main" id="{8C196FA4-0398-3277-B50C-E274A40DCA94}"/>
              </a:ext>
            </a:extLst>
          </p:cNvPr>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02</a:t>
            </a:r>
            <a:endParaRPr lang="en-US" sz="1000" dirty="0"/>
          </a:p>
        </p:txBody>
      </p:sp>
      <p:graphicFrame>
        <p:nvGraphicFramePr>
          <p:cNvPr id="5" name="図表 4">
            <a:extLst>
              <a:ext uri="{FF2B5EF4-FFF2-40B4-BE49-F238E27FC236}">
                <a16:creationId xmlns:a16="http://schemas.microsoft.com/office/drawing/2014/main" id="{C720D518-5CC5-2C18-581D-ACFCE3BDE75B}"/>
              </a:ext>
            </a:extLst>
          </p:cNvPr>
          <p:cNvGraphicFramePr/>
          <p:nvPr>
            <p:extLst>
              <p:ext uri="{D42A27DB-BD31-4B8C-83A1-F6EECF244321}">
                <p14:modId xmlns:p14="http://schemas.microsoft.com/office/powerpoint/2010/main" val="605054396"/>
              </p:ext>
            </p:extLst>
          </p:nvPr>
        </p:nvGraphicFramePr>
        <p:xfrm>
          <a:off x="457200" y="1280160"/>
          <a:ext cx="8229600" cy="33235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 name="図 16">
            <a:extLst>
              <a:ext uri="{FF2B5EF4-FFF2-40B4-BE49-F238E27FC236}">
                <a16:creationId xmlns:a16="http://schemas.microsoft.com/office/drawing/2014/main" id="{E02210AB-57A5-2B00-112E-76029F0E6C60}"/>
              </a:ext>
            </a:extLst>
          </p:cNvPr>
          <p:cNvPicPr>
            <a:picLocks noChangeAspect="1"/>
          </p:cNvPicPr>
          <p:nvPr/>
        </p:nvPicPr>
        <p:blipFill>
          <a:blip r:embed="rId8"/>
          <a:stretch>
            <a:fillRect/>
          </a:stretch>
        </p:blipFill>
        <p:spPr>
          <a:xfrm>
            <a:off x="7251395" y="3438347"/>
            <a:ext cx="1389685" cy="1389685"/>
          </a:xfrm>
          <a:prstGeom prst="rect">
            <a:avLst/>
          </a:prstGeom>
        </p:spPr>
      </p:pic>
    </p:spTree>
    <p:extLst>
      <p:ext uri="{BB962C8B-B14F-4D97-AF65-F5344CB8AC3E}">
        <p14:creationId xmlns:p14="http://schemas.microsoft.com/office/powerpoint/2010/main" val="2079405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C6600"/>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CC6600"/>
                </a:solidFill>
                <a:latin typeface="Yu Gothic" pitchFamily="34" charset="0"/>
                <a:ea typeface="Yu Gothic" pitchFamily="34" charset="-122"/>
                <a:cs typeface="Yu Gothic" pitchFamily="34" charset="-120"/>
              </a:rPr>
              <a:t>GOALS</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本時の目標</a:t>
            </a:r>
            <a:endParaRPr lang="en-US" sz="3000" dirty="0"/>
          </a:p>
        </p:txBody>
      </p:sp>
      <p:sp>
        <p:nvSpPr>
          <p:cNvPr id="6" name="Shape 4"/>
          <p:cNvSpPr/>
          <p:nvPr/>
        </p:nvSpPr>
        <p:spPr>
          <a:xfrm>
            <a:off x="548640" y="1677170"/>
            <a:ext cx="640080" cy="640080"/>
          </a:xfrm>
          <a:prstGeom prst="ellipse">
            <a:avLst/>
          </a:prstGeom>
          <a:solidFill>
            <a:srgbClr val="FFFFFF"/>
          </a:solidFill>
          <a:ln w="19050">
            <a:solidFill>
              <a:srgbClr val="CC6600"/>
            </a:solidFill>
            <a:prstDash val="solid"/>
          </a:ln>
        </p:spPr>
        <p:txBody>
          <a:bodyPr/>
          <a:lstStyle/>
          <a:p>
            <a:endParaRPr lang="ja-JP" altLang="en-US"/>
          </a:p>
        </p:txBody>
      </p:sp>
      <p:sp>
        <p:nvSpPr>
          <p:cNvPr id="7" name="Text 5"/>
          <p:cNvSpPr/>
          <p:nvPr/>
        </p:nvSpPr>
        <p:spPr>
          <a:xfrm>
            <a:off x="548640" y="1677170"/>
            <a:ext cx="640080" cy="640080"/>
          </a:xfrm>
          <a:prstGeom prst="rect">
            <a:avLst/>
          </a:prstGeom>
          <a:noFill/>
          <a:ln/>
        </p:spPr>
        <p:txBody>
          <a:bodyPr wrap="square" lIns="0" tIns="0" rIns="0" bIns="0" rtlCol="0" anchor="ctr"/>
          <a:lstStyle/>
          <a:p>
            <a:pPr marL="0" indent="0" algn="ctr">
              <a:buNone/>
            </a:pPr>
            <a:r>
              <a:rPr lang="en-US" sz="2200" b="1" dirty="0">
                <a:solidFill>
                  <a:srgbClr val="CC6600"/>
                </a:solidFill>
                <a:latin typeface="Yu Mincho" pitchFamily="34" charset="0"/>
                <a:ea typeface="Yu Mincho" pitchFamily="34" charset="-122"/>
                <a:cs typeface="Yu Mincho" pitchFamily="34" charset="-120"/>
              </a:rPr>
              <a:t>1</a:t>
            </a:r>
            <a:endParaRPr lang="en-US" sz="2200" dirty="0"/>
          </a:p>
        </p:txBody>
      </p:sp>
      <p:sp>
        <p:nvSpPr>
          <p:cNvPr id="8" name="Text 6"/>
          <p:cNvSpPr/>
          <p:nvPr/>
        </p:nvSpPr>
        <p:spPr>
          <a:xfrm>
            <a:off x="1417320" y="1631450"/>
            <a:ext cx="7040880" cy="365760"/>
          </a:xfrm>
          <a:prstGeom prst="rect">
            <a:avLst/>
          </a:prstGeom>
          <a:noFill/>
          <a:ln/>
        </p:spPr>
        <p:txBody>
          <a:bodyPr wrap="square" lIns="0" tIns="0" rIns="0" bIns="0" rtlCol="0" anchor="ctr"/>
          <a:lstStyle/>
          <a:p>
            <a:pPr marL="0" indent="0">
              <a:buNone/>
            </a:pPr>
            <a:r>
              <a:rPr lang="en-US" sz="1700" b="1" dirty="0" err="1">
                <a:solidFill>
                  <a:srgbClr val="000000"/>
                </a:solidFill>
                <a:latin typeface="Yu Gothic" pitchFamily="34" charset="0"/>
                <a:ea typeface="Yu Gothic" pitchFamily="34" charset="-122"/>
                <a:cs typeface="Yu Gothic" pitchFamily="34" charset="-120"/>
              </a:rPr>
              <a:t>パスカルの定理の理解</a:t>
            </a:r>
            <a:endParaRPr lang="en-US" sz="1700" dirty="0"/>
          </a:p>
        </p:txBody>
      </p:sp>
      <p:sp>
        <p:nvSpPr>
          <p:cNvPr id="9" name="Text 7"/>
          <p:cNvSpPr/>
          <p:nvPr/>
        </p:nvSpPr>
        <p:spPr>
          <a:xfrm>
            <a:off x="1417320" y="2024642"/>
            <a:ext cx="7132320" cy="868680"/>
          </a:xfrm>
          <a:prstGeom prst="rect">
            <a:avLst/>
          </a:prstGeom>
          <a:noFill/>
          <a:ln/>
        </p:spPr>
        <p:txBody>
          <a:bodyPr wrap="square" lIns="0" tIns="0" rIns="0" bIns="0" rtlCol="0" anchor="ctr"/>
          <a:lstStyle/>
          <a:p>
            <a:pPr marL="0" indent="0">
              <a:lnSpc>
                <a:spcPct val="125000"/>
              </a:lnSpc>
              <a:buNone/>
            </a:pPr>
            <a:r>
              <a:rPr lang="en-US" sz="1250" dirty="0">
                <a:solidFill>
                  <a:srgbClr val="333333"/>
                </a:solidFill>
                <a:latin typeface="Yu Gothic" pitchFamily="34" charset="0"/>
                <a:ea typeface="Yu Gothic" pitchFamily="34" charset="-122"/>
                <a:cs typeface="Yu Gothic" pitchFamily="34" charset="-120"/>
              </a:rPr>
              <a:t>円に内接する六角形において，対辺の延長線の交点 P, Q, R が一直線上（パスカル線）に並ぶことを理解する。</a:t>
            </a:r>
            <a:endParaRPr lang="en-US" sz="1250" dirty="0"/>
          </a:p>
        </p:txBody>
      </p:sp>
      <p:sp>
        <p:nvSpPr>
          <p:cNvPr id="10" name="Shape 8"/>
          <p:cNvSpPr/>
          <p:nvPr/>
        </p:nvSpPr>
        <p:spPr>
          <a:xfrm>
            <a:off x="548640" y="3048770"/>
            <a:ext cx="640080" cy="640080"/>
          </a:xfrm>
          <a:prstGeom prst="ellipse">
            <a:avLst/>
          </a:prstGeom>
          <a:solidFill>
            <a:srgbClr val="FFFFFF"/>
          </a:solidFill>
          <a:ln w="19050">
            <a:solidFill>
              <a:srgbClr val="336699"/>
            </a:solidFill>
            <a:prstDash val="solid"/>
          </a:ln>
        </p:spPr>
        <p:txBody>
          <a:bodyPr/>
          <a:lstStyle/>
          <a:p>
            <a:endParaRPr lang="ja-JP" altLang="en-US"/>
          </a:p>
        </p:txBody>
      </p:sp>
      <p:sp>
        <p:nvSpPr>
          <p:cNvPr id="11" name="Text 9"/>
          <p:cNvSpPr/>
          <p:nvPr/>
        </p:nvSpPr>
        <p:spPr>
          <a:xfrm>
            <a:off x="548640" y="3048770"/>
            <a:ext cx="640080" cy="640080"/>
          </a:xfrm>
          <a:prstGeom prst="rect">
            <a:avLst/>
          </a:prstGeom>
          <a:noFill/>
          <a:ln/>
        </p:spPr>
        <p:txBody>
          <a:bodyPr wrap="square" lIns="0" tIns="0" rIns="0" bIns="0" rtlCol="0" anchor="ctr"/>
          <a:lstStyle/>
          <a:p>
            <a:pPr marL="0" indent="0" algn="ctr">
              <a:buNone/>
            </a:pPr>
            <a:r>
              <a:rPr lang="en-US" sz="2200" b="1" dirty="0">
                <a:solidFill>
                  <a:srgbClr val="336699"/>
                </a:solidFill>
                <a:latin typeface="Yu Mincho" pitchFamily="34" charset="0"/>
                <a:ea typeface="Yu Mincho" pitchFamily="34" charset="-122"/>
                <a:cs typeface="Yu Mincho" pitchFamily="34" charset="-120"/>
              </a:rPr>
              <a:t>2</a:t>
            </a:r>
            <a:endParaRPr lang="en-US" sz="2200" dirty="0"/>
          </a:p>
        </p:txBody>
      </p:sp>
      <p:sp>
        <p:nvSpPr>
          <p:cNvPr id="12" name="Text 10"/>
          <p:cNvSpPr/>
          <p:nvPr/>
        </p:nvSpPr>
        <p:spPr>
          <a:xfrm>
            <a:off x="1417320" y="3003050"/>
            <a:ext cx="7040880" cy="365760"/>
          </a:xfrm>
          <a:prstGeom prst="rect">
            <a:avLst/>
          </a:prstGeom>
          <a:noFill/>
          <a:ln/>
        </p:spPr>
        <p:txBody>
          <a:bodyPr wrap="square" lIns="0" tIns="0" rIns="0" bIns="0" rtlCol="0" anchor="ctr"/>
          <a:lstStyle/>
          <a:p>
            <a:pPr marL="0" indent="0">
              <a:buNone/>
            </a:pPr>
            <a:r>
              <a:rPr lang="en-US" sz="1700" b="1" dirty="0" err="1">
                <a:solidFill>
                  <a:srgbClr val="000000"/>
                </a:solidFill>
                <a:latin typeface="Yu Gothic" pitchFamily="34" charset="0"/>
                <a:ea typeface="Yu Gothic" pitchFamily="34" charset="-122"/>
                <a:cs typeface="Yu Gothic" pitchFamily="34" charset="-120"/>
              </a:rPr>
              <a:t>フレームワークを応用できる</a:t>
            </a:r>
            <a:endParaRPr lang="en-US" sz="1700" dirty="0"/>
          </a:p>
        </p:txBody>
      </p:sp>
      <p:sp>
        <p:nvSpPr>
          <p:cNvPr id="13" name="Text 11"/>
          <p:cNvSpPr/>
          <p:nvPr/>
        </p:nvSpPr>
        <p:spPr>
          <a:xfrm>
            <a:off x="1417320" y="3396242"/>
            <a:ext cx="7132320" cy="868680"/>
          </a:xfrm>
          <a:prstGeom prst="rect">
            <a:avLst/>
          </a:prstGeom>
          <a:noFill/>
          <a:ln/>
        </p:spPr>
        <p:txBody>
          <a:bodyPr wrap="square" lIns="0" tIns="0" rIns="0" bIns="0" rtlCol="0" anchor="ctr"/>
          <a:lstStyle/>
          <a:p>
            <a:pPr marL="0" indent="0">
              <a:lnSpc>
                <a:spcPct val="125000"/>
              </a:lnSpc>
              <a:buNone/>
            </a:pPr>
            <a:r>
              <a:rPr lang="en-US" sz="1250" dirty="0">
                <a:solidFill>
                  <a:srgbClr val="333333"/>
                </a:solidFill>
                <a:latin typeface="Yu Gothic" pitchFamily="34" charset="0"/>
                <a:ea typeface="Yu Gothic" pitchFamily="34" charset="-122"/>
                <a:cs typeface="Yu Gothic" pitchFamily="34" charset="-120"/>
              </a:rPr>
              <a:t>「補助図形を作る → 比の式を立てる → 不変条件で打ち消す → 逆を使って結論づける」という４ステップの枠組みを理解し，他の幾何の問題にも当てはめられるようにする。</a:t>
            </a:r>
            <a:endParaRPr lang="en-US" sz="1250" dirty="0"/>
          </a:p>
        </p:txBody>
      </p:sp>
      <p:sp>
        <p:nvSpPr>
          <p:cNvPr id="14" name="Text 12"/>
          <p:cNvSpPr/>
          <p:nvPr/>
        </p:nvSpPr>
        <p:spPr>
          <a:xfrm>
            <a:off x="502920" y="4828032"/>
            <a:ext cx="5486400" cy="274320"/>
          </a:xfrm>
          <a:prstGeom prst="rect">
            <a:avLst/>
          </a:prstGeom>
          <a:noFill/>
          <a:ln/>
        </p:spPr>
        <p:txBody>
          <a:bodyPr wrap="square" rtlCol="0" anchor="ctr"/>
          <a:lstStyle/>
          <a:p>
            <a:pPr marL="0" indent="0">
              <a:buNone/>
            </a:pPr>
            <a:r>
              <a:rPr lang="en-US" sz="1000" dirty="0">
                <a:solidFill>
                  <a:srgbClr val="333333"/>
                </a:solidFill>
                <a:latin typeface="Yu Gothic" pitchFamily="34" charset="0"/>
                <a:ea typeface="Yu Gothic" pitchFamily="34" charset="-122"/>
                <a:cs typeface="Yu Gothic" pitchFamily="34" charset="-120"/>
              </a:rPr>
              <a:t>数学科教育法３③</a:t>
            </a:r>
            <a:endParaRPr lang="en-US" sz="1000" dirty="0"/>
          </a:p>
        </p:txBody>
      </p:sp>
      <p:sp>
        <p:nvSpPr>
          <p:cNvPr id="15" name="Text 13"/>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6699"/>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6699"/>
                </a:solidFill>
                <a:latin typeface="Yu Gothic" pitchFamily="34" charset="0"/>
                <a:ea typeface="Yu Gothic" pitchFamily="34" charset="-122"/>
                <a:cs typeface="Yu Gothic" pitchFamily="34" charset="-120"/>
              </a:rPr>
              <a:t>REVIEW</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err="1">
                <a:solidFill>
                  <a:srgbClr val="000000"/>
                </a:solidFill>
                <a:latin typeface="Yu Mincho" pitchFamily="34" charset="0"/>
                <a:ea typeface="Yu Mincho" pitchFamily="34" charset="-122"/>
                <a:cs typeface="Yu Mincho" pitchFamily="34" charset="-120"/>
              </a:rPr>
              <a:t>既習内容の確認</a:t>
            </a:r>
            <a:endParaRPr lang="en-US" sz="3000" dirty="0"/>
          </a:p>
        </p:txBody>
      </p:sp>
      <p:sp>
        <p:nvSpPr>
          <p:cNvPr id="6" name="Shape 4"/>
          <p:cNvSpPr/>
          <p:nvPr/>
        </p:nvSpPr>
        <p:spPr>
          <a:xfrm>
            <a:off x="457200" y="1362456"/>
            <a:ext cx="3931920" cy="3346704"/>
          </a:xfrm>
          <a:prstGeom prst="rect">
            <a:avLst/>
          </a:prstGeom>
          <a:solidFill>
            <a:srgbClr val="FFFFFF"/>
          </a:solidFill>
          <a:ln w="12700">
            <a:solidFill>
              <a:srgbClr val="999999"/>
            </a:solidFill>
            <a:prstDash val="solid"/>
          </a:ln>
        </p:spPr>
        <p:txBody>
          <a:bodyPr/>
          <a:lstStyle/>
          <a:p>
            <a:endParaRPr lang="ja-JP" altLang="en-US"/>
          </a:p>
        </p:txBody>
      </p:sp>
      <p:sp>
        <p:nvSpPr>
          <p:cNvPr id="7" name="Shape 5"/>
          <p:cNvSpPr/>
          <p:nvPr/>
        </p:nvSpPr>
        <p:spPr>
          <a:xfrm>
            <a:off x="457200" y="1362456"/>
            <a:ext cx="3931920" cy="73152"/>
          </a:xfrm>
          <a:prstGeom prst="rect">
            <a:avLst/>
          </a:prstGeom>
          <a:solidFill>
            <a:srgbClr val="336699"/>
          </a:solidFill>
          <a:ln/>
        </p:spPr>
        <p:txBody>
          <a:bodyPr/>
          <a:lstStyle/>
          <a:p>
            <a:endParaRPr lang="ja-JP" altLang="en-US"/>
          </a:p>
        </p:txBody>
      </p:sp>
      <p:sp>
        <p:nvSpPr>
          <p:cNvPr id="8" name="Text 6"/>
          <p:cNvSpPr/>
          <p:nvPr/>
        </p:nvSpPr>
        <p:spPr>
          <a:xfrm>
            <a:off x="731520" y="1570742"/>
            <a:ext cx="3474720" cy="365760"/>
          </a:xfrm>
          <a:prstGeom prst="rect">
            <a:avLst/>
          </a:prstGeom>
          <a:noFill/>
          <a:ln/>
        </p:spPr>
        <p:txBody>
          <a:bodyPr wrap="square" lIns="0" tIns="0" rIns="0" bIns="0" rtlCol="0" anchor="ctr"/>
          <a:lstStyle/>
          <a:p>
            <a:pPr marL="0" indent="0">
              <a:buNone/>
            </a:pPr>
            <a:r>
              <a:rPr lang="en-US" sz="1600" b="1" dirty="0">
                <a:solidFill>
                  <a:srgbClr val="000000"/>
                </a:solidFill>
                <a:latin typeface="Yu Gothic" pitchFamily="34" charset="0"/>
                <a:ea typeface="Yu Gothic" pitchFamily="34" charset="-122"/>
                <a:cs typeface="Yu Gothic" pitchFamily="34" charset="-120"/>
              </a:rPr>
              <a:t>メネラウスの定理</a:t>
            </a:r>
            <a:endParaRPr lang="en-US" sz="1600" dirty="0"/>
          </a:p>
        </p:txBody>
      </p:sp>
      <p:sp>
        <p:nvSpPr>
          <p:cNvPr id="10" name="Text 8"/>
          <p:cNvSpPr/>
          <p:nvPr/>
        </p:nvSpPr>
        <p:spPr>
          <a:xfrm>
            <a:off x="731520" y="2743200"/>
            <a:ext cx="2103120" cy="1783080"/>
          </a:xfrm>
          <a:prstGeom prst="rect">
            <a:avLst/>
          </a:prstGeom>
          <a:noFill/>
          <a:ln/>
        </p:spPr>
        <p:txBody>
          <a:bodyPr wrap="square" lIns="0" tIns="0" rIns="0" bIns="0" rtlCol="0" anchor="ctr"/>
          <a:lstStyle/>
          <a:p>
            <a:pPr marL="0" indent="0">
              <a:lnSpc>
                <a:spcPct val="130000"/>
              </a:lnSpc>
              <a:buNone/>
            </a:pPr>
            <a:r>
              <a:rPr lang="en-US" sz="1600" b="1" dirty="0">
                <a:solidFill>
                  <a:srgbClr val="333333"/>
                </a:solidFill>
                <a:latin typeface="Yu Gothic" pitchFamily="34" charset="0"/>
                <a:ea typeface="Yu Gothic" pitchFamily="34" charset="-122"/>
                <a:cs typeface="Yu Gothic" pitchFamily="34" charset="-120"/>
              </a:rPr>
              <a:t>三角形の3辺(</a:t>
            </a:r>
            <a:r>
              <a:rPr lang="en-US" sz="1600" b="1" dirty="0" err="1">
                <a:solidFill>
                  <a:srgbClr val="333333"/>
                </a:solidFill>
                <a:latin typeface="Yu Gothic" pitchFamily="34" charset="0"/>
                <a:ea typeface="Yu Gothic" pitchFamily="34" charset="-122"/>
                <a:cs typeface="Yu Gothic" pitchFamily="34" charset="-120"/>
              </a:rPr>
              <a:t>延長線</a:t>
            </a:r>
            <a:r>
              <a:rPr lang="en-US" sz="1600" b="1" dirty="0">
                <a:solidFill>
                  <a:srgbClr val="333333"/>
                </a:solidFill>
                <a:latin typeface="Yu Gothic" pitchFamily="34" charset="0"/>
                <a:ea typeface="Yu Gothic" pitchFamily="34" charset="-122"/>
                <a:cs typeface="Yu Gothic" pitchFamily="34" charset="-120"/>
              </a:rPr>
              <a:t>)とある1つの直線に関する定理</a:t>
            </a:r>
            <a:endParaRPr lang="en-US" sz="1600" b="1" dirty="0"/>
          </a:p>
        </p:txBody>
      </p:sp>
      <p:sp>
        <p:nvSpPr>
          <p:cNvPr id="11" name="Shape 9"/>
          <p:cNvSpPr/>
          <p:nvPr/>
        </p:nvSpPr>
        <p:spPr>
          <a:xfrm>
            <a:off x="3017520" y="2788920"/>
            <a:ext cx="1188720" cy="1188720"/>
          </a:xfrm>
          <a:prstGeom prst="rect">
            <a:avLst/>
          </a:prstGeom>
          <a:solidFill>
            <a:srgbClr val="FFFFFF"/>
          </a:solidFill>
          <a:ln w="9525">
            <a:solidFill>
              <a:srgbClr val="999999"/>
            </a:solidFill>
            <a:prstDash val="solid"/>
          </a:ln>
        </p:spPr>
        <p:txBody>
          <a:bodyPr/>
          <a:lstStyle/>
          <a:p>
            <a:endParaRPr lang="ja-JP" altLang="en-US"/>
          </a:p>
        </p:txBody>
      </p:sp>
      <p:pic>
        <p:nvPicPr>
          <p:cNvPr id="12" name="Image 0" descr="/sessions/great-ecstatic-newton/mnt/outputs/build/fig7.png"/>
          <p:cNvPicPr>
            <a:picLocks noChangeAspect="1"/>
          </p:cNvPicPr>
          <p:nvPr/>
        </p:nvPicPr>
        <p:blipFill>
          <a:blip r:embed="rId3"/>
          <a:stretch>
            <a:fillRect/>
          </a:stretch>
        </p:blipFill>
        <p:spPr>
          <a:xfrm>
            <a:off x="3063240" y="2834640"/>
            <a:ext cx="1097280" cy="1097280"/>
          </a:xfrm>
          <a:prstGeom prst="rect">
            <a:avLst/>
          </a:prstGeom>
        </p:spPr>
      </p:pic>
      <p:sp>
        <p:nvSpPr>
          <p:cNvPr id="13" name="Text 10"/>
          <p:cNvSpPr/>
          <p:nvPr/>
        </p:nvSpPr>
        <p:spPr>
          <a:xfrm>
            <a:off x="2880360" y="4023360"/>
            <a:ext cx="1463040" cy="594360"/>
          </a:xfrm>
          <a:prstGeom prst="rect">
            <a:avLst/>
          </a:prstGeom>
          <a:noFill/>
          <a:ln/>
        </p:spPr>
        <p:txBody>
          <a:bodyPr wrap="square" lIns="0" tIns="0" rIns="0" bIns="0" rtlCol="0" anchor="ctr"/>
          <a:lstStyle/>
          <a:p>
            <a:pPr marL="0" indent="0" algn="ctr">
              <a:lnSpc>
                <a:spcPct val="115000"/>
              </a:lnSpc>
              <a:buNone/>
            </a:pPr>
            <a:r>
              <a:rPr lang="en-US" sz="800" dirty="0">
                <a:solidFill>
                  <a:srgbClr val="333333"/>
                </a:solidFill>
                <a:latin typeface="Yu Gothic" pitchFamily="34" charset="0"/>
                <a:ea typeface="Yu Gothic" pitchFamily="34" charset="-122"/>
                <a:cs typeface="Yu Gothic" pitchFamily="34" charset="-120"/>
              </a:rPr>
              <a:t>△XYZ を横切る直線と分点 P, Q, R</a:t>
            </a:r>
            <a:endParaRPr lang="en-US" sz="800" dirty="0"/>
          </a:p>
        </p:txBody>
      </p:sp>
      <p:sp>
        <p:nvSpPr>
          <p:cNvPr id="14" name="Shape 11"/>
          <p:cNvSpPr/>
          <p:nvPr/>
        </p:nvSpPr>
        <p:spPr>
          <a:xfrm>
            <a:off x="4663440" y="1362456"/>
            <a:ext cx="3931920" cy="3346704"/>
          </a:xfrm>
          <a:prstGeom prst="rect">
            <a:avLst/>
          </a:prstGeom>
          <a:solidFill>
            <a:srgbClr val="FFFFFF"/>
          </a:solidFill>
          <a:ln w="12700">
            <a:solidFill>
              <a:srgbClr val="999999"/>
            </a:solidFill>
            <a:prstDash val="solid"/>
          </a:ln>
        </p:spPr>
        <p:txBody>
          <a:bodyPr/>
          <a:lstStyle/>
          <a:p>
            <a:endParaRPr lang="ja-JP" altLang="en-US"/>
          </a:p>
        </p:txBody>
      </p:sp>
      <p:sp>
        <p:nvSpPr>
          <p:cNvPr id="15" name="Shape 12"/>
          <p:cNvSpPr/>
          <p:nvPr/>
        </p:nvSpPr>
        <p:spPr>
          <a:xfrm>
            <a:off x="4663440" y="1362456"/>
            <a:ext cx="3931920" cy="73152"/>
          </a:xfrm>
          <a:prstGeom prst="rect">
            <a:avLst/>
          </a:prstGeom>
          <a:solidFill>
            <a:srgbClr val="339933"/>
          </a:solidFill>
          <a:ln/>
        </p:spPr>
        <p:txBody>
          <a:bodyPr/>
          <a:lstStyle/>
          <a:p>
            <a:endParaRPr lang="ja-JP" altLang="en-US"/>
          </a:p>
        </p:txBody>
      </p:sp>
      <p:sp>
        <p:nvSpPr>
          <p:cNvPr id="16" name="Text 13"/>
          <p:cNvSpPr/>
          <p:nvPr/>
        </p:nvSpPr>
        <p:spPr>
          <a:xfrm>
            <a:off x="4937760" y="1568196"/>
            <a:ext cx="3474720" cy="365760"/>
          </a:xfrm>
          <a:prstGeom prst="rect">
            <a:avLst/>
          </a:prstGeom>
          <a:noFill/>
          <a:ln/>
        </p:spPr>
        <p:txBody>
          <a:bodyPr wrap="square" lIns="0" tIns="0" rIns="0" bIns="0" rtlCol="0" anchor="ctr"/>
          <a:lstStyle/>
          <a:p>
            <a:pPr marL="0" indent="0">
              <a:buNone/>
            </a:pPr>
            <a:r>
              <a:rPr lang="en-US" sz="1600" b="1" dirty="0">
                <a:solidFill>
                  <a:srgbClr val="000000"/>
                </a:solidFill>
                <a:latin typeface="Yu Gothic" pitchFamily="34" charset="0"/>
                <a:ea typeface="Yu Gothic" pitchFamily="34" charset="-122"/>
                <a:cs typeface="Yu Gothic" pitchFamily="34" charset="-120"/>
              </a:rPr>
              <a:t>方べきの定理</a:t>
            </a:r>
            <a:endParaRPr lang="en-US" sz="1600" dirty="0"/>
          </a:p>
        </p:txBody>
      </p:sp>
      <p:sp>
        <p:nvSpPr>
          <p:cNvPr id="18" name="Text 15"/>
          <p:cNvSpPr/>
          <p:nvPr/>
        </p:nvSpPr>
        <p:spPr>
          <a:xfrm>
            <a:off x="4937760" y="2743200"/>
            <a:ext cx="2103120" cy="1783080"/>
          </a:xfrm>
          <a:prstGeom prst="rect">
            <a:avLst/>
          </a:prstGeom>
          <a:noFill/>
          <a:ln/>
        </p:spPr>
        <p:txBody>
          <a:bodyPr wrap="square" lIns="0" tIns="0" rIns="0" bIns="0" rtlCol="0" anchor="ctr"/>
          <a:lstStyle/>
          <a:p>
            <a:pPr marL="0" indent="0">
              <a:lnSpc>
                <a:spcPct val="130000"/>
              </a:lnSpc>
              <a:buNone/>
            </a:pPr>
            <a:r>
              <a:rPr lang="en-US" sz="1600" dirty="0">
                <a:solidFill>
                  <a:srgbClr val="333333"/>
                </a:solidFill>
                <a:latin typeface="Yu Gothic" pitchFamily="34" charset="0"/>
                <a:ea typeface="Yu Gothic" pitchFamily="34" charset="-122"/>
                <a:cs typeface="Yu Gothic" pitchFamily="34" charset="-120"/>
              </a:rPr>
              <a:t>円とある1点を通る円上を通る2直線に関する定理</a:t>
            </a:r>
            <a:endParaRPr lang="en-US" sz="1600" dirty="0"/>
          </a:p>
        </p:txBody>
      </p:sp>
      <p:sp>
        <p:nvSpPr>
          <p:cNvPr id="19" name="Shape 16"/>
          <p:cNvSpPr/>
          <p:nvPr/>
        </p:nvSpPr>
        <p:spPr>
          <a:xfrm>
            <a:off x="7223760" y="2788920"/>
            <a:ext cx="1188720" cy="1188720"/>
          </a:xfrm>
          <a:prstGeom prst="rect">
            <a:avLst/>
          </a:prstGeom>
          <a:solidFill>
            <a:srgbClr val="FFFFFF"/>
          </a:solidFill>
          <a:ln w="9525">
            <a:solidFill>
              <a:srgbClr val="999999"/>
            </a:solidFill>
            <a:prstDash val="solid"/>
          </a:ln>
        </p:spPr>
        <p:txBody>
          <a:bodyPr/>
          <a:lstStyle/>
          <a:p>
            <a:endParaRPr lang="ja-JP" altLang="en-US"/>
          </a:p>
        </p:txBody>
      </p:sp>
      <p:pic>
        <p:nvPicPr>
          <p:cNvPr id="20" name="Image 1" descr="/sessions/great-ecstatic-newton/mnt/outputs/build/fig8.png"/>
          <p:cNvPicPr>
            <a:picLocks noChangeAspect="1"/>
          </p:cNvPicPr>
          <p:nvPr/>
        </p:nvPicPr>
        <p:blipFill>
          <a:blip r:embed="rId4"/>
          <a:stretch>
            <a:fillRect/>
          </a:stretch>
        </p:blipFill>
        <p:spPr>
          <a:xfrm>
            <a:off x="7269480" y="2834640"/>
            <a:ext cx="1097280" cy="1097280"/>
          </a:xfrm>
          <a:prstGeom prst="rect">
            <a:avLst/>
          </a:prstGeom>
        </p:spPr>
      </p:pic>
      <p:sp>
        <p:nvSpPr>
          <p:cNvPr id="21" name="Text 17"/>
          <p:cNvSpPr/>
          <p:nvPr/>
        </p:nvSpPr>
        <p:spPr>
          <a:xfrm>
            <a:off x="7086600" y="4023360"/>
            <a:ext cx="1463040" cy="594360"/>
          </a:xfrm>
          <a:prstGeom prst="rect">
            <a:avLst/>
          </a:prstGeom>
          <a:noFill/>
          <a:ln/>
        </p:spPr>
        <p:txBody>
          <a:bodyPr wrap="square" lIns="0" tIns="0" rIns="0" bIns="0" rtlCol="0" anchor="ctr"/>
          <a:lstStyle/>
          <a:p>
            <a:pPr marL="0" indent="0" algn="ctr">
              <a:lnSpc>
                <a:spcPct val="115000"/>
              </a:lnSpc>
              <a:buNone/>
            </a:pPr>
            <a:r>
              <a:rPr lang="en-US" sz="800" dirty="0">
                <a:solidFill>
                  <a:srgbClr val="333333"/>
                </a:solidFill>
                <a:latin typeface="Yu Gothic" pitchFamily="34" charset="0"/>
                <a:ea typeface="Yu Gothic" pitchFamily="34" charset="-122"/>
                <a:cs typeface="Yu Gothic" pitchFamily="34" charset="-120"/>
              </a:rPr>
              <a:t>点 X から引いた２本の割線 XAB, XCD</a:t>
            </a:r>
            <a:endParaRPr lang="en-US" sz="800" dirty="0"/>
          </a:p>
        </p:txBody>
      </p:sp>
      <p:sp>
        <p:nvSpPr>
          <p:cNvPr id="22" name="Text 18"/>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3" name="Text 19"/>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03</a:t>
            </a:r>
            <a:endParaRPr lang="en-US" sz="1000" dirty="0"/>
          </a:p>
        </p:txBody>
      </p:sp>
      <mc:AlternateContent xmlns:mc="http://schemas.openxmlformats.org/markup-compatibility/2006">
        <mc:Choice xmlns:a14="http://schemas.microsoft.com/office/drawing/2010/main" Requires="a14">
          <p:sp>
            <p:nvSpPr>
              <p:cNvPr id="24" name="テキスト ボックス 23">
                <a:extLst>
                  <a:ext uri="{FF2B5EF4-FFF2-40B4-BE49-F238E27FC236}">
                    <a16:creationId xmlns:a16="http://schemas.microsoft.com/office/drawing/2014/main" id="{FCF38199-0AB6-313B-B07C-80A53DE46869}"/>
                  </a:ext>
                </a:extLst>
              </p:cNvPr>
              <p:cNvSpPr txBox="1"/>
              <p:nvPr/>
            </p:nvSpPr>
            <p:spPr>
              <a:xfrm>
                <a:off x="966350" y="2198222"/>
                <a:ext cx="1633459" cy="56162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ja-JP" altLang="en-US" i="1" smtClean="0">
                              <a:solidFill>
                                <a:srgbClr val="7030A0"/>
                              </a:solidFill>
                              <a:latin typeface="Cambria Math" panose="02040503050406030204" pitchFamily="18" charset="0"/>
                            </a:rPr>
                          </m:ctrlPr>
                        </m:fPr>
                        <m:num>
                          <m:r>
                            <m:rPr>
                              <m:sty m:val="p"/>
                            </m:rPr>
                            <a:rPr lang="en-US" altLang="ja-JP" b="0" i="1" smtClean="0">
                              <a:solidFill>
                                <a:srgbClr val="7030A0"/>
                              </a:solidFill>
                              <a:latin typeface="Cambria Math" panose="02040503050406030204" pitchFamily="18" charset="0"/>
                            </a:rPr>
                            <m:t>XP</m:t>
                          </m:r>
                        </m:num>
                        <m:den>
                          <m:r>
                            <m:rPr>
                              <m:sty m:val="p"/>
                            </m:rPr>
                            <a:rPr lang="en-US" altLang="ja-JP" b="0" i="1" smtClean="0">
                              <a:solidFill>
                                <a:srgbClr val="7030A0"/>
                              </a:solidFill>
                              <a:latin typeface="Cambria Math" panose="02040503050406030204" pitchFamily="18" charset="0"/>
                            </a:rPr>
                            <m:t>PZ</m:t>
                          </m:r>
                        </m:den>
                      </m:f>
                      <m:r>
                        <a:rPr lang="ja-JP" altLang="en-US" i="1">
                          <a:solidFill>
                            <a:srgbClr val="7030A0"/>
                          </a:solidFill>
                          <a:latin typeface="Cambria Math" panose="02040503050406030204" pitchFamily="18" charset="0"/>
                        </a:rPr>
                        <m:t>∙</m:t>
                      </m:r>
                      <m:f>
                        <m:fPr>
                          <m:ctrlPr>
                            <a:rPr lang="ja-JP" altLang="en-US" i="1">
                              <a:solidFill>
                                <a:srgbClr val="7030A0"/>
                              </a:solidFill>
                              <a:latin typeface="Cambria Math" panose="02040503050406030204" pitchFamily="18" charset="0"/>
                            </a:rPr>
                          </m:ctrlPr>
                        </m:fPr>
                        <m:num>
                          <m:r>
                            <m:rPr>
                              <m:sty m:val="p"/>
                            </m:rPr>
                            <a:rPr lang="en-US" altLang="ja-JP" b="0" i="1" smtClean="0">
                              <a:solidFill>
                                <a:srgbClr val="7030A0"/>
                              </a:solidFill>
                              <a:latin typeface="Cambria Math" panose="02040503050406030204" pitchFamily="18" charset="0"/>
                            </a:rPr>
                            <m:t>ZQ</m:t>
                          </m:r>
                        </m:num>
                        <m:den>
                          <m:r>
                            <m:rPr>
                              <m:sty m:val="p"/>
                            </m:rPr>
                            <a:rPr lang="en-US" altLang="ja-JP" b="0" i="1" smtClean="0">
                              <a:solidFill>
                                <a:srgbClr val="7030A0"/>
                              </a:solidFill>
                              <a:latin typeface="Cambria Math" panose="02040503050406030204" pitchFamily="18" charset="0"/>
                            </a:rPr>
                            <m:t>QY</m:t>
                          </m:r>
                        </m:den>
                      </m:f>
                      <m:r>
                        <a:rPr lang="ja-JP" altLang="en-US" i="1">
                          <a:solidFill>
                            <a:srgbClr val="7030A0"/>
                          </a:solidFill>
                          <a:latin typeface="Cambria Math" panose="02040503050406030204" pitchFamily="18" charset="0"/>
                        </a:rPr>
                        <m:t>∙</m:t>
                      </m:r>
                      <m:f>
                        <m:fPr>
                          <m:ctrlPr>
                            <a:rPr lang="ja-JP" altLang="en-US" i="1">
                              <a:solidFill>
                                <a:srgbClr val="7030A0"/>
                              </a:solidFill>
                              <a:latin typeface="Cambria Math" panose="02040503050406030204" pitchFamily="18" charset="0"/>
                            </a:rPr>
                          </m:ctrlPr>
                        </m:fPr>
                        <m:num>
                          <m:r>
                            <m:rPr>
                              <m:sty m:val="p"/>
                            </m:rPr>
                            <a:rPr lang="en-US" altLang="ja-JP" b="0" i="1" smtClean="0">
                              <a:solidFill>
                                <a:srgbClr val="7030A0"/>
                              </a:solidFill>
                              <a:latin typeface="Cambria Math" panose="02040503050406030204" pitchFamily="18" charset="0"/>
                            </a:rPr>
                            <m:t>YR</m:t>
                          </m:r>
                        </m:num>
                        <m:den>
                          <m:r>
                            <m:rPr>
                              <m:sty m:val="p"/>
                            </m:rPr>
                            <a:rPr lang="en-US" altLang="ja-JP" b="0" i="1" smtClean="0">
                              <a:solidFill>
                                <a:srgbClr val="7030A0"/>
                              </a:solidFill>
                              <a:latin typeface="Cambria Math" panose="02040503050406030204" pitchFamily="18" charset="0"/>
                            </a:rPr>
                            <m:t>RX</m:t>
                          </m:r>
                        </m:den>
                      </m:f>
                      <m:r>
                        <a:rPr lang="en-US" altLang="ja-JP" i="1">
                          <a:solidFill>
                            <a:srgbClr val="7030A0"/>
                          </a:solidFill>
                          <a:latin typeface="Cambria Math" panose="02040503050406030204" pitchFamily="18" charset="0"/>
                        </a:rPr>
                        <m:t>=1</m:t>
                      </m:r>
                    </m:oMath>
                  </m:oMathPara>
                </a14:m>
                <a:endParaRPr lang="ja-JP" altLang="en-US">
                  <a:solidFill>
                    <a:srgbClr val="7030A0"/>
                  </a:solidFill>
                </a:endParaRPr>
              </a:p>
            </p:txBody>
          </p:sp>
        </mc:Choice>
        <mc:Fallback>
          <p:sp>
            <p:nvSpPr>
              <p:cNvPr id="24" name="テキスト ボックス 23">
                <a:extLst>
                  <a:ext uri="{FF2B5EF4-FFF2-40B4-BE49-F238E27FC236}">
                    <a16:creationId xmlns:a16="http://schemas.microsoft.com/office/drawing/2014/main" id="{FCF38199-0AB6-313B-B07C-80A53DE46869}"/>
                  </a:ext>
                </a:extLst>
              </p:cNvPr>
              <p:cNvSpPr txBox="1">
                <a:spLocks noRot="1" noChangeAspect="1" noMove="1" noResize="1" noEditPoints="1" noAdjustHandles="1" noChangeArrowheads="1" noChangeShapeType="1" noTextEdit="1"/>
              </p:cNvSpPr>
              <p:nvPr/>
            </p:nvSpPr>
            <p:spPr>
              <a:xfrm>
                <a:off x="966350" y="2198222"/>
                <a:ext cx="1633459" cy="561629"/>
              </a:xfrm>
              <a:prstGeom prst="rect">
                <a:avLst/>
              </a:prstGeom>
              <a:blipFill>
                <a:blip r:embed="rId5"/>
                <a:stretch>
                  <a:fillRect l="-3101" t="-6667" r="-3101" b="-133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7" name="テキスト ボックス 26">
                <a:extLst>
                  <a:ext uri="{FF2B5EF4-FFF2-40B4-BE49-F238E27FC236}">
                    <a16:creationId xmlns:a16="http://schemas.microsoft.com/office/drawing/2014/main" id="{5365CB78-000E-EB6D-8956-FB24DDBB9183}"/>
                  </a:ext>
                </a:extLst>
              </p:cNvPr>
              <p:cNvSpPr txBox="1"/>
              <p:nvPr/>
            </p:nvSpPr>
            <p:spPr>
              <a:xfrm>
                <a:off x="4937760" y="2294370"/>
                <a:ext cx="228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i="1" smtClean="0">
                          <a:solidFill>
                            <a:schemeClr val="accent6"/>
                          </a:solidFill>
                          <a:latin typeface="Cambria Math" panose="02040503050406030204" pitchFamily="18" charset="0"/>
                        </a:rPr>
                        <m:t>X</m:t>
                      </m:r>
                      <m:r>
                        <m:rPr>
                          <m:sty m:val="p"/>
                        </m:rPr>
                        <a:rPr kumimoji="1" lang="en-US" altLang="ja-JP" b="0" i="1" smtClean="0">
                          <a:solidFill>
                            <a:schemeClr val="accent6"/>
                          </a:solidFill>
                          <a:latin typeface="Cambria Math" panose="02040503050406030204" pitchFamily="18" charset="0"/>
                        </a:rPr>
                        <m:t>A</m:t>
                      </m:r>
                      <m:r>
                        <a:rPr kumimoji="1" lang="en-US" altLang="ja-JP" b="0" i="1" smtClean="0">
                          <a:solidFill>
                            <a:schemeClr val="accent6"/>
                          </a:solidFill>
                          <a:latin typeface="Cambria Math" panose="02040503050406030204" pitchFamily="18" charset="0"/>
                          <a:ea typeface="Cambria Math" panose="02040503050406030204" pitchFamily="18" charset="0"/>
                        </a:rPr>
                        <m:t>∙</m:t>
                      </m:r>
                      <m:r>
                        <m:rPr>
                          <m:sty m:val="p"/>
                        </m:rPr>
                        <a:rPr kumimoji="1" lang="en-US" altLang="ja-JP" b="0" i="1" smtClean="0">
                          <a:solidFill>
                            <a:schemeClr val="accent6"/>
                          </a:solidFill>
                          <a:latin typeface="Cambria Math" panose="02040503050406030204" pitchFamily="18" charset="0"/>
                          <a:ea typeface="Cambria Math" panose="02040503050406030204" pitchFamily="18" charset="0"/>
                        </a:rPr>
                        <m:t>XB</m:t>
                      </m:r>
                      <m:r>
                        <a:rPr kumimoji="1" lang="en-US" altLang="ja-JP" b="0" i="1" smtClean="0">
                          <a:solidFill>
                            <a:schemeClr val="accent6"/>
                          </a:solidFill>
                          <a:latin typeface="Cambria Math" panose="02040503050406030204" pitchFamily="18" charset="0"/>
                        </a:rPr>
                        <m:t>=</m:t>
                      </m:r>
                      <m:r>
                        <m:rPr>
                          <m:sty m:val="p"/>
                        </m:rPr>
                        <a:rPr kumimoji="1" lang="en-US" altLang="ja-JP" b="0" i="1" smtClean="0">
                          <a:solidFill>
                            <a:schemeClr val="accent6"/>
                          </a:solidFill>
                          <a:latin typeface="Cambria Math" panose="02040503050406030204" pitchFamily="18" charset="0"/>
                        </a:rPr>
                        <m:t>XC</m:t>
                      </m:r>
                      <m:r>
                        <a:rPr kumimoji="1" lang="en-US" altLang="ja-JP" b="0" i="1" smtClean="0">
                          <a:solidFill>
                            <a:schemeClr val="accent6"/>
                          </a:solidFill>
                          <a:latin typeface="Cambria Math" panose="02040503050406030204" pitchFamily="18" charset="0"/>
                          <a:ea typeface="Cambria Math" panose="02040503050406030204" pitchFamily="18" charset="0"/>
                        </a:rPr>
                        <m:t>∙</m:t>
                      </m:r>
                      <m:r>
                        <m:rPr>
                          <m:sty m:val="p"/>
                        </m:rPr>
                        <a:rPr kumimoji="1" lang="en-US" altLang="ja-JP" b="0" i="1" smtClean="0">
                          <a:solidFill>
                            <a:schemeClr val="accent6"/>
                          </a:solidFill>
                          <a:latin typeface="Cambria Math" panose="02040503050406030204" pitchFamily="18" charset="0"/>
                          <a:ea typeface="Cambria Math" panose="02040503050406030204" pitchFamily="18" charset="0"/>
                        </a:rPr>
                        <m:t>XD</m:t>
                      </m:r>
                    </m:oMath>
                  </m:oMathPara>
                </a14:m>
                <a:endParaRPr kumimoji="1" lang="ja-JP" altLang="en-US">
                  <a:solidFill>
                    <a:schemeClr val="accent6"/>
                  </a:solidFill>
                </a:endParaRPr>
              </a:p>
            </p:txBody>
          </p:sp>
        </mc:Choice>
        <mc:Fallback>
          <p:sp>
            <p:nvSpPr>
              <p:cNvPr id="27" name="テキスト ボックス 26">
                <a:extLst>
                  <a:ext uri="{FF2B5EF4-FFF2-40B4-BE49-F238E27FC236}">
                    <a16:creationId xmlns:a16="http://schemas.microsoft.com/office/drawing/2014/main" id="{5365CB78-000E-EB6D-8956-FB24DDBB9183}"/>
                  </a:ext>
                </a:extLst>
              </p:cNvPr>
              <p:cNvSpPr txBox="1">
                <a:spLocks noRot="1" noChangeAspect="1" noMove="1" noResize="1" noEditPoints="1" noAdjustHandles="1" noChangeArrowheads="1" noChangeShapeType="1" noTextEdit="1"/>
              </p:cNvSpPr>
              <p:nvPr/>
            </p:nvSpPr>
            <p:spPr>
              <a:xfrm>
                <a:off x="4937760" y="2294370"/>
                <a:ext cx="2286000" cy="369332"/>
              </a:xfrm>
              <a:prstGeom prst="rect">
                <a:avLst/>
              </a:prstGeom>
              <a:blipFill>
                <a:blip r:embed="rId6"/>
                <a:stretch>
                  <a:fillRect/>
                </a:stretch>
              </a:blipFill>
            </p:spPr>
            <p:txBody>
              <a:bodyPr/>
              <a:lstStyle/>
              <a:p>
                <a:r>
                  <a:rPr lang="ja-JP"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C6600"/>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CC6600"/>
                </a:solidFill>
                <a:latin typeface="Yu Gothic" pitchFamily="34" charset="0"/>
                <a:ea typeface="Yu Gothic" pitchFamily="34" charset="-122"/>
                <a:cs typeface="Yu Gothic" pitchFamily="34" charset="-120"/>
              </a:rPr>
              <a:t>THEOREM</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パスカルの定理</a:t>
            </a:r>
            <a:endParaRPr lang="en-US" sz="3000" dirty="0"/>
          </a:p>
        </p:txBody>
      </p:sp>
      <p:sp>
        <p:nvSpPr>
          <p:cNvPr id="5" name="Shape 3"/>
          <p:cNvSpPr/>
          <p:nvPr/>
        </p:nvSpPr>
        <p:spPr>
          <a:xfrm>
            <a:off x="457200" y="1371600"/>
            <a:ext cx="8229600" cy="3456432"/>
          </a:xfrm>
          <a:prstGeom prst="rect">
            <a:avLst/>
          </a:prstGeom>
          <a:solidFill>
            <a:srgbClr val="FFFFFF"/>
          </a:solidFill>
          <a:ln w="12700">
            <a:solidFill>
              <a:srgbClr val="CC6600"/>
            </a:solidFill>
            <a:prstDash val="solid"/>
          </a:ln>
        </p:spPr>
        <p:txBody>
          <a:bodyPr/>
          <a:lstStyle/>
          <a:p>
            <a:endParaRPr lang="ja-JP" altLang="en-US"/>
          </a:p>
        </p:txBody>
      </p:sp>
      <p:sp>
        <p:nvSpPr>
          <p:cNvPr id="6" name="Text 4"/>
          <p:cNvSpPr/>
          <p:nvPr/>
        </p:nvSpPr>
        <p:spPr>
          <a:xfrm>
            <a:off x="731520" y="1481328"/>
            <a:ext cx="7680960" cy="822960"/>
          </a:xfrm>
          <a:prstGeom prst="rect">
            <a:avLst/>
          </a:prstGeom>
          <a:noFill/>
          <a:ln/>
        </p:spPr>
        <p:txBody>
          <a:bodyPr wrap="square" lIns="0" tIns="0" rIns="0" bIns="0" rtlCol="0" anchor="ctr"/>
          <a:lstStyle/>
          <a:p>
            <a:pPr marL="0" indent="0">
              <a:buNone/>
            </a:pPr>
            <a:r>
              <a:rPr lang="en-US" sz="2400" dirty="0">
                <a:solidFill>
                  <a:srgbClr val="000000"/>
                </a:solidFill>
                <a:latin typeface="Yu Gothic" pitchFamily="34" charset="0"/>
                <a:ea typeface="Yu Gothic" pitchFamily="34" charset="-122"/>
                <a:cs typeface="Yu Gothic" pitchFamily="34" charset="-120"/>
              </a:rPr>
              <a:t>円に内接する六角形 ABCDEF において，対辺の延長線の交点を以下のように定める。</a:t>
            </a:r>
            <a:endParaRPr lang="en-US" sz="2400" dirty="0"/>
          </a:p>
        </p:txBody>
      </p:sp>
      <p:sp>
        <p:nvSpPr>
          <p:cNvPr id="7" name="Shape 5"/>
          <p:cNvSpPr/>
          <p:nvPr/>
        </p:nvSpPr>
        <p:spPr>
          <a:xfrm>
            <a:off x="731520" y="2379980"/>
            <a:ext cx="457200" cy="457200"/>
          </a:xfrm>
          <a:prstGeom prst="ellipse">
            <a:avLst/>
          </a:prstGeom>
          <a:solidFill>
            <a:srgbClr val="FFFFFF"/>
          </a:solidFill>
          <a:ln w="19050">
            <a:solidFill>
              <a:srgbClr val="CC6600"/>
            </a:solidFill>
            <a:prstDash val="solid"/>
          </a:ln>
        </p:spPr>
        <p:txBody>
          <a:bodyPr/>
          <a:lstStyle/>
          <a:p>
            <a:endParaRPr lang="ja-JP" altLang="en-US"/>
          </a:p>
        </p:txBody>
      </p:sp>
      <p:sp>
        <p:nvSpPr>
          <p:cNvPr id="8" name="Text 6"/>
          <p:cNvSpPr/>
          <p:nvPr/>
        </p:nvSpPr>
        <p:spPr>
          <a:xfrm>
            <a:off x="731520" y="2379980"/>
            <a:ext cx="457200" cy="457200"/>
          </a:xfrm>
          <a:prstGeom prst="rect">
            <a:avLst/>
          </a:prstGeom>
          <a:noFill/>
          <a:ln/>
        </p:spPr>
        <p:txBody>
          <a:bodyPr wrap="square" lIns="0" tIns="0" rIns="0" bIns="0" rtlCol="0" anchor="ctr"/>
          <a:lstStyle/>
          <a:p>
            <a:pPr marL="0" indent="0" algn="ctr">
              <a:buNone/>
            </a:pPr>
            <a:r>
              <a:rPr lang="en-US" sz="1600" b="1" dirty="0">
                <a:solidFill>
                  <a:srgbClr val="CC6600"/>
                </a:solidFill>
                <a:latin typeface="Yu Mincho" pitchFamily="34" charset="0"/>
                <a:ea typeface="Yu Mincho" pitchFamily="34" charset="-122"/>
                <a:cs typeface="Yu Mincho" pitchFamily="34" charset="-120"/>
              </a:rPr>
              <a:t>P</a:t>
            </a:r>
            <a:endParaRPr lang="en-US" sz="1600" dirty="0"/>
          </a:p>
        </p:txBody>
      </p:sp>
      <p:sp>
        <p:nvSpPr>
          <p:cNvPr id="9" name="Text 7"/>
          <p:cNvSpPr/>
          <p:nvPr/>
        </p:nvSpPr>
        <p:spPr>
          <a:xfrm>
            <a:off x="1371600" y="2379980"/>
            <a:ext cx="5029200" cy="457200"/>
          </a:xfrm>
          <a:prstGeom prst="rect">
            <a:avLst/>
          </a:prstGeom>
          <a:noFill/>
          <a:ln/>
        </p:spPr>
        <p:txBody>
          <a:bodyPr wrap="square" lIns="0" tIns="0" rIns="0" bIns="0" rtlCol="0" anchor="ctr"/>
          <a:lstStyle/>
          <a:p>
            <a:pPr marL="0" indent="0">
              <a:buNone/>
            </a:pPr>
            <a:r>
              <a:rPr lang="en-US" sz="1400" dirty="0">
                <a:solidFill>
                  <a:srgbClr val="000000"/>
                </a:solidFill>
                <a:latin typeface="Yu Gothic" pitchFamily="34" charset="0"/>
                <a:ea typeface="Yu Gothic" pitchFamily="34" charset="-122"/>
                <a:cs typeface="Yu Gothic" pitchFamily="34" charset="-120"/>
              </a:rPr>
              <a:t>直線 AB と直線 DE の交点</a:t>
            </a:r>
            <a:endParaRPr lang="en-US" sz="1400" dirty="0"/>
          </a:p>
        </p:txBody>
      </p:sp>
      <p:sp>
        <p:nvSpPr>
          <p:cNvPr id="10" name="Shape 8"/>
          <p:cNvSpPr/>
          <p:nvPr/>
        </p:nvSpPr>
        <p:spPr>
          <a:xfrm>
            <a:off x="731520" y="2946908"/>
            <a:ext cx="457200" cy="457200"/>
          </a:xfrm>
          <a:prstGeom prst="ellipse">
            <a:avLst/>
          </a:prstGeom>
          <a:solidFill>
            <a:srgbClr val="FFFFFF"/>
          </a:solidFill>
          <a:ln w="19050">
            <a:solidFill>
              <a:srgbClr val="336699"/>
            </a:solidFill>
            <a:prstDash val="solid"/>
          </a:ln>
        </p:spPr>
        <p:txBody>
          <a:bodyPr/>
          <a:lstStyle/>
          <a:p>
            <a:endParaRPr lang="ja-JP" altLang="en-US"/>
          </a:p>
        </p:txBody>
      </p:sp>
      <p:sp>
        <p:nvSpPr>
          <p:cNvPr id="11" name="Text 9"/>
          <p:cNvSpPr/>
          <p:nvPr/>
        </p:nvSpPr>
        <p:spPr>
          <a:xfrm>
            <a:off x="731520" y="2946908"/>
            <a:ext cx="457200" cy="457200"/>
          </a:xfrm>
          <a:prstGeom prst="rect">
            <a:avLst/>
          </a:prstGeom>
          <a:noFill/>
          <a:ln/>
        </p:spPr>
        <p:txBody>
          <a:bodyPr wrap="square" lIns="0" tIns="0" rIns="0" bIns="0" rtlCol="0" anchor="ctr"/>
          <a:lstStyle/>
          <a:p>
            <a:pPr marL="0" indent="0" algn="ctr">
              <a:buNone/>
            </a:pPr>
            <a:r>
              <a:rPr lang="en-US" sz="1600" b="1" dirty="0">
                <a:solidFill>
                  <a:srgbClr val="336699"/>
                </a:solidFill>
                <a:latin typeface="Yu Mincho" pitchFamily="34" charset="0"/>
                <a:ea typeface="Yu Mincho" pitchFamily="34" charset="-122"/>
                <a:cs typeface="Yu Mincho" pitchFamily="34" charset="-120"/>
              </a:rPr>
              <a:t>Q</a:t>
            </a:r>
            <a:endParaRPr lang="en-US" sz="1600" dirty="0"/>
          </a:p>
        </p:txBody>
      </p:sp>
      <p:sp>
        <p:nvSpPr>
          <p:cNvPr id="12" name="Text 10"/>
          <p:cNvSpPr/>
          <p:nvPr/>
        </p:nvSpPr>
        <p:spPr>
          <a:xfrm>
            <a:off x="1371600" y="2946908"/>
            <a:ext cx="5029200" cy="457200"/>
          </a:xfrm>
          <a:prstGeom prst="rect">
            <a:avLst/>
          </a:prstGeom>
          <a:noFill/>
          <a:ln/>
        </p:spPr>
        <p:txBody>
          <a:bodyPr wrap="square" lIns="0" tIns="0" rIns="0" bIns="0" rtlCol="0" anchor="ctr"/>
          <a:lstStyle/>
          <a:p>
            <a:pPr marL="0" indent="0">
              <a:buNone/>
            </a:pPr>
            <a:r>
              <a:rPr lang="en-US" sz="1400" dirty="0">
                <a:solidFill>
                  <a:srgbClr val="000000"/>
                </a:solidFill>
                <a:latin typeface="Yu Gothic" pitchFamily="34" charset="0"/>
                <a:ea typeface="Yu Gothic" pitchFamily="34" charset="-122"/>
                <a:cs typeface="Yu Gothic" pitchFamily="34" charset="-120"/>
              </a:rPr>
              <a:t>直線 BC と直線 EF の交点</a:t>
            </a:r>
            <a:endParaRPr lang="en-US" sz="1400" dirty="0"/>
          </a:p>
        </p:txBody>
      </p:sp>
      <p:sp>
        <p:nvSpPr>
          <p:cNvPr id="13" name="Shape 11"/>
          <p:cNvSpPr/>
          <p:nvPr/>
        </p:nvSpPr>
        <p:spPr>
          <a:xfrm>
            <a:off x="731520" y="3513836"/>
            <a:ext cx="457200" cy="457200"/>
          </a:xfrm>
          <a:prstGeom prst="ellipse">
            <a:avLst/>
          </a:prstGeom>
          <a:solidFill>
            <a:srgbClr val="FFFFFF"/>
          </a:solidFill>
          <a:ln w="19050">
            <a:solidFill>
              <a:srgbClr val="339933"/>
            </a:solidFill>
            <a:prstDash val="solid"/>
          </a:ln>
        </p:spPr>
        <p:txBody>
          <a:bodyPr/>
          <a:lstStyle/>
          <a:p>
            <a:endParaRPr lang="ja-JP" altLang="en-US"/>
          </a:p>
        </p:txBody>
      </p:sp>
      <p:sp>
        <p:nvSpPr>
          <p:cNvPr id="14" name="Text 12"/>
          <p:cNvSpPr/>
          <p:nvPr/>
        </p:nvSpPr>
        <p:spPr>
          <a:xfrm>
            <a:off x="731520" y="3513836"/>
            <a:ext cx="457200" cy="457200"/>
          </a:xfrm>
          <a:prstGeom prst="rect">
            <a:avLst/>
          </a:prstGeom>
          <a:noFill/>
          <a:ln/>
        </p:spPr>
        <p:txBody>
          <a:bodyPr wrap="square" lIns="0" tIns="0" rIns="0" bIns="0" rtlCol="0" anchor="ctr"/>
          <a:lstStyle/>
          <a:p>
            <a:pPr marL="0" indent="0" algn="ctr">
              <a:buNone/>
            </a:pPr>
            <a:r>
              <a:rPr lang="en-US" sz="1600" b="1" dirty="0">
                <a:solidFill>
                  <a:srgbClr val="339933"/>
                </a:solidFill>
                <a:latin typeface="Yu Mincho" pitchFamily="34" charset="0"/>
                <a:ea typeface="Yu Mincho" pitchFamily="34" charset="-122"/>
                <a:cs typeface="Yu Mincho" pitchFamily="34" charset="-120"/>
              </a:rPr>
              <a:t>R</a:t>
            </a:r>
            <a:endParaRPr lang="en-US" sz="1600" dirty="0"/>
          </a:p>
        </p:txBody>
      </p:sp>
      <p:sp>
        <p:nvSpPr>
          <p:cNvPr id="15" name="Text 13"/>
          <p:cNvSpPr/>
          <p:nvPr/>
        </p:nvSpPr>
        <p:spPr>
          <a:xfrm>
            <a:off x="1371600" y="3513836"/>
            <a:ext cx="5029200" cy="457200"/>
          </a:xfrm>
          <a:prstGeom prst="rect">
            <a:avLst/>
          </a:prstGeom>
          <a:noFill/>
          <a:ln/>
        </p:spPr>
        <p:txBody>
          <a:bodyPr wrap="square" lIns="0" tIns="0" rIns="0" bIns="0" rtlCol="0" anchor="ctr"/>
          <a:lstStyle/>
          <a:p>
            <a:pPr marL="0" indent="0">
              <a:buNone/>
            </a:pPr>
            <a:r>
              <a:rPr lang="en-US" sz="1400" dirty="0">
                <a:solidFill>
                  <a:srgbClr val="000000"/>
                </a:solidFill>
                <a:latin typeface="Yu Gothic" pitchFamily="34" charset="0"/>
                <a:ea typeface="Yu Gothic" pitchFamily="34" charset="-122"/>
                <a:cs typeface="Yu Gothic" pitchFamily="34" charset="-120"/>
              </a:rPr>
              <a:t>直線 CD と直線 FA の交点</a:t>
            </a:r>
            <a:endParaRPr lang="en-US" sz="1400" dirty="0"/>
          </a:p>
        </p:txBody>
      </p:sp>
      <p:sp>
        <p:nvSpPr>
          <p:cNvPr id="16" name="Shape 14"/>
          <p:cNvSpPr/>
          <p:nvPr/>
        </p:nvSpPr>
        <p:spPr>
          <a:xfrm>
            <a:off x="731520" y="4142013"/>
            <a:ext cx="7680960" cy="0"/>
          </a:xfrm>
          <a:prstGeom prst="line">
            <a:avLst/>
          </a:prstGeom>
          <a:noFill/>
          <a:ln w="12700">
            <a:solidFill>
              <a:srgbClr val="999999"/>
            </a:solidFill>
            <a:prstDash val="solid"/>
          </a:ln>
        </p:spPr>
        <p:txBody>
          <a:bodyPr/>
          <a:lstStyle/>
          <a:p>
            <a:endParaRPr lang="ja-JP" altLang="en-US"/>
          </a:p>
        </p:txBody>
      </p:sp>
      <p:sp>
        <p:nvSpPr>
          <p:cNvPr id="17" name="Text 15"/>
          <p:cNvSpPr/>
          <p:nvPr/>
        </p:nvSpPr>
        <p:spPr>
          <a:xfrm>
            <a:off x="731520" y="4306604"/>
            <a:ext cx="7680960" cy="365760"/>
          </a:xfrm>
          <a:prstGeom prst="rect">
            <a:avLst/>
          </a:prstGeom>
          <a:noFill/>
          <a:ln/>
        </p:spPr>
        <p:txBody>
          <a:bodyPr wrap="square" lIns="0" tIns="0" rIns="0" bIns="0" rtlCol="0" anchor="ctr"/>
          <a:lstStyle/>
          <a:p>
            <a:pPr marL="0" indent="0">
              <a:buNone/>
            </a:pPr>
            <a:r>
              <a:rPr lang="en-US" sz="2000" b="1" dirty="0">
                <a:solidFill>
                  <a:srgbClr val="333333"/>
                </a:solidFill>
                <a:latin typeface="Yu Gothic" pitchFamily="34" charset="0"/>
                <a:ea typeface="Yu Gothic" pitchFamily="34" charset="-122"/>
                <a:cs typeface="Yu Gothic" pitchFamily="34" charset="-120"/>
              </a:rPr>
              <a:t>このとき、</a:t>
            </a:r>
            <a:r>
              <a:rPr lang="en-US" sz="2000" b="1" dirty="0">
                <a:solidFill>
                  <a:srgbClr val="000000"/>
                </a:solidFill>
                <a:latin typeface="Yu Gothic" pitchFamily="34" charset="0"/>
                <a:ea typeface="Yu Gothic" pitchFamily="34" charset="-122"/>
                <a:cs typeface="Yu Gothic" pitchFamily="34" charset="-120"/>
              </a:rPr>
              <a:t>３点 P，Q，R は同一直線上（パスカル線）にある。</a:t>
            </a:r>
            <a:endParaRPr lang="en-US" sz="2000" dirty="0"/>
          </a:p>
        </p:txBody>
      </p:sp>
      <p:sp>
        <p:nvSpPr>
          <p:cNvPr id="18" name="Text 16"/>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9" name="Text 17"/>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04</a:t>
            </a:r>
            <a:endParaRPr lang="en-US" sz="1000" dirty="0"/>
          </a:p>
        </p:txBody>
      </p:sp>
      <p:sp>
        <p:nvSpPr>
          <p:cNvPr id="20" name="Shape 19">
            <a:extLst>
              <a:ext uri="{FF2B5EF4-FFF2-40B4-BE49-F238E27FC236}">
                <a16:creationId xmlns:a16="http://schemas.microsoft.com/office/drawing/2014/main" id="{8232697E-FD01-D1E4-2868-9C153F329A18}"/>
              </a:ext>
            </a:extLst>
          </p:cNvPr>
          <p:cNvSpPr/>
          <p:nvPr/>
        </p:nvSpPr>
        <p:spPr>
          <a:xfrm>
            <a:off x="5829300" y="1942174"/>
            <a:ext cx="2583179" cy="2173896"/>
          </a:xfrm>
          <a:prstGeom prst="rect">
            <a:avLst/>
          </a:prstGeom>
          <a:solidFill>
            <a:srgbClr val="FFFFFF"/>
          </a:solidFill>
          <a:ln w="9525">
            <a:solidFill>
              <a:srgbClr val="999999"/>
            </a:solidFill>
            <a:prstDash val="solid"/>
          </a:ln>
        </p:spPr>
        <p:txBody>
          <a:bodyPr/>
          <a:lstStyle/>
          <a:p>
            <a:endParaRPr lang="ja-JP" altLang="en-US"/>
          </a:p>
        </p:txBody>
      </p:sp>
      <p:grpSp>
        <p:nvGrpSpPr>
          <p:cNvPr id="21" name="グループ化 20">
            <a:extLst>
              <a:ext uri="{FF2B5EF4-FFF2-40B4-BE49-F238E27FC236}">
                <a16:creationId xmlns:a16="http://schemas.microsoft.com/office/drawing/2014/main" id="{96D6F088-2780-08BB-7150-B56CA955007F}"/>
              </a:ext>
            </a:extLst>
          </p:cNvPr>
          <p:cNvGrpSpPr/>
          <p:nvPr/>
        </p:nvGrpSpPr>
        <p:grpSpPr>
          <a:xfrm>
            <a:off x="5829302" y="2076056"/>
            <a:ext cx="2583178" cy="1753656"/>
            <a:chOff x="2212982" y="-154951"/>
            <a:chExt cx="7997453" cy="5429267"/>
          </a:xfrm>
        </p:grpSpPr>
        <p:cxnSp>
          <p:nvCxnSpPr>
            <p:cNvPr id="22" name="直線コネクタ 21">
              <a:extLst>
                <a:ext uri="{FF2B5EF4-FFF2-40B4-BE49-F238E27FC236}">
                  <a16:creationId xmlns:a16="http://schemas.microsoft.com/office/drawing/2014/main" id="{DC74FB12-E40F-EAED-59EF-DDDD899A536C}"/>
                </a:ext>
              </a:extLst>
            </p:cNvPr>
            <p:cNvCxnSpPr>
              <a:cxnSpLocks/>
            </p:cNvCxnSpPr>
            <p:nvPr/>
          </p:nvCxnSpPr>
          <p:spPr>
            <a:xfrm flipV="1">
              <a:off x="5962891" y="2685797"/>
              <a:ext cx="1767364" cy="2511943"/>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E1687831-2677-6C8C-AF88-3A7CE768B3FB}"/>
                </a:ext>
              </a:extLst>
            </p:cNvPr>
            <p:cNvCxnSpPr>
              <a:cxnSpLocks/>
            </p:cNvCxnSpPr>
            <p:nvPr/>
          </p:nvCxnSpPr>
          <p:spPr>
            <a:xfrm flipV="1">
              <a:off x="2212982" y="3091528"/>
              <a:ext cx="6092435" cy="2133496"/>
            </a:xfrm>
            <a:prstGeom prst="line">
              <a:avLst/>
            </a:prstGeom>
            <a:ln w="19050">
              <a:solidFill>
                <a:schemeClr val="accent6">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1B0D1337-69ED-DA41-E123-C8552304E469}"/>
                </a:ext>
              </a:extLst>
            </p:cNvPr>
            <p:cNvCxnSpPr>
              <a:cxnSpLocks/>
            </p:cNvCxnSpPr>
            <p:nvPr/>
          </p:nvCxnSpPr>
          <p:spPr>
            <a:xfrm flipH="1" flipV="1">
              <a:off x="4237936" y="2959416"/>
              <a:ext cx="5908665" cy="2154341"/>
            </a:xfrm>
            <a:prstGeom prst="line">
              <a:avLst/>
            </a:prstGeom>
            <a:ln w="1905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04CDC256-AFA3-A544-854A-A77C1C924EB8}"/>
                </a:ext>
              </a:extLst>
            </p:cNvPr>
            <p:cNvCxnSpPr>
              <a:cxnSpLocks/>
            </p:cNvCxnSpPr>
            <p:nvPr/>
          </p:nvCxnSpPr>
          <p:spPr>
            <a:xfrm flipH="1" flipV="1">
              <a:off x="4456951" y="-105658"/>
              <a:ext cx="1719231" cy="5314027"/>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86F990DF-1B61-709B-A8A3-4E4EF1E775E5}"/>
                </a:ext>
              </a:extLst>
            </p:cNvPr>
            <p:cNvCxnSpPr>
              <a:cxnSpLocks/>
            </p:cNvCxnSpPr>
            <p:nvPr/>
          </p:nvCxnSpPr>
          <p:spPr>
            <a:xfrm flipV="1">
              <a:off x="2585013" y="505655"/>
              <a:ext cx="4154398" cy="4768661"/>
            </a:xfrm>
            <a:prstGeom prst="line">
              <a:avLst/>
            </a:prstGeom>
            <a:ln w="19050">
              <a:solidFill>
                <a:schemeClr val="accent6">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C39E3BFB-650D-903A-7656-20D2341EB7DF}"/>
                </a:ext>
              </a:extLst>
            </p:cNvPr>
            <p:cNvCxnSpPr>
              <a:cxnSpLocks/>
            </p:cNvCxnSpPr>
            <p:nvPr/>
          </p:nvCxnSpPr>
          <p:spPr>
            <a:xfrm>
              <a:off x="4266375" y="-154951"/>
              <a:ext cx="5717852" cy="5344363"/>
            </a:xfrm>
            <a:prstGeom prst="line">
              <a:avLst/>
            </a:prstGeom>
            <a:ln w="1905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8" name="Shape 0">
              <a:extLst>
                <a:ext uri="{FF2B5EF4-FFF2-40B4-BE49-F238E27FC236}">
                  <a16:creationId xmlns:a16="http://schemas.microsoft.com/office/drawing/2014/main" id="{D9CCC6A5-4E81-39AF-9D6C-CD3D2F207888}"/>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29" name="Shape 1">
              <a:extLst>
                <a:ext uri="{FF2B5EF4-FFF2-40B4-BE49-F238E27FC236}">
                  <a16:creationId xmlns:a16="http://schemas.microsoft.com/office/drawing/2014/main" id="{C76A97CD-88FF-E913-F7C2-4B6976309EEC}"/>
                </a:ext>
              </a:extLst>
            </p:cNvPr>
            <p:cNvSpPr/>
            <p:nvPr/>
          </p:nvSpPr>
          <p:spPr>
            <a:xfrm>
              <a:off x="5184679" y="2228069"/>
              <a:ext cx="72838" cy="72838"/>
            </a:xfrm>
            <a:prstGeom prst="ellipse">
              <a:avLst/>
            </a:prstGeom>
            <a:solidFill>
              <a:schemeClr val="tx1"/>
            </a:solidFill>
            <a:ln/>
          </p:spPr>
          <p:txBody>
            <a:bodyPr/>
            <a:lstStyle/>
            <a:p>
              <a:r>
                <a:rPr lang="en-US" altLang="ja-JP" dirty="0"/>
                <a:t>F</a:t>
              </a:r>
              <a:endParaRPr lang="ja-JP" altLang="en-US"/>
            </a:p>
          </p:txBody>
        </p:sp>
        <p:sp>
          <p:nvSpPr>
            <p:cNvPr id="30" name="Shape 2">
              <a:extLst>
                <a:ext uri="{FF2B5EF4-FFF2-40B4-BE49-F238E27FC236}">
                  <a16:creationId xmlns:a16="http://schemas.microsoft.com/office/drawing/2014/main" id="{43FCC07C-0B0D-24FB-19A4-7D956D4D0888}"/>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31" name="Shape 3">
              <a:extLst>
                <a:ext uri="{FF2B5EF4-FFF2-40B4-BE49-F238E27FC236}">
                  <a16:creationId xmlns:a16="http://schemas.microsoft.com/office/drawing/2014/main" id="{EB879166-2EB3-0062-F783-EA120F55A229}"/>
                </a:ext>
              </a:extLst>
            </p:cNvPr>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32" name="Shape 4">
              <a:extLst>
                <a:ext uri="{FF2B5EF4-FFF2-40B4-BE49-F238E27FC236}">
                  <a16:creationId xmlns:a16="http://schemas.microsoft.com/office/drawing/2014/main" id="{92715DAD-42A9-751A-A5D0-40C3846D0BE6}"/>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33" name="Shape 5">
              <a:extLst>
                <a:ext uri="{FF2B5EF4-FFF2-40B4-BE49-F238E27FC236}">
                  <a16:creationId xmlns:a16="http://schemas.microsoft.com/office/drawing/2014/main" id="{B0A920C2-12CA-2470-66D7-70968F414A4F}"/>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34" name="Shape 6">
              <a:extLst>
                <a:ext uri="{FF2B5EF4-FFF2-40B4-BE49-F238E27FC236}">
                  <a16:creationId xmlns:a16="http://schemas.microsoft.com/office/drawing/2014/main" id="{C5E2D2CE-0BB9-373F-20C7-72DD5689492A}"/>
                </a:ext>
              </a:extLst>
            </p:cNvPr>
            <p:cNvSpPr/>
            <p:nvPr/>
          </p:nvSpPr>
          <p:spPr>
            <a:xfrm>
              <a:off x="5908211" y="1382815"/>
              <a:ext cx="72838" cy="72838"/>
            </a:xfrm>
            <a:prstGeom prst="ellipse">
              <a:avLst/>
            </a:prstGeom>
            <a:solidFill>
              <a:schemeClr val="tx1"/>
            </a:solidFill>
            <a:ln/>
          </p:spPr>
          <p:txBody>
            <a:bodyPr>
              <a:noAutofit/>
            </a:bodyPr>
            <a:lstStyle/>
            <a:p>
              <a:r>
                <a:rPr lang="en-US" altLang="ja-JP" dirty="0"/>
                <a:t>A</a:t>
              </a:r>
              <a:endParaRPr lang="ja-JP" altLang="en-US"/>
            </a:p>
          </p:txBody>
        </p:sp>
        <p:cxnSp>
          <p:nvCxnSpPr>
            <p:cNvPr id="35" name="直線コネクタ 34">
              <a:extLst>
                <a:ext uri="{FF2B5EF4-FFF2-40B4-BE49-F238E27FC236}">
                  <a16:creationId xmlns:a16="http://schemas.microsoft.com/office/drawing/2014/main" id="{F6F06F1C-72F7-DC9E-3D51-F63F1E25B737}"/>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6" name="Shape 5">
              <a:extLst>
                <a:ext uri="{FF2B5EF4-FFF2-40B4-BE49-F238E27FC236}">
                  <a16:creationId xmlns:a16="http://schemas.microsoft.com/office/drawing/2014/main" id="{2441287D-B4AE-0F2A-AD47-A503C9199B39}"/>
                </a:ext>
              </a:extLst>
            </p:cNvPr>
            <p:cNvSpPr/>
            <p:nvPr/>
          </p:nvSpPr>
          <p:spPr>
            <a:xfrm>
              <a:off x="2778143" y="4986687"/>
              <a:ext cx="72838" cy="72838"/>
            </a:xfrm>
            <a:prstGeom prst="ellipse">
              <a:avLst/>
            </a:prstGeom>
            <a:solidFill>
              <a:schemeClr val="tx1"/>
            </a:solidFill>
            <a:ln/>
          </p:spPr>
          <p:txBody>
            <a:bodyPr/>
            <a:lstStyle/>
            <a:p>
              <a:r>
                <a:rPr lang="en-US" altLang="ja-JP" dirty="0"/>
                <a:t>R</a:t>
              </a:r>
              <a:endParaRPr lang="ja-JP" altLang="en-US"/>
            </a:p>
          </p:txBody>
        </p:sp>
        <p:sp>
          <p:nvSpPr>
            <p:cNvPr id="37" name="Shape 4">
              <a:extLst>
                <a:ext uri="{FF2B5EF4-FFF2-40B4-BE49-F238E27FC236}">
                  <a16:creationId xmlns:a16="http://schemas.microsoft.com/office/drawing/2014/main" id="{F23A459B-5B0F-6F42-5D9B-1A42312BE07E}"/>
                </a:ext>
              </a:extLst>
            </p:cNvPr>
            <p:cNvSpPr/>
            <p:nvPr/>
          </p:nvSpPr>
          <p:spPr>
            <a:xfrm>
              <a:off x="6082434" y="4965888"/>
              <a:ext cx="72838" cy="72838"/>
            </a:xfrm>
            <a:prstGeom prst="ellipse">
              <a:avLst/>
            </a:prstGeom>
            <a:solidFill>
              <a:schemeClr val="tx1"/>
            </a:solidFill>
            <a:ln/>
          </p:spPr>
          <p:txBody>
            <a:bodyPr/>
            <a:lstStyle/>
            <a:p>
              <a:r>
                <a:rPr lang="en-US" altLang="ja-JP" dirty="0"/>
                <a:t>Q</a:t>
              </a:r>
              <a:endParaRPr lang="ja-JP" altLang="en-US"/>
            </a:p>
          </p:txBody>
        </p:sp>
        <p:sp>
          <p:nvSpPr>
            <p:cNvPr id="38" name="Shape 2">
              <a:extLst>
                <a:ext uri="{FF2B5EF4-FFF2-40B4-BE49-F238E27FC236}">
                  <a16:creationId xmlns:a16="http://schemas.microsoft.com/office/drawing/2014/main" id="{30733423-6AEA-855A-3DA6-E2B4CB3658E3}"/>
                </a:ext>
              </a:extLst>
            </p:cNvPr>
            <p:cNvSpPr/>
            <p:nvPr/>
          </p:nvSpPr>
          <p:spPr>
            <a:xfrm>
              <a:off x="9655954" y="4890875"/>
              <a:ext cx="72838" cy="72838"/>
            </a:xfrm>
            <a:prstGeom prst="ellipse">
              <a:avLst/>
            </a:prstGeom>
            <a:solidFill>
              <a:schemeClr val="tx1"/>
            </a:solidFill>
            <a:ln/>
          </p:spPr>
          <p:txBody>
            <a:bodyPr/>
            <a:lstStyle/>
            <a:p>
              <a:r>
                <a:rPr lang="en-US" altLang="ja-JP" dirty="0"/>
                <a:t>P</a:t>
              </a:r>
              <a:endParaRPr lang="ja-JP"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99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9933"/>
                </a:solidFill>
                <a:latin typeface="Yu Gothic" pitchFamily="34" charset="0"/>
                <a:ea typeface="Yu Gothic" pitchFamily="34" charset="-122"/>
                <a:cs typeface="Yu Gothic" pitchFamily="34" charset="-120"/>
              </a:rPr>
              <a:t>PAIRING RULE</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対辺ペアの見つけ方</a:t>
            </a:r>
            <a:endParaRPr lang="en-US" sz="3000" dirty="0"/>
          </a:p>
        </p:txBody>
      </p:sp>
      <p:sp>
        <p:nvSpPr>
          <p:cNvPr id="5" name="Text 3"/>
          <p:cNvSpPr/>
          <p:nvPr/>
        </p:nvSpPr>
        <p:spPr>
          <a:xfrm>
            <a:off x="457200" y="1234440"/>
            <a:ext cx="4572000" cy="640080"/>
          </a:xfrm>
          <a:prstGeom prst="rect">
            <a:avLst/>
          </a:prstGeom>
          <a:noFill/>
          <a:ln/>
        </p:spPr>
        <p:txBody>
          <a:bodyPr wrap="square" rtlCol="0" anchor="ctr"/>
          <a:lstStyle/>
          <a:p>
            <a:pPr marL="0" indent="0">
              <a:lnSpc>
                <a:spcPct val="130000"/>
              </a:lnSpc>
              <a:buNone/>
            </a:pPr>
            <a:r>
              <a:rPr lang="en-US" sz="1300" dirty="0">
                <a:solidFill>
                  <a:srgbClr val="333333"/>
                </a:solidFill>
                <a:latin typeface="Yu Gothic" pitchFamily="34" charset="0"/>
                <a:ea typeface="Yu Gothic" pitchFamily="34" charset="-122"/>
                <a:cs typeface="Yu Gothic" pitchFamily="34" charset="-120"/>
              </a:rPr>
              <a:t>円周上に順に A, B, C, D, E, F と並べたとき，「１つ開けて取る」ことで対辺のペアが決まる。</a:t>
            </a:r>
            <a:endParaRPr lang="en-US" sz="1300" dirty="0"/>
          </a:p>
        </p:txBody>
      </p:sp>
      <p:sp>
        <p:nvSpPr>
          <p:cNvPr id="6" name="Shape 4"/>
          <p:cNvSpPr/>
          <p:nvPr/>
        </p:nvSpPr>
        <p:spPr>
          <a:xfrm>
            <a:off x="457200" y="2011680"/>
            <a:ext cx="4572000" cy="566928"/>
          </a:xfrm>
          <a:prstGeom prst="rect">
            <a:avLst/>
          </a:prstGeom>
          <a:solidFill>
            <a:srgbClr val="FFFFFF"/>
          </a:solidFill>
          <a:ln w="9525">
            <a:solidFill>
              <a:srgbClr val="999999"/>
            </a:solidFill>
            <a:prstDash val="solid"/>
          </a:ln>
        </p:spPr>
        <p:txBody>
          <a:bodyPr/>
          <a:lstStyle/>
          <a:p>
            <a:endParaRPr lang="ja-JP" altLang="en-US"/>
          </a:p>
        </p:txBody>
      </p:sp>
      <p:sp>
        <p:nvSpPr>
          <p:cNvPr id="7" name="Shape 5"/>
          <p:cNvSpPr/>
          <p:nvPr/>
        </p:nvSpPr>
        <p:spPr>
          <a:xfrm>
            <a:off x="457200" y="2011680"/>
            <a:ext cx="73152" cy="566928"/>
          </a:xfrm>
          <a:prstGeom prst="rect">
            <a:avLst/>
          </a:prstGeom>
          <a:solidFill>
            <a:srgbClr val="CC6600"/>
          </a:solidFill>
          <a:ln/>
        </p:spPr>
        <p:txBody>
          <a:bodyPr/>
          <a:lstStyle/>
          <a:p>
            <a:endParaRPr lang="ja-JP" altLang="en-US"/>
          </a:p>
        </p:txBody>
      </p:sp>
      <p:sp>
        <p:nvSpPr>
          <p:cNvPr id="8" name="Text 6"/>
          <p:cNvSpPr/>
          <p:nvPr/>
        </p:nvSpPr>
        <p:spPr>
          <a:xfrm>
            <a:off x="685800" y="2011680"/>
            <a:ext cx="914400" cy="566928"/>
          </a:xfrm>
          <a:prstGeom prst="rect">
            <a:avLst/>
          </a:prstGeom>
          <a:noFill/>
          <a:ln/>
        </p:spPr>
        <p:txBody>
          <a:bodyPr wrap="square" lIns="0" tIns="0" rIns="0" bIns="0" rtlCol="0" anchor="ctr"/>
          <a:lstStyle/>
          <a:p>
            <a:pPr marL="0" indent="0">
              <a:buNone/>
            </a:pPr>
            <a:r>
              <a:rPr lang="en-US" sz="1500" b="1" dirty="0">
                <a:solidFill>
                  <a:srgbClr val="CC6600"/>
                </a:solidFill>
                <a:latin typeface="Consolas" pitchFamily="34" charset="0"/>
                <a:ea typeface="Consolas" pitchFamily="34" charset="-122"/>
                <a:cs typeface="Consolas" pitchFamily="34" charset="-120"/>
              </a:rPr>
              <a:t>AB</a:t>
            </a:r>
            <a:endParaRPr lang="en-US" sz="1500" dirty="0"/>
          </a:p>
        </p:txBody>
      </p:sp>
      <p:sp>
        <p:nvSpPr>
          <p:cNvPr id="9" name="Text 7"/>
          <p:cNvSpPr/>
          <p:nvPr/>
        </p:nvSpPr>
        <p:spPr>
          <a:xfrm>
            <a:off x="1645920" y="2011680"/>
            <a:ext cx="1920240" cy="566928"/>
          </a:xfrm>
          <a:prstGeom prst="rect">
            <a:avLst/>
          </a:prstGeom>
          <a:noFill/>
          <a:ln/>
        </p:spPr>
        <p:txBody>
          <a:bodyPr wrap="square" lIns="0" tIns="0" rIns="0" bIns="0" rtlCol="0" anchor="ctr"/>
          <a:lstStyle/>
          <a:p>
            <a:pPr marL="0" indent="0">
              <a:buNone/>
            </a:pPr>
            <a:r>
              <a:rPr lang="en-US" sz="1200" dirty="0">
                <a:solidFill>
                  <a:srgbClr val="333333"/>
                </a:solidFill>
                <a:latin typeface="Yu Gothic" pitchFamily="34" charset="0"/>
                <a:ea typeface="Yu Gothic" pitchFamily="34" charset="-122"/>
                <a:cs typeface="Yu Gothic" pitchFamily="34" charset="-120"/>
              </a:rPr>
              <a:t>C を開ける</a:t>
            </a:r>
            <a:endParaRPr lang="en-US" sz="1200" dirty="0"/>
          </a:p>
        </p:txBody>
      </p:sp>
      <p:sp>
        <p:nvSpPr>
          <p:cNvPr id="10" name="Text 8"/>
          <p:cNvSpPr/>
          <p:nvPr/>
        </p:nvSpPr>
        <p:spPr>
          <a:xfrm>
            <a:off x="3566160" y="2011680"/>
            <a:ext cx="1371600" cy="566928"/>
          </a:xfrm>
          <a:prstGeom prst="rect">
            <a:avLst/>
          </a:prstGeom>
          <a:noFill/>
          <a:ln/>
        </p:spPr>
        <p:txBody>
          <a:bodyPr wrap="square" lIns="0" tIns="0" rIns="0" bIns="0" rtlCol="0" anchor="ctr"/>
          <a:lstStyle/>
          <a:p>
            <a:pPr marL="0" indent="0">
              <a:buNone/>
            </a:pPr>
            <a:r>
              <a:rPr lang="en-US" sz="1500" b="1" dirty="0">
                <a:solidFill>
                  <a:srgbClr val="CC6600"/>
                </a:solidFill>
                <a:latin typeface="Consolas" pitchFamily="34" charset="0"/>
                <a:ea typeface="Consolas" pitchFamily="34" charset="-122"/>
                <a:cs typeface="Consolas" pitchFamily="34" charset="-120"/>
              </a:rPr>
              <a:t>↔  DE</a:t>
            </a:r>
            <a:endParaRPr lang="en-US" sz="1500" dirty="0"/>
          </a:p>
        </p:txBody>
      </p:sp>
      <p:sp>
        <p:nvSpPr>
          <p:cNvPr id="11" name="Shape 9"/>
          <p:cNvSpPr/>
          <p:nvPr/>
        </p:nvSpPr>
        <p:spPr>
          <a:xfrm>
            <a:off x="457200" y="2724912"/>
            <a:ext cx="4572000" cy="566928"/>
          </a:xfrm>
          <a:prstGeom prst="rect">
            <a:avLst/>
          </a:prstGeom>
          <a:solidFill>
            <a:srgbClr val="FFFFFF"/>
          </a:solidFill>
          <a:ln w="9525">
            <a:solidFill>
              <a:srgbClr val="999999"/>
            </a:solidFill>
            <a:prstDash val="solid"/>
          </a:ln>
        </p:spPr>
        <p:txBody>
          <a:bodyPr/>
          <a:lstStyle/>
          <a:p>
            <a:endParaRPr lang="ja-JP" altLang="en-US"/>
          </a:p>
        </p:txBody>
      </p:sp>
      <p:sp>
        <p:nvSpPr>
          <p:cNvPr id="12" name="Shape 10"/>
          <p:cNvSpPr/>
          <p:nvPr/>
        </p:nvSpPr>
        <p:spPr>
          <a:xfrm>
            <a:off x="457200" y="2724912"/>
            <a:ext cx="73152" cy="566928"/>
          </a:xfrm>
          <a:prstGeom prst="rect">
            <a:avLst/>
          </a:prstGeom>
          <a:solidFill>
            <a:srgbClr val="336699"/>
          </a:solidFill>
          <a:ln/>
        </p:spPr>
        <p:txBody>
          <a:bodyPr/>
          <a:lstStyle/>
          <a:p>
            <a:endParaRPr lang="ja-JP" altLang="en-US"/>
          </a:p>
        </p:txBody>
      </p:sp>
      <p:sp>
        <p:nvSpPr>
          <p:cNvPr id="13" name="Text 11"/>
          <p:cNvSpPr/>
          <p:nvPr/>
        </p:nvSpPr>
        <p:spPr>
          <a:xfrm>
            <a:off x="685800" y="2724912"/>
            <a:ext cx="914400" cy="566928"/>
          </a:xfrm>
          <a:prstGeom prst="rect">
            <a:avLst/>
          </a:prstGeom>
          <a:noFill/>
          <a:ln/>
        </p:spPr>
        <p:txBody>
          <a:bodyPr wrap="square" lIns="0" tIns="0" rIns="0" bIns="0" rtlCol="0" anchor="ctr"/>
          <a:lstStyle/>
          <a:p>
            <a:pPr marL="0" indent="0">
              <a:buNone/>
            </a:pPr>
            <a:r>
              <a:rPr lang="en-US" sz="1500" b="1" dirty="0">
                <a:solidFill>
                  <a:srgbClr val="336699"/>
                </a:solidFill>
                <a:latin typeface="Consolas" pitchFamily="34" charset="0"/>
                <a:ea typeface="Consolas" pitchFamily="34" charset="-122"/>
                <a:cs typeface="Consolas" pitchFamily="34" charset="-120"/>
              </a:rPr>
              <a:t>BC</a:t>
            </a:r>
            <a:endParaRPr lang="en-US" sz="1500" dirty="0"/>
          </a:p>
        </p:txBody>
      </p:sp>
      <p:sp>
        <p:nvSpPr>
          <p:cNvPr id="14" name="Text 12"/>
          <p:cNvSpPr/>
          <p:nvPr/>
        </p:nvSpPr>
        <p:spPr>
          <a:xfrm>
            <a:off x="1645920" y="2724912"/>
            <a:ext cx="1920240" cy="566928"/>
          </a:xfrm>
          <a:prstGeom prst="rect">
            <a:avLst/>
          </a:prstGeom>
          <a:noFill/>
          <a:ln/>
        </p:spPr>
        <p:txBody>
          <a:bodyPr wrap="square" lIns="0" tIns="0" rIns="0" bIns="0" rtlCol="0" anchor="ctr"/>
          <a:lstStyle/>
          <a:p>
            <a:pPr marL="0" indent="0">
              <a:buNone/>
            </a:pPr>
            <a:r>
              <a:rPr lang="en-US" sz="1200" dirty="0">
                <a:solidFill>
                  <a:srgbClr val="333333"/>
                </a:solidFill>
                <a:latin typeface="Yu Gothic" pitchFamily="34" charset="0"/>
                <a:ea typeface="Yu Gothic" pitchFamily="34" charset="-122"/>
                <a:cs typeface="Yu Gothic" pitchFamily="34" charset="-120"/>
              </a:rPr>
              <a:t>D を開ける</a:t>
            </a:r>
            <a:endParaRPr lang="en-US" sz="1200" dirty="0"/>
          </a:p>
        </p:txBody>
      </p:sp>
      <p:sp>
        <p:nvSpPr>
          <p:cNvPr id="15" name="Text 13"/>
          <p:cNvSpPr/>
          <p:nvPr/>
        </p:nvSpPr>
        <p:spPr>
          <a:xfrm>
            <a:off x="3566160" y="2724912"/>
            <a:ext cx="1371600" cy="566928"/>
          </a:xfrm>
          <a:prstGeom prst="rect">
            <a:avLst/>
          </a:prstGeom>
          <a:noFill/>
          <a:ln/>
        </p:spPr>
        <p:txBody>
          <a:bodyPr wrap="square" lIns="0" tIns="0" rIns="0" bIns="0" rtlCol="0" anchor="ctr"/>
          <a:lstStyle/>
          <a:p>
            <a:pPr marL="0" indent="0">
              <a:buNone/>
            </a:pPr>
            <a:r>
              <a:rPr lang="en-US" sz="1500" b="1" dirty="0">
                <a:solidFill>
                  <a:srgbClr val="336699"/>
                </a:solidFill>
                <a:latin typeface="Consolas" pitchFamily="34" charset="0"/>
                <a:ea typeface="Consolas" pitchFamily="34" charset="-122"/>
                <a:cs typeface="Consolas" pitchFamily="34" charset="-120"/>
              </a:rPr>
              <a:t>↔  EF</a:t>
            </a:r>
            <a:endParaRPr lang="en-US" sz="1500" dirty="0"/>
          </a:p>
        </p:txBody>
      </p:sp>
      <p:sp>
        <p:nvSpPr>
          <p:cNvPr id="16" name="Shape 14"/>
          <p:cNvSpPr/>
          <p:nvPr/>
        </p:nvSpPr>
        <p:spPr>
          <a:xfrm>
            <a:off x="457200" y="3438144"/>
            <a:ext cx="4572000" cy="566928"/>
          </a:xfrm>
          <a:prstGeom prst="rect">
            <a:avLst/>
          </a:prstGeom>
          <a:solidFill>
            <a:srgbClr val="FFFFFF"/>
          </a:solidFill>
          <a:ln w="9525">
            <a:solidFill>
              <a:srgbClr val="999999"/>
            </a:solidFill>
            <a:prstDash val="solid"/>
          </a:ln>
        </p:spPr>
        <p:txBody>
          <a:bodyPr/>
          <a:lstStyle/>
          <a:p>
            <a:endParaRPr lang="ja-JP" altLang="en-US"/>
          </a:p>
        </p:txBody>
      </p:sp>
      <p:sp>
        <p:nvSpPr>
          <p:cNvPr id="17" name="Shape 15"/>
          <p:cNvSpPr/>
          <p:nvPr/>
        </p:nvSpPr>
        <p:spPr>
          <a:xfrm>
            <a:off x="457200" y="3438144"/>
            <a:ext cx="73152" cy="566928"/>
          </a:xfrm>
          <a:prstGeom prst="rect">
            <a:avLst/>
          </a:prstGeom>
          <a:solidFill>
            <a:srgbClr val="339933"/>
          </a:solidFill>
          <a:ln/>
        </p:spPr>
        <p:txBody>
          <a:bodyPr/>
          <a:lstStyle/>
          <a:p>
            <a:endParaRPr lang="ja-JP" altLang="en-US"/>
          </a:p>
        </p:txBody>
      </p:sp>
      <p:sp>
        <p:nvSpPr>
          <p:cNvPr id="18" name="Text 16"/>
          <p:cNvSpPr/>
          <p:nvPr/>
        </p:nvSpPr>
        <p:spPr>
          <a:xfrm>
            <a:off x="685800" y="3438144"/>
            <a:ext cx="914400" cy="566928"/>
          </a:xfrm>
          <a:prstGeom prst="rect">
            <a:avLst/>
          </a:prstGeom>
          <a:noFill/>
          <a:ln/>
        </p:spPr>
        <p:txBody>
          <a:bodyPr wrap="square" lIns="0" tIns="0" rIns="0" bIns="0" rtlCol="0" anchor="ctr"/>
          <a:lstStyle/>
          <a:p>
            <a:pPr marL="0" indent="0">
              <a:buNone/>
            </a:pPr>
            <a:r>
              <a:rPr lang="en-US" sz="1500" b="1" dirty="0">
                <a:solidFill>
                  <a:srgbClr val="339933"/>
                </a:solidFill>
                <a:latin typeface="Consolas" pitchFamily="34" charset="0"/>
                <a:ea typeface="Consolas" pitchFamily="34" charset="-122"/>
                <a:cs typeface="Consolas" pitchFamily="34" charset="-120"/>
              </a:rPr>
              <a:t>CD</a:t>
            </a:r>
            <a:endParaRPr lang="en-US" sz="1500" dirty="0"/>
          </a:p>
        </p:txBody>
      </p:sp>
      <p:sp>
        <p:nvSpPr>
          <p:cNvPr id="19" name="Text 17"/>
          <p:cNvSpPr/>
          <p:nvPr/>
        </p:nvSpPr>
        <p:spPr>
          <a:xfrm>
            <a:off x="1645920" y="3438144"/>
            <a:ext cx="1920240" cy="566928"/>
          </a:xfrm>
          <a:prstGeom prst="rect">
            <a:avLst/>
          </a:prstGeom>
          <a:noFill/>
          <a:ln/>
        </p:spPr>
        <p:txBody>
          <a:bodyPr wrap="square" lIns="0" tIns="0" rIns="0" bIns="0" rtlCol="0" anchor="ctr"/>
          <a:lstStyle/>
          <a:p>
            <a:pPr marL="0" indent="0">
              <a:buNone/>
            </a:pPr>
            <a:r>
              <a:rPr lang="en-US" sz="1200" dirty="0">
                <a:solidFill>
                  <a:srgbClr val="333333"/>
                </a:solidFill>
                <a:latin typeface="Yu Gothic" pitchFamily="34" charset="0"/>
                <a:ea typeface="Yu Gothic" pitchFamily="34" charset="-122"/>
                <a:cs typeface="Yu Gothic" pitchFamily="34" charset="-120"/>
              </a:rPr>
              <a:t>E を開ける</a:t>
            </a:r>
            <a:endParaRPr lang="en-US" sz="1200" dirty="0"/>
          </a:p>
        </p:txBody>
      </p:sp>
      <p:sp>
        <p:nvSpPr>
          <p:cNvPr id="20" name="Text 18"/>
          <p:cNvSpPr/>
          <p:nvPr/>
        </p:nvSpPr>
        <p:spPr>
          <a:xfrm>
            <a:off x="3566160" y="3438144"/>
            <a:ext cx="1371600" cy="566928"/>
          </a:xfrm>
          <a:prstGeom prst="rect">
            <a:avLst/>
          </a:prstGeom>
          <a:noFill/>
          <a:ln/>
        </p:spPr>
        <p:txBody>
          <a:bodyPr wrap="square" lIns="0" tIns="0" rIns="0" bIns="0" rtlCol="0" anchor="ctr"/>
          <a:lstStyle/>
          <a:p>
            <a:pPr marL="0" indent="0">
              <a:buNone/>
            </a:pPr>
            <a:r>
              <a:rPr lang="en-US" sz="1500" b="1" dirty="0">
                <a:solidFill>
                  <a:srgbClr val="339933"/>
                </a:solidFill>
                <a:latin typeface="Consolas" pitchFamily="34" charset="0"/>
                <a:ea typeface="Consolas" pitchFamily="34" charset="-122"/>
                <a:cs typeface="Consolas" pitchFamily="34" charset="-120"/>
              </a:rPr>
              <a:t>↔  FA</a:t>
            </a:r>
            <a:endParaRPr lang="en-US" sz="1500" dirty="0"/>
          </a:p>
        </p:txBody>
      </p:sp>
      <p:sp>
        <p:nvSpPr>
          <p:cNvPr id="21" name="Shape 19"/>
          <p:cNvSpPr/>
          <p:nvPr/>
        </p:nvSpPr>
        <p:spPr>
          <a:xfrm>
            <a:off x="5257800" y="1143000"/>
            <a:ext cx="3520440" cy="2962656"/>
          </a:xfrm>
          <a:prstGeom prst="rect">
            <a:avLst/>
          </a:prstGeom>
          <a:solidFill>
            <a:srgbClr val="FFFFFF"/>
          </a:solidFill>
          <a:ln w="9525">
            <a:solidFill>
              <a:srgbClr val="999999"/>
            </a:solidFill>
            <a:prstDash val="solid"/>
          </a:ln>
        </p:spPr>
        <p:txBody>
          <a:bodyPr/>
          <a:lstStyle/>
          <a:p>
            <a:endParaRPr lang="ja-JP" altLang="en-US"/>
          </a:p>
        </p:txBody>
      </p:sp>
      <p:sp>
        <p:nvSpPr>
          <p:cNvPr id="23" name="Text 20"/>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4" name="Text 21"/>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05</a:t>
            </a:r>
            <a:endParaRPr lang="en-US" sz="1000" dirty="0"/>
          </a:p>
        </p:txBody>
      </p:sp>
      <p:grpSp>
        <p:nvGrpSpPr>
          <p:cNvPr id="65" name="グループ化 64">
            <a:extLst>
              <a:ext uri="{FF2B5EF4-FFF2-40B4-BE49-F238E27FC236}">
                <a16:creationId xmlns:a16="http://schemas.microsoft.com/office/drawing/2014/main" id="{8EB51C03-DEF5-FAF5-5282-A3290C332740}"/>
              </a:ext>
            </a:extLst>
          </p:cNvPr>
          <p:cNvGrpSpPr/>
          <p:nvPr/>
        </p:nvGrpSpPr>
        <p:grpSpPr>
          <a:xfrm>
            <a:off x="5257800" y="1429358"/>
            <a:ext cx="3520440" cy="2389940"/>
            <a:chOff x="2212982" y="-154951"/>
            <a:chExt cx="7997453" cy="5429267"/>
          </a:xfrm>
        </p:grpSpPr>
        <p:cxnSp>
          <p:nvCxnSpPr>
            <p:cNvPr id="66" name="直線コネクタ 65">
              <a:extLst>
                <a:ext uri="{FF2B5EF4-FFF2-40B4-BE49-F238E27FC236}">
                  <a16:creationId xmlns:a16="http://schemas.microsoft.com/office/drawing/2014/main" id="{B4F02E69-0D66-D1AD-8718-44253A8B27D6}"/>
                </a:ext>
              </a:extLst>
            </p:cNvPr>
            <p:cNvCxnSpPr>
              <a:cxnSpLocks/>
            </p:cNvCxnSpPr>
            <p:nvPr/>
          </p:nvCxnSpPr>
          <p:spPr>
            <a:xfrm flipV="1">
              <a:off x="5962891" y="2685797"/>
              <a:ext cx="1767364" cy="2511943"/>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91D529BC-8CF3-D1FC-1D14-41823C50D0FA}"/>
                </a:ext>
              </a:extLst>
            </p:cNvPr>
            <p:cNvCxnSpPr>
              <a:cxnSpLocks/>
            </p:cNvCxnSpPr>
            <p:nvPr/>
          </p:nvCxnSpPr>
          <p:spPr>
            <a:xfrm flipV="1">
              <a:off x="2212982" y="3091528"/>
              <a:ext cx="6092435" cy="2133496"/>
            </a:xfrm>
            <a:prstGeom prst="line">
              <a:avLst/>
            </a:prstGeom>
            <a:ln w="19050">
              <a:solidFill>
                <a:schemeClr val="accent6">
                  <a:alpha val="70000"/>
                </a:schemeClr>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79F9DC50-CC37-6CA4-FC8E-566849A57C86}"/>
                </a:ext>
              </a:extLst>
            </p:cNvPr>
            <p:cNvCxnSpPr>
              <a:cxnSpLocks/>
            </p:cNvCxnSpPr>
            <p:nvPr/>
          </p:nvCxnSpPr>
          <p:spPr>
            <a:xfrm flipH="1" flipV="1">
              <a:off x="4237936" y="2959416"/>
              <a:ext cx="5908665" cy="2154341"/>
            </a:xfrm>
            <a:prstGeom prst="line">
              <a:avLst/>
            </a:prstGeom>
            <a:ln w="1905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F0825F73-4A22-8633-C65E-4B34D5CD0152}"/>
                </a:ext>
              </a:extLst>
            </p:cNvPr>
            <p:cNvCxnSpPr>
              <a:cxnSpLocks/>
            </p:cNvCxnSpPr>
            <p:nvPr/>
          </p:nvCxnSpPr>
          <p:spPr>
            <a:xfrm flipH="1" flipV="1">
              <a:off x="4456951" y="-105658"/>
              <a:ext cx="1719231" cy="5314027"/>
            </a:xfrm>
            <a:prstGeom prst="line">
              <a:avLst/>
            </a:prstGeom>
            <a:ln w="15875">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E80FA47E-8BB3-F6E8-12C8-D7FA5B496D46}"/>
                </a:ext>
              </a:extLst>
            </p:cNvPr>
            <p:cNvCxnSpPr>
              <a:cxnSpLocks/>
            </p:cNvCxnSpPr>
            <p:nvPr/>
          </p:nvCxnSpPr>
          <p:spPr>
            <a:xfrm flipV="1">
              <a:off x="2585013" y="505654"/>
              <a:ext cx="4154397" cy="4768662"/>
            </a:xfrm>
            <a:prstGeom prst="line">
              <a:avLst/>
            </a:prstGeom>
            <a:ln w="19050">
              <a:solidFill>
                <a:schemeClr val="accent6">
                  <a:alpha val="70000"/>
                </a:schemeClr>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0883E901-28C6-ED22-DD11-541CF9A392C2}"/>
                </a:ext>
              </a:extLst>
            </p:cNvPr>
            <p:cNvCxnSpPr>
              <a:cxnSpLocks/>
            </p:cNvCxnSpPr>
            <p:nvPr/>
          </p:nvCxnSpPr>
          <p:spPr>
            <a:xfrm>
              <a:off x="4266375" y="-154951"/>
              <a:ext cx="5717852" cy="5344363"/>
            </a:xfrm>
            <a:prstGeom prst="line">
              <a:avLst/>
            </a:prstGeom>
            <a:ln w="1905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72" name="Shape 0">
              <a:extLst>
                <a:ext uri="{FF2B5EF4-FFF2-40B4-BE49-F238E27FC236}">
                  <a16:creationId xmlns:a16="http://schemas.microsoft.com/office/drawing/2014/main" id="{4756321A-6276-7F67-7A18-C081FE1B6EA1}"/>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73" name="Shape 1">
              <a:extLst>
                <a:ext uri="{FF2B5EF4-FFF2-40B4-BE49-F238E27FC236}">
                  <a16:creationId xmlns:a16="http://schemas.microsoft.com/office/drawing/2014/main" id="{B16090F3-BC83-5F2C-0437-67A39A1ED41C}"/>
                </a:ext>
              </a:extLst>
            </p:cNvPr>
            <p:cNvSpPr/>
            <p:nvPr/>
          </p:nvSpPr>
          <p:spPr>
            <a:xfrm>
              <a:off x="5184679" y="2228069"/>
              <a:ext cx="72838" cy="72838"/>
            </a:xfrm>
            <a:prstGeom prst="ellipse">
              <a:avLst/>
            </a:prstGeom>
            <a:solidFill>
              <a:schemeClr val="tx1"/>
            </a:solidFill>
            <a:ln/>
          </p:spPr>
          <p:txBody>
            <a:bodyPr/>
            <a:lstStyle/>
            <a:p>
              <a:r>
                <a:rPr lang="en-US" altLang="ja-JP" dirty="0"/>
                <a:t>F</a:t>
              </a:r>
              <a:endParaRPr lang="ja-JP" altLang="en-US"/>
            </a:p>
          </p:txBody>
        </p:sp>
        <p:sp>
          <p:nvSpPr>
            <p:cNvPr id="74" name="Shape 2">
              <a:extLst>
                <a:ext uri="{FF2B5EF4-FFF2-40B4-BE49-F238E27FC236}">
                  <a16:creationId xmlns:a16="http://schemas.microsoft.com/office/drawing/2014/main" id="{8D2EB2D7-EE5C-8DE5-D475-E62518B06BB5}"/>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75" name="Shape 3">
              <a:extLst>
                <a:ext uri="{FF2B5EF4-FFF2-40B4-BE49-F238E27FC236}">
                  <a16:creationId xmlns:a16="http://schemas.microsoft.com/office/drawing/2014/main" id="{A5199723-7353-F4A8-EE26-1DCC5AF2A3CB}"/>
                </a:ext>
              </a:extLst>
            </p:cNvPr>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76" name="Shape 4">
              <a:extLst>
                <a:ext uri="{FF2B5EF4-FFF2-40B4-BE49-F238E27FC236}">
                  <a16:creationId xmlns:a16="http://schemas.microsoft.com/office/drawing/2014/main" id="{690A27CF-7752-99EF-445E-647C46A00489}"/>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77" name="Shape 5">
              <a:extLst>
                <a:ext uri="{FF2B5EF4-FFF2-40B4-BE49-F238E27FC236}">
                  <a16:creationId xmlns:a16="http://schemas.microsoft.com/office/drawing/2014/main" id="{1B554E80-1135-B1D2-354D-FF6C0F47EC17}"/>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78" name="Shape 6">
              <a:extLst>
                <a:ext uri="{FF2B5EF4-FFF2-40B4-BE49-F238E27FC236}">
                  <a16:creationId xmlns:a16="http://schemas.microsoft.com/office/drawing/2014/main" id="{361DBAE3-6B78-E836-00E4-524B47A981D8}"/>
                </a:ext>
              </a:extLst>
            </p:cNvPr>
            <p:cNvSpPr/>
            <p:nvPr/>
          </p:nvSpPr>
          <p:spPr>
            <a:xfrm>
              <a:off x="5908211" y="1382815"/>
              <a:ext cx="72838" cy="72838"/>
            </a:xfrm>
            <a:prstGeom prst="ellipse">
              <a:avLst/>
            </a:prstGeom>
            <a:solidFill>
              <a:schemeClr val="tx1"/>
            </a:solidFill>
            <a:ln/>
          </p:spPr>
          <p:txBody>
            <a:bodyPr>
              <a:noAutofit/>
            </a:bodyPr>
            <a:lstStyle/>
            <a:p>
              <a:r>
                <a:rPr lang="en-US" altLang="ja-JP" dirty="0"/>
                <a:t>A</a:t>
              </a:r>
              <a:endParaRPr lang="ja-JP" altLang="en-US"/>
            </a:p>
          </p:txBody>
        </p:sp>
        <p:cxnSp>
          <p:nvCxnSpPr>
            <p:cNvPr id="79" name="直線コネクタ 78">
              <a:extLst>
                <a:ext uri="{FF2B5EF4-FFF2-40B4-BE49-F238E27FC236}">
                  <a16:creationId xmlns:a16="http://schemas.microsoft.com/office/drawing/2014/main" id="{B8E80951-DEA4-50BA-E183-3513C0E3A450}"/>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Shape 5">
              <a:extLst>
                <a:ext uri="{FF2B5EF4-FFF2-40B4-BE49-F238E27FC236}">
                  <a16:creationId xmlns:a16="http://schemas.microsoft.com/office/drawing/2014/main" id="{CD8D8341-6CE0-A4E7-8738-F73185E2378D}"/>
                </a:ext>
              </a:extLst>
            </p:cNvPr>
            <p:cNvSpPr/>
            <p:nvPr/>
          </p:nvSpPr>
          <p:spPr>
            <a:xfrm>
              <a:off x="2778143" y="4986687"/>
              <a:ext cx="72838" cy="72838"/>
            </a:xfrm>
            <a:prstGeom prst="ellipse">
              <a:avLst/>
            </a:prstGeom>
            <a:solidFill>
              <a:schemeClr val="tx1"/>
            </a:solidFill>
            <a:ln/>
          </p:spPr>
          <p:txBody>
            <a:bodyPr/>
            <a:lstStyle/>
            <a:p>
              <a:r>
                <a:rPr lang="en-US" altLang="ja-JP" dirty="0"/>
                <a:t>R</a:t>
              </a:r>
              <a:endParaRPr lang="ja-JP" altLang="en-US"/>
            </a:p>
          </p:txBody>
        </p:sp>
        <p:sp>
          <p:nvSpPr>
            <p:cNvPr id="81" name="Shape 4">
              <a:extLst>
                <a:ext uri="{FF2B5EF4-FFF2-40B4-BE49-F238E27FC236}">
                  <a16:creationId xmlns:a16="http://schemas.microsoft.com/office/drawing/2014/main" id="{0AACFB79-5A86-3B78-6DA6-BE4E09D4D3D7}"/>
                </a:ext>
              </a:extLst>
            </p:cNvPr>
            <p:cNvSpPr/>
            <p:nvPr/>
          </p:nvSpPr>
          <p:spPr>
            <a:xfrm>
              <a:off x="6082434" y="4965888"/>
              <a:ext cx="72838" cy="72838"/>
            </a:xfrm>
            <a:prstGeom prst="ellipse">
              <a:avLst/>
            </a:prstGeom>
            <a:solidFill>
              <a:schemeClr val="tx1"/>
            </a:solidFill>
            <a:ln/>
          </p:spPr>
          <p:txBody>
            <a:bodyPr/>
            <a:lstStyle/>
            <a:p>
              <a:r>
                <a:rPr lang="en-US" altLang="ja-JP" dirty="0"/>
                <a:t>Q</a:t>
              </a:r>
              <a:endParaRPr lang="ja-JP" altLang="en-US"/>
            </a:p>
          </p:txBody>
        </p:sp>
        <p:sp>
          <p:nvSpPr>
            <p:cNvPr id="82" name="Shape 2">
              <a:extLst>
                <a:ext uri="{FF2B5EF4-FFF2-40B4-BE49-F238E27FC236}">
                  <a16:creationId xmlns:a16="http://schemas.microsoft.com/office/drawing/2014/main" id="{A3CDC57B-00D6-0405-B182-10884F83F9B3}"/>
                </a:ext>
              </a:extLst>
            </p:cNvPr>
            <p:cNvSpPr/>
            <p:nvPr/>
          </p:nvSpPr>
          <p:spPr>
            <a:xfrm>
              <a:off x="9655954" y="4890875"/>
              <a:ext cx="72838" cy="72838"/>
            </a:xfrm>
            <a:prstGeom prst="ellipse">
              <a:avLst/>
            </a:prstGeom>
            <a:solidFill>
              <a:schemeClr val="tx1"/>
            </a:solidFill>
            <a:ln/>
          </p:spPr>
          <p:txBody>
            <a:bodyPr/>
            <a:lstStyle/>
            <a:p>
              <a:r>
                <a:rPr lang="en-US" altLang="ja-JP" dirty="0"/>
                <a:t>P</a:t>
              </a:r>
              <a:endParaRPr lang="ja-JP"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966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996633"/>
                </a:solidFill>
                <a:latin typeface="Yu Gothic" pitchFamily="34" charset="0"/>
                <a:ea typeface="Yu Gothic" pitchFamily="34" charset="-122"/>
                <a:cs typeface="Yu Gothic" pitchFamily="34" charset="-120"/>
              </a:rPr>
              <a:t>STRATEGY</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証明の方針：補助三角形 △XYZ</a:t>
            </a:r>
            <a:endParaRPr lang="en-US" sz="3000" dirty="0"/>
          </a:p>
        </p:txBody>
      </p:sp>
      <p:sp>
        <p:nvSpPr>
          <p:cNvPr id="5" name="Shape 3"/>
          <p:cNvSpPr/>
          <p:nvPr/>
        </p:nvSpPr>
        <p:spPr>
          <a:xfrm>
            <a:off x="457200" y="1325880"/>
            <a:ext cx="4663440" cy="594360"/>
          </a:xfrm>
          <a:prstGeom prst="rect">
            <a:avLst/>
          </a:prstGeom>
          <a:solidFill>
            <a:srgbClr val="FFFFFF"/>
          </a:solidFill>
          <a:ln w="9525">
            <a:solidFill>
              <a:srgbClr val="999999"/>
            </a:solidFill>
            <a:prstDash val="solid"/>
          </a:ln>
        </p:spPr>
        <p:txBody>
          <a:bodyPr/>
          <a:lstStyle/>
          <a:p>
            <a:endParaRPr lang="ja-JP" altLang="en-US"/>
          </a:p>
        </p:txBody>
      </p:sp>
      <p:sp>
        <p:nvSpPr>
          <p:cNvPr id="6" name="Text 4"/>
          <p:cNvSpPr/>
          <p:nvPr/>
        </p:nvSpPr>
        <p:spPr>
          <a:xfrm>
            <a:off x="516465" y="1335024"/>
            <a:ext cx="4522194" cy="594360"/>
          </a:xfrm>
          <a:prstGeom prst="rect">
            <a:avLst/>
          </a:prstGeom>
          <a:noFill/>
          <a:ln/>
        </p:spPr>
        <p:txBody>
          <a:bodyPr wrap="square" lIns="0" tIns="0" rIns="0" bIns="0" rtlCol="0" anchor="ctr"/>
          <a:lstStyle/>
          <a:p>
            <a:pPr marL="0" indent="0">
              <a:buNone/>
            </a:pPr>
            <a:r>
              <a:rPr lang="en-US" sz="1250" i="1" dirty="0" err="1">
                <a:solidFill>
                  <a:srgbClr val="000000"/>
                </a:solidFill>
                <a:latin typeface="Yu Gothic" pitchFamily="34" charset="0"/>
                <a:ea typeface="Yu Gothic" pitchFamily="34" charset="-122"/>
                <a:cs typeface="Yu Gothic" pitchFamily="34" charset="-120"/>
              </a:rPr>
              <a:t>三角形</a:t>
            </a:r>
            <a:r>
              <a:rPr lang="en-US" sz="1250" i="1" dirty="0">
                <a:solidFill>
                  <a:srgbClr val="000000"/>
                </a:solidFill>
                <a:latin typeface="Yu Gothic" pitchFamily="34" charset="0"/>
                <a:ea typeface="Yu Gothic" pitchFamily="34" charset="-122"/>
                <a:cs typeface="Yu Gothic" pitchFamily="34" charset="-120"/>
              </a:rPr>
              <a:t> XYZ の3辺(</a:t>
            </a:r>
            <a:r>
              <a:rPr lang="en-US" sz="1250" i="1" dirty="0" err="1">
                <a:solidFill>
                  <a:srgbClr val="000000"/>
                </a:solidFill>
                <a:latin typeface="Yu Gothic" pitchFamily="34" charset="0"/>
                <a:ea typeface="Yu Gothic" pitchFamily="34" charset="-122"/>
                <a:cs typeface="Yu Gothic" pitchFamily="34" charset="-120"/>
              </a:rPr>
              <a:t>延長線</a:t>
            </a:r>
            <a:r>
              <a:rPr lang="en-US" sz="1250" i="1" dirty="0">
                <a:solidFill>
                  <a:srgbClr val="000000"/>
                </a:solidFill>
                <a:latin typeface="Yu Gothic" pitchFamily="34" charset="0"/>
                <a:ea typeface="Yu Gothic" pitchFamily="34" charset="-122"/>
                <a:cs typeface="Yu Gothic" pitchFamily="34" charset="-120"/>
              </a:rPr>
              <a:t>)とある1つの直線との関係性を調べる</a:t>
            </a:r>
          </a:p>
          <a:p>
            <a:pPr marL="0" indent="0">
              <a:lnSpc>
                <a:spcPct val="150000"/>
              </a:lnSpc>
              <a:buNone/>
            </a:pPr>
            <a:r>
              <a:rPr lang="en-US" sz="1250" i="1" dirty="0">
                <a:solidFill>
                  <a:srgbClr val="000000"/>
                </a:solidFill>
                <a:latin typeface="Yu Gothic" pitchFamily="34" charset="0"/>
                <a:ea typeface="Yu Gothic" pitchFamily="34" charset="-122"/>
              </a:rPr>
              <a:t> ⇨ </a:t>
            </a:r>
            <a:r>
              <a:rPr lang="en-US" sz="1250" i="1" dirty="0" err="1">
                <a:solidFill>
                  <a:srgbClr val="000000"/>
                </a:solidFill>
                <a:latin typeface="Yu Gothic" pitchFamily="34" charset="0"/>
                <a:ea typeface="Yu Gothic" pitchFamily="34" charset="-122"/>
              </a:rPr>
              <a:t>メネラウスの定理</a:t>
            </a:r>
            <a:endParaRPr lang="en-US" sz="1250" dirty="0"/>
          </a:p>
        </p:txBody>
      </p:sp>
      <p:sp>
        <p:nvSpPr>
          <p:cNvPr id="7" name="Text 5"/>
          <p:cNvSpPr/>
          <p:nvPr/>
        </p:nvSpPr>
        <p:spPr>
          <a:xfrm>
            <a:off x="457200" y="2103120"/>
            <a:ext cx="4663440" cy="32004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直線 AB，CD，EF の交点として次を定める。</a:t>
            </a:r>
            <a:endParaRPr lang="en-US" sz="1300" dirty="0"/>
          </a:p>
        </p:txBody>
      </p:sp>
      <p:sp>
        <p:nvSpPr>
          <p:cNvPr id="8" name="Text 6"/>
          <p:cNvSpPr/>
          <p:nvPr/>
        </p:nvSpPr>
        <p:spPr>
          <a:xfrm>
            <a:off x="457200" y="2450592"/>
            <a:ext cx="4754880" cy="457200"/>
          </a:xfrm>
          <a:prstGeom prst="rect">
            <a:avLst/>
          </a:prstGeom>
          <a:noFill/>
          <a:ln/>
        </p:spPr>
        <p:txBody>
          <a:bodyPr wrap="square" lIns="0" tIns="0" rIns="0" bIns="0" rtlCol="0" anchor="ctr"/>
          <a:lstStyle/>
          <a:p>
            <a:pPr marL="0" indent="0">
              <a:buNone/>
            </a:pPr>
            <a:r>
              <a:rPr lang="en-US" sz="1400" b="1" dirty="0">
                <a:solidFill>
                  <a:srgbClr val="993300"/>
                </a:solidFill>
                <a:latin typeface="Consolas" pitchFamily="34" charset="0"/>
                <a:ea typeface="Consolas" pitchFamily="34" charset="-122"/>
                <a:cs typeface="Consolas" pitchFamily="34" charset="-120"/>
              </a:rPr>
              <a:t>X = AB ∩ CD　　Y = CD ∩ EF　　Z = EF ∩ AB</a:t>
            </a:r>
            <a:endParaRPr lang="en-US" sz="1400" dirty="0"/>
          </a:p>
        </p:txBody>
      </p:sp>
      <p:sp>
        <p:nvSpPr>
          <p:cNvPr id="9" name="Text 7"/>
          <p:cNvSpPr/>
          <p:nvPr/>
        </p:nvSpPr>
        <p:spPr>
          <a:xfrm>
            <a:off x="457200" y="3017520"/>
            <a:ext cx="4663440" cy="457200"/>
          </a:xfrm>
          <a:prstGeom prst="rect">
            <a:avLst/>
          </a:prstGeom>
          <a:noFill/>
          <a:ln/>
        </p:spPr>
        <p:txBody>
          <a:bodyPr wrap="square" lIns="0" tIns="0" rIns="0" bIns="0" rtlCol="0" anchor="ctr"/>
          <a:lstStyle/>
          <a:p>
            <a:pPr marL="0" indent="0">
              <a:lnSpc>
                <a:spcPct val="130000"/>
              </a:lnSpc>
              <a:buNone/>
            </a:pPr>
            <a:r>
              <a:rPr lang="en-US" sz="1250" dirty="0">
                <a:solidFill>
                  <a:srgbClr val="333333"/>
                </a:solidFill>
                <a:latin typeface="Yu Gothic" pitchFamily="34" charset="0"/>
                <a:ea typeface="Yu Gothic" pitchFamily="34" charset="-122"/>
                <a:cs typeface="Yu Gothic" pitchFamily="34" charset="-120"/>
              </a:rPr>
              <a:t>残りの３本の直線 BCQ，DEP，FAR がこの △XYZ を横切っている。</a:t>
            </a:r>
            <a:endParaRPr lang="en-US" sz="1250" dirty="0"/>
          </a:p>
        </p:txBody>
      </p:sp>
      <p:sp>
        <p:nvSpPr>
          <p:cNvPr id="10" name="Shape 8"/>
          <p:cNvSpPr/>
          <p:nvPr/>
        </p:nvSpPr>
        <p:spPr>
          <a:xfrm>
            <a:off x="457200" y="3657600"/>
            <a:ext cx="4754880" cy="1170432"/>
          </a:xfrm>
          <a:prstGeom prst="rect">
            <a:avLst/>
          </a:prstGeom>
          <a:solidFill>
            <a:srgbClr val="FFFFFF"/>
          </a:solidFill>
          <a:ln w="12700">
            <a:solidFill>
              <a:srgbClr val="996633"/>
            </a:solidFill>
            <a:prstDash val="solid"/>
          </a:ln>
        </p:spPr>
        <p:txBody>
          <a:bodyPr/>
          <a:lstStyle/>
          <a:p>
            <a:endParaRPr lang="ja-JP" altLang="en-US"/>
          </a:p>
        </p:txBody>
      </p:sp>
      <p:sp>
        <p:nvSpPr>
          <p:cNvPr id="11" name="Text 9"/>
          <p:cNvSpPr/>
          <p:nvPr/>
        </p:nvSpPr>
        <p:spPr>
          <a:xfrm>
            <a:off x="621792" y="3730752"/>
            <a:ext cx="4480560" cy="320040"/>
          </a:xfrm>
          <a:prstGeom prst="rect">
            <a:avLst/>
          </a:prstGeom>
          <a:noFill/>
          <a:ln/>
        </p:spPr>
        <p:txBody>
          <a:bodyPr wrap="square" lIns="0" tIns="0" rIns="0" bIns="0" rtlCol="0" anchor="ctr"/>
          <a:lstStyle/>
          <a:p>
            <a:pPr marL="0" indent="0">
              <a:buNone/>
            </a:pPr>
            <a:r>
              <a:rPr lang="en-US" sz="1050" dirty="0">
                <a:solidFill>
                  <a:srgbClr val="333333"/>
                </a:solidFill>
                <a:latin typeface="Yu Gothic" pitchFamily="34" charset="0"/>
                <a:ea typeface="Yu Gothic" pitchFamily="34" charset="-122"/>
                <a:cs typeface="Yu Gothic" pitchFamily="34" charset="-120"/>
              </a:rPr>
              <a:t>メネラウスの定理の逆より，次が示せれば P, Q, R の共線が言える：</a:t>
            </a:r>
            <a:endParaRPr lang="en-US" sz="1050" dirty="0"/>
          </a:p>
        </p:txBody>
      </p:sp>
      <mc:AlternateContent xmlns:mc="http://schemas.openxmlformats.org/markup-compatibility/2006">
        <mc:Choice xmlns:a14="http://schemas.microsoft.com/office/drawing/2010/main" Requires="a14">
          <p:sp>
            <p:nvSpPr>
              <p:cNvPr id="12" name="Text 10"/>
              <p:cNvSpPr/>
              <p:nvPr/>
            </p:nvSpPr>
            <p:spPr>
              <a:xfrm>
                <a:off x="621792" y="4023360"/>
                <a:ext cx="4480560" cy="7772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n-US" altLang="ja-JP" sz="2000" b="1" i="1" smtClean="0">
                              <a:solidFill>
                                <a:srgbClr val="996633"/>
                              </a:solidFill>
                              <a:latin typeface="Cambria Math" panose="02040503050406030204" pitchFamily="18" charset="0"/>
                              <a:cs typeface="Consolas" pitchFamily="34" charset="-120"/>
                            </a:rPr>
                          </m:ctrlPr>
                        </m:fPr>
                        <m:num>
                          <m:r>
                            <m:rPr>
                              <m:sty m:val="p"/>
                            </m:rPr>
                            <a:rPr lang="en-US" altLang="ja-JP" sz="2000" b="1" i="1" smtClean="0">
                              <a:solidFill>
                                <a:srgbClr val="996633"/>
                              </a:solidFill>
                              <a:latin typeface="Cambria Math" panose="02040503050406030204" pitchFamily="18" charset="0"/>
                              <a:cs typeface="Consolas" pitchFamily="34" charset="-120"/>
                            </a:rPr>
                            <m:t>XP</m:t>
                          </m:r>
                        </m:num>
                        <m:den>
                          <m:r>
                            <m:rPr>
                              <m:sty m:val="p"/>
                            </m:rPr>
                            <a:rPr lang="en-US" altLang="ja-JP" sz="2000" b="1" i="1" smtClean="0">
                              <a:solidFill>
                                <a:srgbClr val="996633"/>
                              </a:solidFill>
                              <a:latin typeface="Cambria Math" panose="02040503050406030204" pitchFamily="18" charset="0"/>
                              <a:cs typeface="Consolas" pitchFamily="34" charset="-120"/>
                            </a:rPr>
                            <m:t>PZ</m:t>
                          </m:r>
                        </m:den>
                      </m:f>
                      <m: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QY</m:t>
                          </m:r>
                        </m:den>
                      </m:f>
                      <m: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RX</m:t>
                          </m:r>
                        </m:den>
                      </m:f>
                      <m:r>
                        <a:rPr lang="en-US" altLang="ja-JP" sz="2000" b="1" i="1" smtClean="0">
                          <a:solidFill>
                            <a:srgbClr val="996633"/>
                          </a:solidFill>
                          <a:latin typeface="Cambria Math" panose="02040503050406030204" pitchFamily="18" charset="0"/>
                          <a:ea typeface="Cambria Math" panose="02040503050406030204" pitchFamily="18" charset="0"/>
                          <a:cs typeface="Consolas" pitchFamily="34" charset="-120"/>
                        </a:rPr>
                        <m:t>=</m:t>
                      </m:r>
                    </m:oMath>
                  </m:oMathPara>
                </a14:m>
                <a:endParaRPr lang="en-US" sz="2000" dirty="0">
                  <a:solidFill>
                    <a:schemeClr val="accent2"/>
                  </a:solidFill>
                </a:endParaRPr>
              </a:p>
            </p:txBody>
          </p:sp>
        </mc:Choice>
        <mc:Fallback>
          <p:sp>
            <p:nvSpPr>
              <p:cNvPr id="12" name="Text 10"/>
              <p:cNvSpPr>
                <a:spLocks noRot="1" noChangeAspect="1" noMove="1" noResize="1" noEditPoints="1" noAdjustHandles="1" noChangeArrowheads="1" noChangeShapeType="1" noTextEdit="1"/>
              </p:cNvSpPr>
              <p:nvPr/>
            </p:nvSpPr>
            <p:spPr>
              <a:xfrm>
                <a:off x="621792" y="4023360"/>
                <a:ext cx="4480560" cy="777240"/>
              </a:xfrm>
              <a:prstGeom prst="rect">
                <a:avLst/>
              </a:prstGeom>
              <a:blipFill>
                <a:blip r:embed="rId3"/>
                <a:stretch>
                  <a:fillRect b="-3175"/>
                </a:stretch>
              </a:blipFill>
              <a:ln/>
            </p:spPr>
            <p:txBody>
              <a:bodyPr/>
              <a:lstStyle/>
              <a:p>
                <a:r>
                  <a:rPr lang="ja-JP" altLang="en-US">
                    <a:noFill/>
                  </a:rPr>
                  <a:t> </a:t>
                </a:r>
              </a:p>
            </p:txBody>
          </p:sp>
        </mc:Fallback>
      </mc:AlternateContent>
      <p:sp>
        <p:nvSpPr>
          <p:cNvPr id="13" name="Shape 11"/>
          <p:cNvSpPr/>
          <p:nvPr/>
        </p:nvSpPr>
        <p:spPr>
          <a:xfrm>
            <a:off x="5394960" y="1097280"/>
            <a:ext cx="3383280" cy="3383280"/>
          </a:xfrm>
          <a:prstGeom prst="rect">
            <a:avLst/>
          </a:prstGeom>
          <a:solidFill>
            <a:srgbClr val="FFFFFF"/>
          </a:solidFill>
          <a:ln w="9525">
            <a:solidFill>
              <a:srgbClr val="999999"/>
            </a:solidFill>
            <a:prstDash val="solid"/>
          </a:ln>
        </p:spPr>
        <p:txBody>
          <a:bodyPr/>
          <a:lstStyle/>
          <a:p>
            <a:endParaRPr lang="ja-JP" altLang="en-US"/>
          </a:p>
        </p:txBody>
      </p:sp>
      <p:sp>
        <p:nvSpPr>
          <p:cNvPr id="15" name="Text 12"/>
          <p:cNvSpPr/>
          <p:nvPr/>
        </p:nvSpPr>
        <p:spPr>
          <a:xfrm>
            <a:off x="5486400" y="4572000"/>
            <a:ext cx="3200400" cy="274320"/>
          </a:xfrm>
          <a:prstGeom prst="rect">
            <a:avLst/>
          </a:prstGeom>
          <a:noFill/>
          <a:ln/>
        </p:spPr>
        <p:txBody>
          <a:bodyPr wrap="square" lIns="0" tIns="0" rIns="0" bIns="0" rtlCol="0" anchor="ctr"/>
          <a:lstStyle/>
          <a:p>
            <a:pPr marL="0" indent="0" algn="ctr">
              <a:buNone/>
            </a:pPr>
            <a:r>
              <a:rPr lang="en-US" sz="1000" dirty="0">
                <a:solidFill>
                  <a:srgbClr val="333333"/>
                </a:solidFill>
                <a:latin typeface="Yu Gothic" pitchFamily="34" charset="0"/>
                <a:ea typeface="Yu Gothic" pitchFamily="34" charset="-122"/>
                <a:cs typeface="Yu Gothic" pitchFamily="34" charset="-120"/>
              </a:rPr>
              <a:t>補助三角形 △XYZ（橙破線）と目標点 P, Q, R（緑）</a:t>
            </a:r>
            <a:endParaRPr lang="en-US" sz="1000" dirty="0"/>
          </a:p>
        </p:txBody>
      </p:sp>
      <p:sp>
        <p:nvSpPr>
          <p:cNvPr id="16" name="Text 13"/>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7" name="Text 14"/>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06</a:t>
            </a:r>
            <a:endParaRPr lang="en-US" sz="1000" dirty="0"/>
          </a:p>
        </p:txBody>
      </p:sp>
      <p:cxnSp>
        <p:nvCxnSpPr>
          <p:cNvPr id="118" name="直線コネクタ 117">
            <a:extLst>
              <a:ext uri="{FF2B5EF4-FFF2-40B4-BE49-F238E27FC236}">
                <a16:creationId xmlns:a16="http://schemas.microsoft.com/office/drawing/2014/main" id="{43BDF963-89D8-D599-32B8-B55055CE8624}"/>
              </a:ext>
            </a:extLst>
          </p:cNvPr>
          <p:cNvCxnSpPr>
            <a:cxnSpLocks/>
            <a:stCxn id="114" idx="4"/>
            <a:endCxn id="112" idx="0"/>
          </p:cNvCxnSpPr>
          <p:nvPr/>
        </p:nvCxnSpPr>
        <p:spPr>
          <a:xfrm flipH="1" flipV="1">
            <a:off x="6350487" y="1658145"/>
            <a:ext cx="530887" cy="1649074"/>
          </a:xfrm>
          <a:prstGeom prst="line">
            <a:avLst/>
          </a:prstGeom>
          <a:ln w="76200">
            <a:solidFill>
              <a:srgbClr val="7030A0">
                <a:alpha val="50000"/>
              </a:srgb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BCADF04D-09E2-7B33-B042-C8790905D842}"/>
              </a:ext>
            </a:extLst>
          </p:cNvPr>
          <p:cNvGrpSpPr/>
          <p:nvPr/>
        </p:nvGrpSpPr>
        <p:grpSpPr>
          <a:xfrm>
            <a:off x="5399903" y="1581912"/>
            <a:ext cx="3313343" cy="2249347"/>
            <a:chOff x="2212982" y="-154951"/>
            <a:chExt cx="7997453" cy="5429267"/>
          </a:xfrm>
        </p:grpSpPr>
        <p:cxnSp>
          <p:nvCxnSpPr>
            <p:cNvPr id="57" name="直線コネクタ 56">
              <a:extLst>
                <a:ext uri="{FF2B5EF4-FFF2-40B4-BE49-F238E27FC236}">
                  <a16:creationId xmlns:a16="http://schemas.microsoft.com/office/drawing/2014/main" id="{6C236504-1402-B1E7-3257-CB785DF90FC7}"/>
                </a:ext>
              </a:extLst>
            </p:cNvPr>
            <p:cNvCxnSpPr>
              <a:cxnSpLocks/>
            </p:cNvCxnSpPr>
            <p:nvPr/>
          </p:nvCxnSpPr>
          <p:spPr>
            <a:xfrm flipV="1">
              <a:off x="5962891" y="2685797"/>
              <a:ext cx="1767364" cy="2511943"/>
            </a:xfrm>
            <a:prstGeom prst="line">
              <a:avLst/>
            </a:prstGeom>
            <a:ln w="15875">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77E387FE-06B4-EF5C-1649-63B6A9B7272B}"/>
                </a:ext>
              </a:extLst>
            </p:cNvPr>
            <p:cNvCxnSpPr>
              <a:cxnSpLocks/>
            </p:cNvCxnSpPr>
            <p:nvPr/>
          </p:nvCxnSpPr>
          <p:spPr>
            <a:xfrm flipV="1">
              <a:off x="2212982" y="3091528"/>
              <a:ext cx="6092435" cy="2133496"/>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E14B1317-D34E-CAE0-C5CF-E82DDF61B65B}"/>
                </a:ext>
              </a:extLst>
            </p:cNvPr>
            <p:cNvCxnSpPr>
              <a:cxnSpLocks/>
            </p:cNvCxnSpPr>
            <p:nvPr/>
          </p:nvCxnSpPr>
          <p:spPr>
            <a:xfrm flipH="1" flipV="1">
              <a:off x="4237936" y="2959416"/>
              <a:ext cx="5908665" cy="2154341"/>
            </a:xfrm>
            <a:prstGeom prst="line">
              <a:avLst/>
            </a:prstGeom>
            <a:ln w="190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F2E89378-3E78-4CD6-9F89-8847402971D7}"/>
                </a:ext>
              </a:extLst>
            </p:cNvPr>
            <p:cNvCxnSpPr>
              <a:cxnSpLocks/>
            </p:cNvCxnSpPr>
            <p:nvPr/>
          </p:nvCxnSpPr>
          <p:spPr>
            <a:xfrm flipH="1" flipV="1">
              <a:off x="4456951" y="-105658"/>
              <a:ext cx="1719231" cy="5314027"/>
            </a:xfrm>
            <a:prstGeom prst="line">
              <a:avLst/>
            </a:prstGeom>
            <a:ln w="15875">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B36480D-72CB-B5D8-A8DB-5269A643C29F}"/>
                </a:ext>
              </a:extLst>
            </p:cNvPr>
            <p:cNvCxnSpPr>
              <a:cxnSpLocks/>
            </p:cNvCxnSpPr>
            <p:nvPr/>
          </p:nvCxnSpPr>
          <p:spPr>
            <a:xfrm flipV="1">
              <a:off x="2585013" y="505654"/>
              <a:ext cx="4154397" cy="4768662"/>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EF8F9F70-8A7C-C851-CFF8-6B34DF763D0D}"/>
                </a:ext>
              </a:extLst>
            </p:cNvPr>
            <p:cNvCxnSpPr>
              <a:cxnSpLocks/>
            </p:cNvCxnSpPr>
            <p:nvPr/>
          </p:nvCxnSpPr>
          <p:spPr>
            <a:xfrm>
              <a:off x="4266375" y="-154951"/>
              <a:ext cx="5717852" cy="5344363"/>
            </a:xfrm>
            <a:prstGeom prst="line">
              <a:avLst/>
            </a:prstGeom>
            <a:ln w="190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63" name="Shape 0">
              <a:extLst>
                <a:ext uri="{FF2B5EF4-FFF2-40B4-BE49-F238E27FC236}">
                  <a16:creationId xmlns:a16="http://schemas.microsoft.com/office/drawing/2014/main" id="{A4BA473B-6ACC-D002-DB60-71A04237B4A3}"/>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64" name="Shape 1">
              <a:extLst>
                <a:ext uri="{FF2B5EF4-FFF2-40B4-BE49-F238E27FC236}">
                  <a16:creationId xmlns:a16="http://schemas.microsoft.com/office/drawing/2014/main" id="{7BA8B3F2-7431-BAF1-8DDF-0BA4B7988A52}"/>
                </a:ext>
              </a:extLst>
            </p:cNvPr>
            <p:cNvSpPr/>
            <p:nvPr/>
          </p:nvSpPr>
          <p:spPr>
            <a:xfrm>
              <a:off x="5184679" y="2228069"/>
              <a:ext cx="72838" cy="72838"/>
            </a:xfrm>
            <a:prstGeom prst="ellipse">
              <a:avLst/>
            </a:prstGeom>
            <a:solidFill>
              <a:schemeClr val="tx1"/>
            </a:solidFill>
            <a:ln/>
          </p:spPr>
          <p:txBody>
            <a:bodyPr/>
            <a:lstStyle/>
            <a:p>
              <a:r>
                <a:rPr lang="en-US" altLang="ja-JP" dirty="0"/>
                <a:t>F</a:t>
              </a:r>
              <a:endParaRPr lang="ja-JP" altLang="en-US"/>
            </a:p>
          </p:txBody>
        </p:sp>
        <p:sp>
          <p:nvSpPr>
            <p:cNvPr id="65" name="Shape 2">
              <a:extLst>
                <a:ext uri="{FF2B5EF4-FFF2-40B4-BE49-F238E27FC236}">
                  <a16:creationId xmlns:a16="http://schemas.microsoft.com/office/drawing/2014/main" id="{2F9C05E6-403C-D659-479B-2B4F08873016}"/>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66" name="Shape 3">
              <a:extLst>
                <a:ext uri="{FF2B5EF4-FFF2-40B4-BE49-F238E27FC236}">
                  <a16:creationId xmlns:a16="http://schemas.microsoft.com/office/drawing/2014/main" id="{EE83C19A-256B-8735-246A-C7AC220AFD2B}"/>
                </a:ext>
              </a:extLst>
            </p:cNvPr>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67" name="Shape 4">
              <a:extLst>
                <a:ext uri="{FF2B5EF4-FFF2-40B4-BE49-F238E27FC236}">
                  <a16:creationId xmlns:a16="http://schemas.microsoft.com/office/drawing/2014/main" id="{E3918848-915A-4465-9BAE-65C731BDF2BC}"/>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68" name="Shape 5">
              <a:extLst>
                <a:ext uri="{FF2B5EF4-FFF2-40B4-BE49-F238E27FC236}">
                  <a16:creationId xmlns:a16="http://schemas.microsoft.com/office/drawing/2014/main" id="{E1C4058F-6B28-66BA-DF7A-E9EFBF69ECF3}"/>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69" name="Shape 6">
              <a:extLst>
                <a:ext uri="{FF2B5EF4-FFF2-40B4-BE49-F238E27FC236}">
                  <a16:creationId xmlns:a16="http://schemas.microsoft.com/office/drawing/2014/main" id="{B5CCA74B-1A7F-F2CB-ECAD-0E40614FA33E}"/>
                </a:ext>
              </a:extLst>
            </p:cNvPr>
            <p:cNvSpPr/>
            <p:nvPr/>
          </p:nvSpPr>
          <p:spPr>
            <a:xfrm>
              <a:off x="5908211" y="1382815"/>
              <a:ext cx="72838" cy="72838"/>
            </a:xfrm>
            <a:prstGeom prst="ellipse">
              <a:avLst/>
            </a:prstGeom>
            <a:solidFill>
              <a:schemeClr val="tx1"/>
            </a:solidFill>
            <a:ln/>
          </p:spPr>
          <p:txBody>
            <a:bodyPr>
              <a:noAutofit/>
            </a:bodyPr>
            <a:lstStyle/>
            <a:p>
              <a:r>
                <a:rPr lang="en-US" altLang="ja-JP" dirty="0"/>
                <a:t>A</a:t>
              </a:r>
              <a:endParaRPr lang="ja-JP" altLang="en-US"/>
            </a:p>
          </p:txBody>
        </p:sp>
        <p:cxnSp>
          <p:nvCxnSpPr>
            <p:cNvPr id="70" name="直線コネクタ 69">
              <a:extLst>
                <a:ext uri="{FF2B5EF4-FFF2-40B4-BE49-F238E27FC236}">
                  <a16:creationId xmlns:a16="http://schemas.microsoft.com/office/drawing/2014/main" id="{4469E912-CA20-8E75-54D5-DC0902E8CB44}"/>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1" name="Shape 5">
              <a:extLst>
                <a:ext uri="{FF2B5EF4-FFF2-40B4-BE49-F238E27FC236}">
                  <a16:creationId xmlns:a16="http://schemas.microsoft.com/office/drawing/2014/main" id="{DF553A94-5DD5-059D-25B8-58ECC4FF0024}"/>
                </a:ext>
              </a:extLst>
            </p:cNvPr>
            <p:cNvSpPr/>
            <p:nvPr/>
          </p:nvSpPr>
          <p:spPr>
            <a:xfrm>
              <a:off x="2778143" y="4986687"/>
              <a:ext cx="72838" cy="72838"/>
            </a:xfrm>
            <a:prstGeom prst="ellipse">
              <a:avLst/>
            </a:prstGeom>
            <a:solidFill>
              <a:schemeClr val="tx1"/>
            </a:solidFill>
            <a:ln/>
          </p:spPr>
          <p:txBody>
            <a:bodyPr/>
            <a:lstStyle/>
            <a:p>
              <a:r>
                <a:rPr lang="en-US" altLang="ja-JP" dirty="0"/>
                <a:t>R</a:t>
              </a:r>
              <a:endParaRPr lang="ja-JP" altLang="en-US"/>
            </a:p>
          </p:txBody>
        </p:sp>
        <p:sp>
          <p:nvSpPr>
            <p:cNvPr id="72" name="Shape 4">
              <a:extLst>
                <a:ext uri="{FF2B5EF4-FFF2-40B4-BE49-F238E27FC236}">
                  <a16:creationId xmlns:a16="http://schemas.microsoft.com/office/drawing/2014/main" id="{324E5346-89D2-B8F2-CAC7-2722A37FA2D6}"/>
                </a:ext>
              </a:extLst>
            </p:cNvPr>
            <p:cNvSpPr/>
            <p:nvPr/>
          </p:nvSpPr>
          <p:spPr>
            <a:xfrm>
              <a:off x="6082434" y="4965888"/>
              <a:ext cx="72838" cy="72838"/>
            </a:xfrm>
            <a:prstGeom prst="ellipse">
              <a:avLst/>
            </a:prstGeom>
            <a:solidFill>
              <a:schemeClr val="tx1"/>
            </a:solidFill>
            <a:ln/>
          </p:spPr>
          <p:txBody>
            <a:bodyPr/>
            <a:lstStyle/>
            <a:p>
              <a:r>
                <a:rPr lang="en-US" altLang="ja-JP" dirty="0"/>
                <a:t>Q</a:t>
              </a:r>
              <a:endParaRPr lang="ja-JP" altLang="en-US"/>
            </a:p>
          </p:txBody>
        </p:sp>
        <p:sp>
          <p:nvSpPr>
            <p:cNvPr id="73" name="Shape 2">
              <a:extLst>
                <a:ext uri="{FF2B5EF4-FFF2-40B4-BE49-F238E27FC236}">
                  <a16:creationId xmlns:a16="http://schemas.microsoft.com/office/drawing/2014/main" id="{06816664-3A41-B836-869B-1D7EF05E79B4}"/>
                </a:ext>
              </a:extLst>
            </p:cNvPr>
            <p:cNvSpPr/>
            <p:nvPr/>
          </p:nvSpPr>
          <p:spPr>
            <a:xfrm>
              <a:off x="9655954" y="4890875"/>
              <a:ext cx="72838" cy="72838"/>
            </a:xfrm>
            <a:prstGeom prst="ellipse">
              <a:avLst/>
            </a:prstGeom>
            <a:solidFill>
              <a:schemeClr val="tx1"/>
            </a:solidFill>
            <a:ln/>
          </p:spPr>
          <p:txBody>
            <a:bodyPr/>
            <a:lstStyle/>
            <a:p>
              <a:r>
                <a:rPr lang="en-US" altLang="ja-JP" dirty="0"/>
                <a:t>P</a:t>
              </a:r>
              <a:endParaRPr lang="ja-JP" altLang="en-US"/>
            </a:p>
          </p:txBody>
        </p:sp>
        <p:sp>
          <p:nvSpPr>
            <p:cNvPr id="112" name="Shape 6">
              <a:extLst>
                <a:ext uri="{FF2B5EF4-FFF2-40B4-BE49-F238E27FC236}">
                  <a16:creationId xmlns:a16="http://schemas.microsoft.com/office/drawing/2014/main" id="{C6ACE005-0037-E6EE-0B00-77F064BBDE26}"/>
                </a:ext>
              </a:extLst>
            </p:cNvPr>
            <p:cNvSpPr/>
            <p:nvPr/>
          </p:nvSpPr>
          <p:spPr>
            <a:xfrm>
              <a:off x="4470997" y="29053"/>
              <a:ext cx="72838" cy="72838"/>
            </a:xfrm>
            <a:prstGeom prst="ellipse">
              <a:avLst/>
            </a:prstGeom>
            <a:solidFill>
              <a:schemeClr val="tx1"/>
            </a:solidFill>
            <a:ln/>
          </p:spPr>
          <p:txBody>
            <a:bodyPr>
              <a:noAutofit/>
            </a:bodyPr>
            <a:lstStyle/>
            <a:p>
              <a:r>
                <a:rPr lang="en-US" altLang="ja-JP" dirty="0"/>
                <a:t>Z</a:t>
              </a:r>
              <a:endParaRPr lang="ja-JP" altLang="en-US"/>
            </a:p>
          </p:txBody>
        </p:sp>
        <p:sp>
          <p:nvSpPr>
            <p:cNvPr id="113" name="Shape 3">
              <a:extLst>
                <a:ext uri="{FF2B5EF4-FFF2-40B4-BE49-F238E27FC236}">
                  <a16:creationId xmlns:a16="http://schemas.microsoft.com/office/drawing/2014/main" id="{732AFAF1-16E9-0A19-04D5-FC8DFF7C71EB}"/>
                </a:ext>
              </a:extLst>
            </p:cNvPr>
            <p:cNvSpPr/>
            <p:nvPr/>
          </p:nvSpPr>
          <p:spPr>
            <a:xfrm>
              <a:off x="7868930" y="3192564"/>
              <a:ext cx="72838" cy="72838"/>
            </a:xfrm>
            <a:prstGeom prst="ellipse">
              <a:avLst/>
            </a:prstGeom>
            <a:solidFill>
              <a:schemeClr val="tx1"/>
            </a:solidFill>
            <a:ln/>
          </p:spPr>
          <p:txBody>
            <a:bodyPr/>
            <a:lstStyle/>
            <a:p>
              <a:r>
                <a:rPr lang="en-US" altLang="ja-JP" dirty="0"/>
                <a:t>X</a:t>
              </a:r>
              <a:endParaRPr lang="ja-JP" altLang="en-US"/>
            </a:p>
          </p:txBody>
        </p:sp>
        <p:sp>
          <p:nvSpPr>
            <p:cNvPr id="114" name="Shape 4">
              <a:extLst>
                <a:ext uri="{FF2B5EF4-FFF2-40B4-BE49-F238E27FC236}">
                  <a16:creationId xmlns:a16="http://schemas.microsoft.com/office/drawing/2014/main" id="{34771301-851A-0BFD-CEA6-87F450A116DC}"/>
                </a:ext>
              </a:extLst>
            </p:cNvPr>
            <p:cNvSpPr/>
            <p:nvPr/>
          </p:nvSpPr>
          <p:spPr>
            <a:xfrm>
              <a:off x="5752405" y="3936597"/>
              <a:ext cx="72838" cy="72838"/>
            </a:xfrm>
            <a:prstGeom prst="ellipse">
              <a:avLst/>
            </a:prstGeom>
            <a:solidFill>
              <a:schemeClr val="tx1"/>
            </a:solidFill>
            <a:ln/>
          </p:spPr>
          <p:txBody>
            <a:bodyPr/>
            <a:lstStyle/>
            <a:p>
              <a:r>
                <a:rPr lang="en-US" altLang="ja-JP" dirty="0"/>
                <a:t>Y</a:t>
              </a:r>
              <a:endParaRPr lang="ja-JP" altLang="en-US"/>
            </a:p>
          </p:txBody>
        </p:sp>
      </p:grpSp>
      <p:cxnSp>
        <p:nvCxnSpPr>
          <p:cNvPr id="121" name="直線コネクタ 120">
            <a:extLst>
              <a:ext uri="{FF2B5EF4-FFF2-40B4-BE49-F238E27FC236}">
                <a16:creationId xmlns:a16="http://schemas.microsoft.com/office/drawing/2014/main" id="{FE3804B5-75CF-EDEA-9B3B-472C43634214}"/>
              </a:ext>
            </a:extLst>
          </p:cNvPr>
          <p:cNvCxnSpPr>
            <a:cxnSpLocks/>
            <a:stCxn id="112" idx="5"/>
            <a:endCxn id="113" idx="4"/>
          </p:cNvCxnSpPr>
          <p:nvPr/>
        </p:nvCxnSpPr>
        <p:spPr>
          <a:xfrm>
            <a:off x="6361156" y="1683903"/>
            <a:ext cx="1397094" cy="1315063"/>
          </a:xfrm>
          <a:prstGeom prst="line">
            <a:avLst/>
          </a:prstGeom>
          <a:ln w="76200">
            <a:solidFill>
              <a:srgbClr val="7030A0">
                <a:alpha val="50000"/>
              </a:srgbClr>
            </a:solidFill>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B68450BB-4CD6-B102-7C61-2ABBA29125A2}"/>
              </a:ext>
            </a:extLst>
          </p:cNvPr>
          <p:cNvCxnSpPr>
            <a:cxnSpLocks/>
            <a:endCxn id="113" idx="6"/>
          </p:cNvCxnSpPr>
          <p:nvPr/>
        </p:nvCxnSpPr>
        <p:spPr>
          <a:xfrm flipV="1">
            <a:off x="6866285" y="2983878"/>
            <a:ext cx="907053" cy="316840"/>
          </a:xfrm>
          <a:prstGeom prst="line">
            <a:avLst/>
          </a:prstGeom>
          <a:ln w="73025">
            <a:solidFill>
              <a:srgbClr val="7030A0">
                <a:alpha val="50000"/>
              </a:srgbClr>
            </a:solidFill>
          </a:ln>
        </p:spPr>
        <p:style>
          <a:lnRef idx="1">
            <a:schemeClr val="accent1"/>
          </a:lnRef>
          <a:fillRef idx="0">
            <a:schemeClr val="accent1"/>
          </a:fillRef>
          <a:effectRef idx="0">
            <a:schemeClr val="accent1"/>
          </a:effectRef>
          <a:fontRef idx="minor">
            <a:schemeClr val="tx1"/>
          </a:fontRef>
        </p:style>
      </p:cxnSp>
      <p:sp>
        <p:nvSpPr>
          <p:cNvPr id="128" name="Text 10">
            <a:extLst>
              <a:ext uri="{FF2B5EF4-FFF2-40B4-BE49-F238E27FC236}">
                <a16:creationId xmlns:a16="http://schemas.microsoft.com/office/drawing/2014/main" id="{294194A4-FB20-75DB-F9D5-6997512B3972}"/>
              </a:ext>
            </a:extLst>
          </p:cNvPr>
          <p:cNvSpPr/>
          <p:nvPr/>
        </p:nvSpPr>
        <p:spPr>
          <a:xfrm>
            <a:off x="3371161" y="4023360"/>
            <a:ext cx="1731190" cy="777240"/>
          </a:xfrm>
          <a:prstGeom prst="rect">
            <a:avLst/>
          </a:prstGeom>
          <a:noFill/>
          <a:ln/>
        </p:spPr>
        <p:txBody>
          <a:bodyPr wrap="square" lIns="0" tIns="0" rIns="0" bIns="0" rtlCol="0" anchor="ctr"/>
          <a:lstStyle/>
          <a:p>
            <a:pPr marL="0" indent="0" algn="ctr">
              <a:buNone/>
            </a:pPr>
            <a:r>
              <a:rPr lang="en-US" sz="3200" dirty="0">
                <a:solidFill>
                  <a:schemeClr val="accent2"/>
                </a:solidFill>
              </a:rPr>
              <a:t>1</a:t>
            </a:r>
            <a:r>
              <a:rPr lang="en-US" sz="2000" dirty="0">
                <a:solidFill>
                  <a:schemeClr val="accent2"/>
                </a:solidFill>
              </a:rPr>
              <a:t>‥(*)</a:t>
            </a:r>
            <a:endParaRPr lang="en-US" sz="3200" dirty="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6">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 calcmode="lin" valueType="num">
                                      <p:cBhvr additive="base">
                                        <p:cTn id="13" dur="500"/>
                                        <p:tgtEl>
                                          <p:spTgt spid="12">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28">
                                            <p:txEl>
                                              <p:pRg st="0" end="0"/>
                                            </p:txEl>
                                          </p:spTgt>
                                        </p:tgtEl>
                                        <p:attrNameLst>
                                          <p:attrName>style.visibility</p:attrName>
                                        </p:attrNameLst>
                                      </p:cBhvr>
                                      <p:to>
                                        <p:strVal val="visible"/>
                                      </p:to>
                                    </p:set>
                                    <p:anim calcmode="lin" valueType="num">
                                      <p:cBhvr additive="base">
                                        <p:cTn id="19" dur="500"/>
                                        <p:tgtEl>
                                          <p:spTgt spid="128">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6699"/>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6699"/>
                </a:solidFill>
                <a:latin typeface="Yu Gothic" pitchFamily="34" charset="0"/>
                <a:ea typeface="Yu Gothic" pitchFamily="34" charset="-122"/>
                <a:cs typeface="Yu Gothic" pitchFamily="34" charset="-120"/>
              </a:rPr>
              <a:t>STEP 1 · MENELAUS</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Step 1 - ①  直線 BCQ</a:t>
            </a:r>
            <a:endParaRPr lang="en-US" sz="3000" dirty="0"/>
          </a:p>
        </p:txBody>
      </p:sp>
      <p:sp>
        <p:nvSpPr>
          <p:cNvPr id="6" name="Shape 4"/>
          <p:cNvSpPr/>
          <p:nvPr/>
        </p:nvSpPr>
        <p:spPr>
          <a:xfrm>
            <a:off x="457200" y="2208433"/>
            <a:ext cx="4846320" cy="777240"/>
          </a:xfrm>
          <a:prstGeom prst="rect">
            <a:avLst/>
          </a:prstGeom>
          <a:solidFill>
            <a:srgbClr val="FFFFFF"/>
          </a:solidFill>
          <a:ln w="9525">
            <a:solidFill>
              <a:srgbClr val="9999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p:cNvSpPr/>
              <p:nvPr/>
            </p:nvSpPr>
            <p:spPr>
              <a:xfrm>
                <a:off x="640080" y="2208433"/>
                <a:ext cx="4480560" cy="777240"/>
              </a:xfrm>
              <a:prstGeom prst="rect">
                <a:avLst/>
              </a:prstGeom>
              <a:noFill/>
              <a:ln/>
            </p:spPr>
            <p:txBody>
              <a:bodyPr wrap="square" lIns="0" tIns="0" rIns="0" bIns="0" rtlCol="0" anchor="ctr"/>
              <a:lstStyle/>
              <a:p>
                <a:pPr marL="0" indent="0">
                  <a:buNone/>
                </a:pPr>
                <a14:m>
                  <m:oMathPara xmlns:m="http://schemas.openxmlformats.org/officeDocument/2006/math">
                    <m:oMathParaPr>
                      <m:jc m:val="centerGroup"/>
                    </m:oMathParaPr>
                    <m:oMath xmlns:m="http://schemas.openxmlformats.org/officeDocument/2006/math">
                      <m:f>
                        <m:fPr>
                          <m:ctrlPr>
                            <a:rPr lang="en-US" altLang="ja-JP" i="1" smtClean="0">
                              <a:solidFill>
                                <a:srgbClr val="000000"/>
                              </a:solidFill>
                              <a:latin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cs typeface="Consolas" pitchFamily="34" charset="-120"/>
                            </a:rPr>
                            <m:t>ZQ</m:t>
                          </m:r>
                        </m:num>
                        <m:den>
                          <m:r>
                            <m:rPr>
                              <m:sty m:val="p"/>
                            </m:rPr>
                            <a:rPr lang="en-US" altLang="ja-JP" b="0" i="1" smtClean="0">
                              <a:solidFill>
                                <a:srgbClr val="000000"/>
                              </a:solidFill>
                              <a:latin typeface="Cambria Math" panose="02040503050406030204" pitchFamily="18" charset="0"/>
                              <a:cs typeface="Consolas" pitchFamily="34" charset="-120"/>
                            </a:rPr>
                            <m:t>QY</m:t>
                          </m:r>
                        </m:den>
                      </m:f>
                      <m:r>
                        <a:rPr lang="en-US" altLang="ja-JP" i="1" smtClean="0">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smtClean="0">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YC</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CX</m:t>
                          </m:r>
                        </m:den>
                      </m:f>
                      <m:r>
                        <a:rPr lang="en-US" altLang="ja-JP" i="1" smtClean="0">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smtClean="0">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XB</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BZ</m:t>
                          </m:r>
                        </m:den>
                      </m:f>
                      <m: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=1</m:t>
                      </m:r>
                    </m:oMath>
                  </m:oMathPara>
                </a14:m>
                <a:endParaRPr lang="en-US" dirty="0"/>
              </a:p>
            </p:txBody>
          </p:sp>
        </mc:Choice>
        <mc:Fallback>
          <p:sp>
            <p:nvSpPr>
              <p:cNvPr id="7" name="Text 5"/>
              <p:cNvSpPr>
                <a:spLocks noRot="1" noChangeAspect="1" noMove="1" noResize="1" noEditPoints="1" noAdjustHandles="1" noChangeArrowheads="1" noChangeShapeType="1" noTextEdit="1"/>
              </p:cNvSpPr>
              <p:nvPr/>
            </p:nvSpPr>
            <p:spPr>
              <a:xfrm>
                <a:off x="640080" y="2208433"/>
                <a:ext cx="4480560" cy="777240"/>
              </a:xfrm>
              <a:prstGeom prst="rect">
                <a:avLst/>
              </a:prstGeom>
              <a:blipFill>
                <a:blip r:embed="rId3"/>
                <a:stretch>
                  <a:fillRect/>
                </a:stretch>
              </a:blipFill>
              <a:ln/>
            </p:spPr>
            <p:txBody>
              <a:bodyPr/>
              <a:lstStyle/>
              <a:p>
                <a:r>
                  <a:rPr lang="ja-JP" altLang="en-US">
                    <a:noFill/>
                  </a:rPr>
                  <a:t> </a:t>
                </a:r>
              </a:p>
            </p:txBody>
          </p:sp>
        </mc:Fallback>
      </mc:AlternateContent>
      <p:sp>
        <p:nvSpPr>
          <p:cNvPr id="8" name="Shape 6"/>
          <p:cNvSpPr/>
          <p:nvPr/>
        </p:nvSpPr>
        <p:spPr>
          <a:xfrm>
            <a:off x="594360" y="3214273"/>
            <a:ext cx="292608" cy="292608"/>
          </a:xfrm>
          <a:prstGeom prst="ellipse">
            <a:avLst/>
          </a:prstGeom>
          <a:solidFill>
            <a:srgbClr val="FFFFFF"/>
          </a:solidFill>
          <a:ln w="15240">
            <a:solidFill>
              <a:srgbClr val="336699"/>
            </a:solidFill>
            <a:prstDash val="solid"/>
          </a:ln>
        </p:spPr>
        <p:txBody>
          <a:bodyPr/>
          <a:lstStyle/>
          <a:p>
            <a:endParaRPr lang="ja-JP" altLang="en-US"/>
          </a:p>
        </p:txBody>
      </p:sp>
      <p:sp>
        <p:nvSpPr>
          <p:cNvPr id="9" name="Text 7"/>
          <p:cNvSpPr/>
          <p:nvPr/>
        </p:nvSpPr>
        <p:spPr>
          <a:xfrm>
            <a:off x="594360" y="3214273"/>
            <a:ext cx="292608" cy="292608"/>
          </a:xfrm>
          <a:prstGeom prst="rect">
            <a:avLst/>
          </a:prstGeom>
          <a:noFill/>
          <a:ln/>
        </p:spPr>
        <p:txBody>
          <a:bodyPr wrap="square" lIns="0" tIns="0" rIns="0" bIns="0" rtlCol="0" anchor="ctr"/>
          <a:lstStyle/>
          <a:p>
            <a:pPr marL="0" indent="0" algn="ctr">
              <a:buNone/>
            </a:pPr>
            <a:r>
              <a:rPr lang="en-US" sz="1400" dirty="0">
                <a:solidFill>
                  <a:srgbClr val="336699"/>
                </a:solidFill>
                <a:latin typeface="Yu Gothic" pitchFamily="34" charset="0"/>
                <a:ea typeface="Yu Gothic" pitchFamily="34" charset="-122"/>
                <a:cs typeface="Yu Gothic" pitchFamily="34" charset="-120"/>
              </a:rPr>
              <a:t>⇒</a:t>
            </a:r>
            <a:endParaRPr lang="en-US" sz="1400" dirty="0"/>
          </a:p>
        </p:txBody>
      </p:sp>
      <p:sp>
        <p:nvSpPr>
          <p:cNvPr id="10" name="Shape 8"/>
          <p:cNvSpPr/>
          <p:nvPr/>
        </p:nvSpPr>
        <p:spPr>
          <a:xfrm>
            <a:off x="1005840" y="3122833"/>
            <a:ext cx="4297680" cy="594360"/>
          </a:xfrm>
          <a:prstGeom prst="rect">
            <a:avLst/>
          </a:prstGeom>
          <a:solidFill>
            <a:srgbClr val="FFFFFF"/>
          </a:solidFill>
          <a:ln w="12700">
            <a:solidFill>
              <a:srgbClr val="3366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11" name="Text 9"/>
              <p:cNvSpPr/>
              <p:nvPr/>
            </p:nvSpPr>
            <p:spPr>
              <a:xfrm>
                <a:off x="1188720" y="3122833"/>
                <a:ext cx="4023360" cy="594360"/>
              </a:xfrm>
              <a:prstGeom prst="rect">
                <a:avLst/>
              </a:prstGeom>
              <a:noFill/>
              <a:ln/>
            </p:spPr>
            <p:txBody>
              <a:bodyPr wrap="square" lIns="0" tIns="0" rIns="0" bIns="0" rtlCol="0" anchor="ctr"/>
              <a:lstStyle/>
              <a:p>
                <a:pPr/>
                <a14:m>
                  <m:oMathPara xmlns:m="http://schemas.openxmlformats.org/officeDocument/2006/math">
                    <m:oMathParaPr>
                      <m:jc m:val="center"/>
                    </m:oMathParaPr>
                    <m:oMath xmlns:m="http://schemas.openxmlformats.org/officeDocument/2006/math">
                      <m:f>
                        <m:fPr>
                          <m:ctrlPr>
                            <a:rPr lang="en-US" altLang="ja-JP" sz="1600" i="1" smtClean="0">
                              <a:solidFill>
                                <a:schemeClr val="accent1"/>
                              </a:solidFill>
                              <a:latin typeface="Cambria Math" panose="02040503050406030204" pitchFamily="18" charset="0"/>
                              <a:cs typeface="Consolas" pitchFamily="34" charset="-120"/>
                            </a:rPr>
                          </m:ctrlPr>
                        </m:fPr>
                        <m:num>
                          <m:r>
                            <m:rPr>
                              <m:sty m:val="p"/>
                            </m:rPr>
                            <a:rPr lang="en-US" altLang="ja-JP" sz="1600" i="1">
                              <a:solidFill>
                                <a:schemeClr val="accent1"/>
                              </a:solidFill>
                              <a:latin typeface="Cambria Math" panose="02040503050406030204" pitchFamily="18" charset="0"/>
                              <a:cs typeface="Consolas" pitchFamily="34" charset="-120"/>
                            </a:rPr>
                            <m:t>ZQ</m:t>
                          </m:r>
                        </m:num>
                        <m:den>
                          <m:r>
                            <m:rPr>
                              <m:sty m:val="p"/>
                            </m:rPr>
                            <a:rPr lang="en-US" altLang="ja-JP" sz="1600" i="1">
                              <a:solidFill>
                                <a:schemeClr val="accent1"/>
                              </a:solidFill>
                              <a:latin typeface="Cambria Math" panose="02040503050406030204" pitchFamily="18" charset="0"/>
                              <a:cs typeface="Consolas" pitchFamily="34" charset="-120"/>
                            </a:rPr>
                            <m:t>QY</m:t>
                          </m:r>
                        </m:den>
                      </m:f>
                      <m:r>
                        <a:rPr lang="en-US" altLang="ja-JP" sz="1600" b="0" i="1" smtClean="0">
                          <a:solidFill>
                            <a:schemeClr val="accent1"/>
                          </a:solidFill>
                          <a:latin typeface="Cambria Math" panose="02040503050406030204" pitchFamily="18" charset="0"/>
                          <a:cs typeface="Consolas" pitchFamily="34" charset="-120"/>
                        </a:rPr>
                        <m:t>=</m:t>
                      </m:r>
                      <m:f>
                        <m:fPr>
                          <m:ctrl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b="0" i="1" smtClean="0">
                              <a:solidFill>
                                <a:schemeClr val="accent1"/>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sz="1600" b="0" i="1" smtClean="0">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b="0" i="1" smtClean="0">
                              <a:solidFill>
                                <a:schemeClr val="accent1"/>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sz="1600" b="0" i="1" smtClean="0">
                              <a:solidFill>
                                <a:schemeClr val="accent1"/>
                              </a:solidFill>
                              <a:latin typeface="Cambria Math" panose="02040503050406030204" pitchFamily="18" charset="0"/>
                              <a:ea typeface="Cambria Math" panose="02040503050406030204" pitchFamily="18" charset="0"/>
                              <a:cs typeface="Consolas" pitchFamily="34" charset="-120"/>
                            </a:rPr>
                            <m:t>XB</m:t>
                          </m:r>
                        </m:den>
                      </m:f>
                    </m:oMath>
                  </m:oMathPara>
                </a14:m>
                <a:endParaRPr lang="en-US" altLang="ja-JP" sz="1600" dirty="0">
                  <a:solidFill>
                    <a:schemeClr val="accent1"/>
                  </a:solidFill>
                </a:endParaRPr>
              </a:p>
            </p:txBody>
          </p:sp>
        </mc:Choice>
        <mc:Fallback>
          <p:sp>
            <p:nvSpPr>
              <p:cNvPr id="11" name="Text 9"/>
              <p:cNvSpPr>
                <a:spLocks noRot="1" noChangeAspect="1" noMove="1" noResize="1" noEditPoints="1" noAdjustHandles="1" noChangeArrowheads="1" noChangeShapeType="1" noTextEdit="1"/>
              </p:cNvSpPr>
              <p:nvPr/>
            </p:nvSpPr>
            <p:spPr>
              <a:xfrm>
                <a:off x="1188720" y="3122833"/>
                <a:ext cx="4023360" cy="594360"/>
              </a:xfrm>
              <a:prstGeom prst="rect">
                <a:avLst/>
              </a:prstGeom>
              <a:blipFill>
                <a:blip r:embed="rId4"/>
                <a:stretch>
                  <a:fillRect b="-6250"/>
                </a:stretch>
              </a:blipFill>
              <a:ln/>
            </p:spPr>
            <p:txBody>
              <a:bodyPr/>
              <a:lstStyle/>
              <a:p>
                <a:r>
                  <a:rPr lang="ja-JP" altLang="en-US">
                    <a:noFill/>
                  </a:rPr>
                  <a:t> </a:t>
                </a:r>
              </a:p>
            </p:txBody>
          </p:sp>
        </mc:Fallback>
      </mc:AlternateContent>
      <p:sp>
        <p:nvSpPr>
          <p:cNvPr id="12" name="Text 10"/>
          <p:cNvSpPr/>
          <p:nvPr/>
        </p:nvSpPr>
        <p:spPr>
          <a:xfrm>
            <a:off x="457200" y="3611880"/>
            <a:ext cx="4846320" cy="1005840"/>
          </a:xfrm>
          <a:prstGeom prst="rect">
            <a:avLst/>
          </a:prstGeom>
          <a:noFill/>
          <a:ln/>
        </p:spPr>
        <p:txBody>
          <a:bodyPr wrap="square" lIns="0" tIns="0" rIns="0" bIns="0" rtlCol="0" anchor="ctr"/>
          <a:lstStyle/>
          <a:p>
            <a:pPr marL="0" indent="0">
              <a:lnSpc>
                <a:spcPct val="130000"/>
              </a:lnSpc>
              <a:buNone/>
            </a:pPr>
            <a:r>
              <a:rPr lang="en-US" sz="1200" dirty="0">
                <a:solidFill>
                  <a:srgbClr val="333333"/>
                </a:solidFill>
                <a:latin typeface="Yu Gothic" pitchFamily="34" charset="0"/>
                <a:ea typeface="Yu Gothic" pitchFamily="34" charset="-122"/>
                <a:cs typeface="Yu Gothic" pitchFamily="34" charset="-120"/>
              </a:rPr>
              <a:t>△ XYZ </a:t>
            </a:r>
            <a:r>
              <a:rPr lang="en-US" sz="1200" dirty="0" err="1">
                <a:solidFill>
                  <a:srgbClr val="333333"/>
                </a:solidFill>
                <a:latin typeface="Yu Gothic" pitchFamily="34" charset="0"/>
                <a:ea typeface="Yu Gothic" pitchFamily="34" charset="-122"/>
                <a:cs typeface="Yu Gothic" pitchFamily="34" charset="-120"/>
              </a:rPr>
              <a:t>において、分点</a:t>
            </a:r>
            <a:r>
              <a:rPr lang="en-US" sz="1200" dirty="0">
                <a:solidFill>
                  <a:srgbClr val="333333"/>
                </a:solidFill>
                <a:latin typeface="Yu Gothic" pitchFamily="34" charset="0"/>
                <a:ea typeface="Yu Gothic" pitchFamily="34" charset="-122"/>
                <a:cs typeface="Yu Gothic" pitchFamily="34" charset="-120"/>
              </a:rPr>
              <a:t> B（XZ 上）と C（XY 上）を通る直線が，目標の分点 Q（ZY 上）を作る。これがメネラウスの１回目の適用。</a:t>
            </a:r>
            <a:endParaRPr lang="en-US" sz="1200" dirty="0"/>
          </a:p>
        </p:txBody>
      </p:sp>
      <p:sp>
        <p:nvSpPr>
          <p:cNvPr id="13" name="Shape 11"/>
          <p:cNvSpPr/>
          <p:nvPr/>
        </p:nvSpPr>
        <p:spPr>
          <a:xfrm>
            <a:off x="5486400" y="1097280"/>
            <a:ext cx="3291840" cy="3291840"/>
          </a:xfrm>
          <a:prstGeom prst="rect">
            <a:avLst/>
          </a:prstGeom>
          <a:solidFill>
            <a:srgbClr val="FFFFFF"/>
          </a:solidFill>
          <a:ln w="9525">
            <a:solidFill>
              <a:srgbClr val="999999"/>
            </a:solidFill>
            <a:prstDash val="solid"/>
          </a:ln>
        </p:spPr>
        <p:txBody>
          <a:bodyPr/>
          <a:lstStyle/>
          <a:p>
            <a:endParaRPr lang="ja-JP" altLang="en-US"/>
          </a:p>
        </p:txBody>
      </p:sp>
      <p:sp>
        <p:nvSpPr>
          <p:cNvPr id="15" name="Text 12"/>
          <p:cNvSpPr/>
          <p:nvPr/>
        </p:nvSpPr>
        <p:spPr>
          <a:xfrm>
            <a:off x="5577840" y="4498848"/>
            <a:ext cx="310896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Yu Gothic" pitchFamily="34" charset="0"/>
                <a:ea typeface="Yu Gothic" pitchFamily="34" charset="-122"/>
                <a:cs typeface="Yu Gothic" pitchFamily="34" charset="-120"/>
              </a:rPr>
              <a:t>① 直線 BCQ が △XYZ を横切る</a:t>
            </a:r>
            <a:endParaRPr lang="en-US" sz="1000" dirty="0"/>
          </a:p>
        </p:txBody>
      </p:sp>
      <p:sp>
        <p:nvSpPr>
          <p:cNvPr id="16" name="Text 13"/>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7" name="Text 14"/>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07</a:t>
            </a:r>
            <a:endParaRPr lang="en-US" sz="1000" dirty="0"/>
          </a:p>
        </p:txBody>
      </p:sp>
      <p:sp>
        <p:nvSpPr>
          <p:cNvPr id="41" name="Shape 3">
            <a:extLst>
              <a:ext uri="{FF2B5EF4-FFF2-40B4-BE49-F238E27FC236}">
                <a16:creationId xmlns:a16="http://schemas.microsoft.com/office/drawing/2014/main" id="{AF88F9C7-512B-DF1C-5E01-01ED943C1CC7}"/>
              </a:ext>
            </a:extLst>
          </p:cNvPr>
          <p:cNvSpPr/>
          <p:nvPr/>
        </p:nvSpPr>
        <p:spPr>
          <a:xfrm>
            <a:off x="457200" y="1325880"/>
            <a:ext cx="4843354" cy="594360"/>
          </a:xfrm>
          <a:prstGeom prst="rect">
            <a:avLst/>
          </a:prstGeom>
          <a:solidFill>
            <a:srgbClr val="FFFFFF"/>
          </a:solidFill>
          <a:ln w="9525">
            <a:solidFill>
              <a:srgbClr val="999999"/>
            </a:solidFill>
            <a:prstDash val="solid"/>
          </a:ln>
        </p:spPr>
        <p:txBody>
          <a:bodyPr/>
          <a:lstStyle/>
          <a:p>
            <a:endParaRPr lang="ja-JP" altLang="en-US"/>
          </a:p>
        </p:txBody>
      </p:sp>
      <p:sp>
        <p:nvSpPr>
          <p:cNvPr id="42" name="Text 4">
            <a:extLst>
              <a:ext uri="{FF2B5EF4-FFF2-40B4-BE49-F238E27FC236}">
                <a16:creationId xmlns:a16="http://schemas.microsoft.com/office/drawing/2014/main" id="{9CBADD98-A1CF-EF18-62BC-540E2B162653}"/>
              </a:ext>
            </a:extLst>
          </p:cNvPr>
          <p:cNvSpPr/>
          <p:nvPr/>
        </p:nvSpPr>
        <p:spPr>
          <a:xfrm>
            <a:off x="516464" y="1335024"/>
            <a:ext cx="4696659" cy="594360"/>
          </a:xfrm>
          <a:prstGeom prst="rect">
            <a:avLst/>
          </a:prstGeom>
          <a:noFill/>
          <a:ln/>
        </p:spPr>
        <p:txBody>
          <a:bodyPr wrap="square" lIns="0" tIns="0" rIns="0" bIns="0" rtlCol="0" anchor="ctr"/>
          <a:lstStyle/>
          <a:p>
            <a:pPr marL="0" indent="0">
              <a:buNone/>
            </a:pPr>
            <a:r>
              <a:rPr lang="en-US" sz="1250" i="1" dirty="0" err="1">
                <a:solidFill>
                  <a:srgbClr val="000000"/>
                </a:solidFill>
                <a:latin typeface="Yu Gothic" pitchFamily="34" charset="0"/>
                <a:ea typeface="Yu Gothic" pitchFamily="34" charset="-122"/>
                <a:cs typeface="Yu Gothic" pitchFamily="34" charset="-120"/>
              </a:rPr>
              <a:t>三角形</a:t>
            </a:r>
            <a:r>
              <a:rPr lang="en-US" sz="1250" i="1" dirty="0">
                <a:solidFill>
                  <a:srgbClr val="000000"/>
                </a:solidFill>
                <a:latin typeface="Yu Gothic" pitchFamily="34" charset="0"/>
                <a:ea typeface="Yu Gothic" pitchFamily="34" charset="-122"/>
                <a:cs typeface="Yu Gothic" pitchFamily="34" charset="-120"/>
              </a:rPr>
              <a:t> XYZ の3辺(</a:t>
            </a:r>
            <a:r>
              <a:rPr lang="en-US" sz="1250" i="1" dirty="0" err="1">
                <a:solidFill>
                  <a:srgbClr val="000000"/>
                </a:solidFill>
                <a:latin typeface="Yu Gothic" pitchFamily="34" charset="0"/>
                <a:ea typeface="Yu Gothic" pitchFamily="34" charset="-122"/>
                <a:cs typeface="Yu Gothic" pitchFamily="34" charset="-120"/>
              </a:rPr>
              <a:t>延長線</a:t>
            </a:r>
            <a:r>
              <a:rPr lang="en-US" sz="1250" i="1" dirty="0">
                <a:solidFill>
                  <a:srgbClr val="000000"/>
                </a:solidFill>
                <a:latin typeface="Yu Gothic" pitchFamily="34" charset="0"/>
                <a:ea typeface="Yu Gothic" pitchFamily="34" charset="-122"/>
                <a:cs typeface="Yu Gothic" pitchFamily="34" charset="-120"/>
              </a:rPr>
              <a:t>)とある1つの直線との関係性を調べる</a:t>
            </a:r>
          </a:p>
          <a:p>
            <a:pPr marL="0" indent="0">
              <a:lnSpc>
                <a:spcPct val="150000"/>
              </a:lnSpc>
              <a:buNone/>
            </a:pPr>
            <a:r>
              <a:rPr lang="en-US" sz="1250" i="1" dirty="0">
                <a:solidFill>
                  <a:srgbClr val="000000"/>
                </a:solidFill>
                <a:latin typeface="Yu Gothic" pitchFamily="34" charset="0"/>
                <a:ea typeface="Yu Gothic" pitchFamily="34" charset="-122"/>
              </a:rPr>
              <a:t> ⇨ </a:t>
            </a:r>
            <a:r>
              <a:rPr lang="en-US" sz="1250" i="1" dirty="0" err="1">
                <a:solidFill>
                  <a:srgbClr val="000000"/>
                </a:solidFill>
                <a:latin typeface="Yu Gothic" pitchFamily="34" charset="0"/>
                <a:ea typeface="Yu Gothic" pitchFamily="34" charset="-122"/>
              </a:rPr>
              <a:t>メネラウスの定理</a:t>
            </a:r>
            <a:endParaRPr lang="en-US" sz="1250" dirty="0"/>
          </a:p>
        </p:txBody>
      </p:sp>
      <p:grpSp>
        <p:nvGrpSpPr>
          <p:cNvPr id="43" name="グループ化 42">
            <a:extLst>
              <a:ext uri="{FF2B5EF4-FFF2-40B4-BE49-F238E27FC236}">
                <a16:creationId xmlns:a16="http://schemas.microsoft.com/office/drawing/2014/main" id="{BAE03AB6-4217-2A0B-5D53-A207EF2A23B7}"/>
              </a:ext>
            </a:extLst>
          </p:cNvPr>
          <p:cNvGrpSpPr/>
          <p:nvPr/>
        </p:nvGrpSpPr>
        <p:grpSpPr>
          <a:xfrm>
            <a:off x="5532658" y="1651541"/>
            <a:ext cx="3256332" cy="2278414"/>
            <a:chOff x="2350589" y="29053"/>
            <a:chExt cx="7859846" cy="5499427"/>
          </a:xfrm>
        </p:grpSpPr>
        <p:cxnSp>
          <p:nvCxnSpPr>
            <p:cNvPr id="44" name="直線コネクタ 43">
              <a:extLst>
                <a:ext uri="{FF2B5EF4-FFF2-40B4-BE49-F238E27FC236}">
                  <a16:creationId xmlns:a16="http://schemas.microsoft.com/office/drawing/2014/main" id="{63181596-5C1E-E578-4E39-C389B314A8F9}"/>
                </a:ext>
              </a:extLst>
            </p:cNvPr>
            <p:cNvCxnSpPr>
              <a:cxnSpLocks/>
            </p:cNvCxnSpPr>
            <p:nvPr/>
          </p:nvCxnSpPr>
          <p:spPr>
            <a:xfrm flipV="1">
              <a:off x="5719215" y="2131813"/>
              <a:ext cx="2399495" cy="339666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2767D96A-869E-DF89-4FF9-FF26F8F6D545}"/>
                </a:ext>
              </a:extLst>
            </p:cNvPr>
            <p:cNvCxnSpPr>
              <a:cxnSpLocks/>
              <a:endCxn id="62" idx="1"/>
            </p:cNvCxnSpPr>
            <p:nvPr/>
          </p:nvCxnSpPr>
          <p:spPr>
            <a:xfrm flipV="1">
              <a:off x="5752404" y="3203229"/>
              <a:ext cx="2127192" cy="806205"/>
            </a:xfrm>
            <a:prstGeom prst="line">
              <a:avLst/>
            </a:prstGeom>
            <a:ln w="28575">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615CE593-CCB1-6375-CFF5-8B3B78FFFB5D}"/>
                </a:ext>
              </a:extLst>
            </p:cNvPr>
            <p:cNvCxnSpPr>
              <a:cxnSpLocks/>
              <a:endCxn id="61" idx="5"/>
            </p:cNvCxnSpPr>
            <p:nvPr/>
          </p:nvCxnSpPr>
          <p:spPr>
            <a:xfrm flipH="1" flipV="1">
              <a:off x="4533168" y="91225"/>
              <a:ext cx="1643013" cy="5117144"/>
            </a:xfrm>
            <a:prstGeom prst="line">
              <a:avLst/>
            </a:prstGeom>
            <a:ln w="28575">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A73C0EFB-2FA9-D621-EAEA-8129863DB7CC}"/>
                </a:ext>
              </a:extLst>
            </p:cNvPr>
            <p:cNvCxnSpPr>
              <a:cxnSpLocks/>
              <a:stCxn id="61" idx="3"/>
              <a:endCxn id="62" idx="5"/>
            </p:cNvCxnSpPr>
            <p:nvPr/>
          </p:nvCxnSpPr>
          <p:spPr>
            <a:xfrm>
              <a:off x="4481662" y="91226"/>
              <a:ext cx="3449440" cy="3163510"/>
            </a:xfrm>
            <a:prstGeom prst="line">
              <a:avLst/>
            </a:prstGeom>
            <a:ln w="28575">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50" name="Shape 0">
              <a:extLst>
                <a:ext uri="{FF2B5EF4-FFF2-40B4-BE49-F238E27FC236}">
                  <a16:creationId xmlns:a16="http://schemas.microsoft.com/office/drawing/2014/main" id="{C5256F5A-2BEF-3796-754D-41618F58C609}"/>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52" name="Shape 2">
              <a:extLst>
                <a:ext uri="{FF2B5EF4-FFF2-40B4-BE49-F238E27FC236}">
                  <a16:creationId xmlns:a16="http://schemas.microsoft.com/office/drawing/2014/main" id="{AA842C4A-72F3-15ED-E133-D69F9C396D4D}"/>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53" name="Shape 3">
              <a:extLst>
                <a:ext uri="{FF2B5EF4-FFF2-40B4-BE49-F238E27FC236}">
                  <a16:creationId xmlns:a16="http://schemas.microsoft.com/office/drawing/2014/main" id="{FA6C2791-7E9C-8BF3-2D4E-D81291E61DD0}"/>
                </a:ext>
              </a:extLst>
            </p:cNvPr>
            <p:cNvSpPr/>
            <p:nvPr/>
          </p:nvSpPr>
          <p:spPr>
            <a:xfrm>
              <a:off x="7507308" y="2886577"/>
              <a:ext cx="72839" cy="72838"/>
            </a:xfrm>
            <a:prstGeom prst="ellipse">
              <a:avLst/>
            </a:prstGeom>
            <a:solidFill>
              <a:schemeClr val="tx1"/>
            </a:solidFill>
            <a:ln/>
          </p:spPr>
          <p:txBody>
            <a:bodyPr/>
            <a:lstStyle/>
            <a:p>
              <a:r>
                <a:rPr lang="en-US" altLang="ja-JP" dirty="0"/>
                <a:t>B</a:t>
              </a:r>
              <a:endParaRPr lang="ja-JP" altLang="en-US"/>
            </a:p>
          </p:txBody>
        </p:sp>
        <p:cxnSp>
          <p:nvCxnSpPr>
            <p:cNvPr id="57" name="直線コネクタ 56">
              <a:extLst>
                <a:ext uri="{FF2B5EF4-FFF2-40B4-BE49-F238E27FC236}">
                  <a16:creationId xmlns:a16="http://schemas.microsoft.com/office/drawing/2014/main" id="{878E7A72-8C20-6860-A50C-4A9A93837FA4}"/>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9" name="Shape 4">
              <a:extLst>
                <a:ext uri="{FF2B5EF4-FFF2-40B4-BE49-F238E27FC236}">
                  <a16:creationId xmlns:a16="http://schemas.microsoft.com/office/drawing/2014/main" id="{8AE873E0-9720-881C-AC37-F6D565F133FB}"/>
                </a:ext>
              </a:extLst>
            </p:cNvPr>
            <p:cNvSpPr/>
            <p:nvPr/>
          </p:nvSpPr>
          <p:spPr>
            <a:xfrm>
              <a:off x="6082434" y="4965888"/>
              <a:ext cx="72838" cy="72838"/>
            </a:xfrm>
            <a:prstGeom prst="ellipse">
              <a:avLst/>
            </a:prstGeom>
            <a:solidFill>
              <a:schemeClr val="tx1"/>
            </a:solidFill>
            <a:ln/>
          </p:spPr>
          <p:txBody>
            <a:bodyPr/>
            <a:lstStyle/>
            <a:p>
              <a:r>
                <a:rPr lang="en-US" altLang="ja-JP" dirty="0"/>
                <a:t>Q</a:t>
              </a:r>
              <a:endParaRPr lang="ja-JP" altLang="en-US"/>
            </a:p>
          </p:txBody>
        </p:sp>
        <p:sp>
          <p:nvSpPr>
            <p:cNvPr id="61" name="Shape 6">
              <a:extLst>
                <a:ext uri="{FF2B5EF4-FFF2-40B4-BE49-F238E27FC236}">
                  <a16:creationId xmlns:a16="http://schemas.microsoft.com/office/drawing/2014/main" id="{3F0A7179-B340-FE92-1D09-3B4E80384678}"/>
                </a:ext>
              </a:extLst>
            </p:cNvPr>
            <p:cNvSpPr/>
            <p:nvPr/>
          </p:nvSpPr>
          <p:spPr>
            <a:xfrm>
              <a:off x="4470997" y="29053"/>
              <a:ext cx="72838" cy="72838"/>
            </a:xfrm>
            <a:prstGeom prst="ellipse">
              <a:avLst/>
            </a:prstGeom>
            <a:solidFill>
              <a:schemeClr val="tx1"/>
            </a:solidFill>
            <a:ln/>
          </p:spPr>
          <p:txBody>
            <a:bodyPr>
              <a:noAutofit/>
            </a:bodyPr>
            <a:lstStyle/>
            <a:p>
              <a:r>
                <a:rPr lang="en-US" altLang="ja-JP" dirty="0"/>
                <a:t>Z</a:t>
              </a:r>
              <a:endParaRPr lang="ja-JP" altLang="en-US"/>
            </a:p>
          </p:txBody>
        </p:sp>
        <p:sp>
          <p:nvSpPr>
            <p:cNvPr id="62" name="Shape 3">
              <a:extLst>
                <a:ext uri="{FF2B5EF4-FFF2-40B4-BE49-F238E27FC236}">
                  <a16:creationId xmlns:a16="http://schemas.microsoft.com/office/drawing/2014/main" id="{60D38BFD-6BF0-AD64-164A-87460184121D}"/>
                </a:ext>
              </a:extLst>
            </p:cNvPr>
            <p:cNvSpPr/>
            <p:nvPr/>
          </p:nvSpPr>
          <p:spPr>
            <a:xfrm>
              <a:off x="7868930" y="3192564"/>
              <a:ext cx="72838" cy="72838"/>
            </a:xfrm>
            <a:prstGeom prst="ellipse">
              <a:avLst/>
            </a:prstGeom>
            <a:solidFill>
              <a:schemeClr val="tx1"/>
            </a:solidFill>
            <a:ln/>
          </p:spPr>
          <p:txBody>
            <a:bodyPr/>
            <a:lstStyle/>
            <a:p>
              <a:r>
                <a:rPr lang="en-US" altLang="ja-JP" dirty="0"/>
                <a:t>X</a:t>
              </a:r>
              <a:endParaRPr lang="ja-JP" altLang="en-US"/>
            </a:p>
          </p:txBody>
        </p:sp>
        <p:sp>
          <p:nvSpPr>
            <p:cNvPr id="63" name="Shape 4">
              <a:extLst>
                <a:ext uri="{FF2B5EF4-FFF2-40B4-BE49-F238E27FC236}">
                  <a16:creationId xmlns:a16="http://schemas.microsoft.com/office/drawing/2014/main" id="{5E719C20-77AB-ABB2-7A86-F8B08DEBBBB5}"/>
                </a:ext>
              </a:extLst>
            </p:cNvPr>
            <p:cNvSpPr/>
            <p:nvPr/>
          </p:nvSpPr>
          <p:spPr>
            <a:xfrm>
              <a:off x="5752405" y="3936597"/>
              <a:ext cx="72838" cy="72838"/>
            </a:xfrm>
            <a:prstGeom prst="ellipse">
              <a:avLst/>
            </a:prstGeom>
            <a:solidFill>
              <a:schemeClr val="tx1"/>
            </a:solidFill>
            <a:ln/>
          </p:spPr>
          <p:txBody>
            <a:bodyPr/>
            <a:lstStyle/>
            <a:p>
              <a:r>
                <a:rPr lang="en-US" altLang="ja-JP" dirty="0"/>
                <a:t>Y</a:t>
              </a:r>
              <a:endParaRPr lang="ja-JP" altLang="en-US"/>
            </a:p>
          </p:txBody>
        </p:sp>
      </p:grpSp>
      <p:cxnSp>
        <p:nvCxnSpPr>
          <p:cNvPr id="71" name="直線コネクタ 70">
            <a:extLst>
              <a:ext uri="{FF2B5EF4-FFF2-40B4-BE49-F238E27FC236}">
                <a16:creationId xmlns:a16="http://schemas.microsoft.com/office/drawing/2014/main" id="{D139919D-931D-12EA-FEFF-6D31D63E24C9}"/>
              </a:ext>
            </a:extLst>
          </p:cNvPr>
          <p:cNvCxnSpPr>
            <a:cxnSpLocks/>
            <a:stCxn id="59" idx="2"/>
          </p:cNvCxnSpPr>
          <p:nvPr/>
        </p:nvCxnSpPr>
        <p:spPr>
          <a:xfrm flipH="1" flipV="1">
            <a:off x="6436900" y="1677299"/>
            <a:ext cx="641860" cy="203466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17ACF5B6-4A28-ACE0-D931-03C76AEAFF63}"/>
              </a:ext>
            </a:extLst>
          </p:cNvPr>
          <p:cNvCxnSpPr>
            <a:cxnSpLocks/>
            <a:stCxn id="59" idx="4"/>
          </p:cNvCxnSpPr>
          <p:nvPr/>
        </p:nvCxnSpPr>
        <p:spPr>
          <a:xfrm flipH="1" flipV="1">
            <a:off x="6942029" y="3270437"/>
            <a:ext cx="151820" cy="45661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A8196F6B-3E42-435A-C7A4-37E65A02E7FF}"/>
              </a:ext>
            </a:extLst>
          </p:cNvPr>
          <p:cNvCxnSpPr>
            <a:cxnSpLocks/>
            <a:endCxn id="52" idx="2"/>
          </p:cNvCxnSpPr>
          <p:nvPr/>
        </p:nvCxnSpPr>
        <p:spPr>
          <a:xfrm flipV="1">
            <a:off x="6917408" y="3094751"/>
            <a:ext cx="577378" cy="216338"/>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A889EE00-825A-D95E-2552-9FB3085ECF4A}"/>
              </a:ext>
            </a:extLst>
          </p:cNvPr>
          <p:cNvCxnSpPr>
            <a:cxnSpLocks/>
          </p:cNvCxnSpPr>
          <p:nvPr/>
        </p:nvCxnSpPr>
        <p:spPr>
          <a:xfrm flipV="1">
            <a:off x="7474456" y="2962540"/>
            <a:ext cx="367528" cy="146815"/>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D2137DEF-B840-054B-8ED3-7D29725E6E1A}"/>
              </a:ext>
            </a:extLst>
          </p:cNvPr>
          <p:cNvCxnSpPr>
            <a:cxnSpLocks/>
            <a:stCxn id="53" idx="2"/>
          </p:cNvCxnSpPr>
          <p:nvPr/>
        </p:nvCxnSpPr>
        <p:spPr>
          <a:xfrm>
            <a:off x="7669085" y="2850503"/>
            <a:ext cx="173876" cy="136955"/>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B80B7EA3-64D9-87E1-DA49-FDA45832E275}"/>
              </a:ext>
            </a:extLst>
          </p:cNvPr>
          <p:cNvCxnSpPr>
            <a:cxnSpLocks/>
            <a:stCxn id="61" idx="4"/>
            <a:endCxn id="53" idx="1"/>
          </p:cNvCxnSpPr>
          <p:nvPr/>
        </p:nvCxnSpPr>
        <p:spPr>
          <a:xfrm>
            <a:off x="6426231" y="1681718"/>
            <a:ext cx="1247273" cy="1158115"/>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2">
                                            <p:txEl>
                                              <p:pRg st="1" end="1"/>
                                            </p:txEl>
                                          </p:spTgt>
                                        </p:tgtEl>
                                        <p:attrNameLst>
                                          <p:attrName>style.visibility</p:attrName>
                                        </p:attrNameLst>
                                      </p:cBhvr>
                                      <p:to>
                                        <p:strVal val="visible"/>
                                      </p:to>
                                    </p:set>
                                    <p:anim calcmode="lin" valueType="num">
                                      <p:cBhvr additive="base">
                                        <p:cTn id="7" dur="500"/>
                                        <p:tgtEl>
                                          <p:spTgt spid="42">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42">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7">
                                            <p:txEl>
                                              <p:pRg st="0" end="0"/>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p:tgtEl>
                                          <p:spTgt spid="6"/>
                                        </p:tgtEl>
                                        <p:attrNameLst>
                                          <p:attrName>ppt_y</p:attrName>
                                        </p:attrNameLst>
                                      </p:cBhvr>
                                      <p:tavLst>
                                        <p:tav tm="0">
                                          <p:val>
                                            <p:strVal val="#ppt_y+#ppt_h*1.125000"/>
                                          </p:val>
                                        </p:tav>
                                        <p:tav tm="100000">
                                          <p:val>
                                            <p:strVal val="#ppt_y"/>
                                          </p:val>
                                        </p:tav>
                                      </p:tavLst>
                                    </p:anim>
                                    <p:animEffect transition="in" filter="wipe(u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wipe(up)">
                                      <p:cBhvr>
                                        <p:cTn id="23" dur="5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wipe(down)">
                                      <p:cBhvr>
                                        <p:cTn id="28" dur="500"/>
                                        <p:tgtEl>
                                          <p:spTgt spid="73"/>
                                        </p:tgtEl>
                                      </p:cBhvr>
                                    </p:animEffect>
                                  </p:childTnLst>
                                  <p:subTnLst>
                                    <p:set>
                                      <p:cBhvr override="childStyle">
                                        <p:cTn dur="1" fill="hold" display="0" masterRel="nextClick" afterEffect="1"/>
                                        <p:tgtEl>
                                          <p:spTgt spid="73"/>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wipe(down)">
                                      <p:cBhvr>
                                        <p:cTn id="33" dur="500"/>
                                        <p:tgtEl>
                                          <p:spTgt spid="80"/>
                                        </p:tgtEl>
                                      </p:cBhvr>
                                    </p:animEffect>
                                  </p:childTnLst>
                                  <p:subTnLst>
                                    <p:set>
                                      <p:cBhvr override="childStyle">
                                        <p:cTn dur="1" fill="hold" display="0" masterRel="nextClick" afterEffect="1"/>
                                        <p:tgtEl>
                                          <p:spTgt spid="80"/>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down)">
                                      <p:cBhvr>
                                        <p:cTn id="38" dur="500"/>
                                        <p:tgtEl>
                                          <p:spTgt spid="84"/>
                                        </p:tgtEl>
                                      </p:cBhvr>
                                    </p:animEffect>
                                  </p:childTnLst>
                                  <p:subTnLst>
                                    <p:set>
                                      <p:cBhvr override="childStyle">
                                        <p:cTn dur="1" fill="hold" display="0" masterRel="nextClick" afterEffect="1"/>
                                        <p:tgtEl>
                                          <p:spTgt spid="84"/>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86"/>
                                        </p:tgtEl>
                                        <p:attrNameLst>
                                          <p:attrName>style.visibility</p:attrName>
                                        </p:attrNameLst>
                                      </p:cBhvr>
                                      <p:to>
                                        <p:strVal val="visible"/>
                                      </p:to>
                                    </p:set>
                                    <p:animEffect transition="in" filter="wipe(down)">
                                      <p:cBhvr>
                                        <p:cTn id="43" dur="500"/>
                                        <p:tgtEl>
                                          <p:spTgt spid="86"/>
                                        </p:tgtEl>
                                      </p:cBhvr>
                                    </p:animEffect>
                                  </p:childTnLst>
                                  <p:subTnLst>
                                    <p:set>
                                      <p:cBhvr override="childStyle">
                                        <p:cTn dur="1" fill="hold" display="0" masterRel="nextClick" afterEffect="1"/>
                                        <p:tgtEl>
                                          <p:spTgt spid="86"/>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wipe(down)">
                                      <p:cBhvr>
                                        <p:cTn id="48" dur="500"/>
                                        <p:tgtEl>
                                          <p:spTgt spid="89"/>
                                        </p:tgtEl>
                                      </p:cBhvr>
                                    </p:animEffect>
                                  </p:childTnLst>
                                  <p:subTnLst>
                                    <p:set>
                                      <p:cBhvr override="childStyle">
                                        <p:cTn dur="1" fill="hold" display="0" masterRel="nextClick" afterEffect="1"/>
                                        <p:tgtEl>
                                          <p:spTgt spid="89"/>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11">
                                            <p:txEl>
                                              <p:pRg st="0" end="0"/>
                                            </p:txEl>
                                          </p:spTgt>
                                        </p:tgtEl>
                                        <p:attrNameLst>
                                          <p:attrName>style.visibility</p:attrName>
                                        </p:attrNameLst>
                                      </p:cBhvr>
                                      <p:to>
                                        <p:strVal val="visible"/>
                                      </p:to>
                                    </p:set>
                                    <p:anim calcmode="lin" valueType="num">
                                      <p:cBhvr additive="base">
                                        <p:cTn id="53"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up)">
                                      <p:cBhvr>
                                        <p:cTn id="54" dur="500"/>
                                        <p:tgtEl>
                                          <p:spTgt spid="11">
                                            <p:txEl>
                                              <p:pRg st="0" end="0"/>
                                            </p:txEl>
                                          </p:spTgt>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p:tgtEl>
                                          <p:spTgt spid="10"/>
                                        </p:tgtEl>
                                        <p:attrNameLst>
                                          <p:attrName>ppt_y</p:attrName>
                                        </p:attrNameLst>
                                      </p:cBhvr>
                                      <p:tavLst>
                                        <p:tav tm="0">
                                          <p:val>
                                            <p:strVal val="#ppt_y+#ppt_h*1.125000"/>
                                          </p:val>
                                        </p:tav>
                                        <p:tav tm="100000">
                                          <p:val>
                                            <p:strVal val="#ppt_y"/>
                                          </p:val>
                                        </p:tav>
                                      </p:tavLst>
                                    </p:anim>
                                    <p:animEffect transition="in" filter="wipe(up)">
                                      <p:cBhvr>
                                        <p:cTn id="58" dur="500"/>
                                        <p:tgtEl>
                                          <p:spTgt spid="10"/>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p:tgtEl>
                                          <p:spTgt spid="9"/>
                                        </p:tgtEl>
                                        <p:attrNameLst>
                                          <p:attrName>ppt_y</p:attrName>
                                        </p:attrNameLst>
                                      </p:cBhvr>
                                      <p:tavLst>
                                        <p:tav tm="0">
                                          <p:val>
                                            <p:strVal val="#ppt_y+#ppt_h*1.125000"/>
                                          </p:val>
                                        </p:tav>
                                        <p:tav tm="100000">
                                          <p:val>
                                            <p:strVal val="#ppt_y"/>
                                          </p:val>
                                        </p:tav>
                                      </p:tavLst>
                                    </p:anim>
                                    <p:animEffect transition="in" filter="wipe(up)">
                                      <p:cBhvr>
                                        <p:cTn id="62" dur="500"/>
                                        <p:tgtEl>
                                          <p:spTgt spid="9"/>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p:tgtEl>
                                          <p:spTgt spid="8"/>
                                        </p:tgtEl>
                                        <p:attrNameLst>
                                          <p:attrName>ppt_y</p:attrName>
                                        </p:attrNameLst>
                                      </p:cBhvr>
                                      <p:tavLst>
                                        <p:tav tm="0">
                                          <p:val>
                                            <p:strVal val="#ppt_y+#ppt_h*1.125000"/>
                                          </p:val>
                                        </p:tav>
                                        <p:tav tm="100000">
                                          <p:val>
                                            <p:strVal val="#ppt_y"/>
                                          </p:val>
                                        </p:tav>
                                      </p:tavLst>
                                    </p:anim>
                                    <p:animEffect transition="in" filter="wipe(up)">
                                      <p:cBhvr>
                                        <p:cTn id="6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uiExpand="1"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C6600"/>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CC6600"/>
                </a:solidFill>
                <a:latin typeface="Yu Gothic" pitchFamily="34" charset="0"/>
                <a:ea typeface="Yu Gothic" pitchFamily="34" charset="-122"/>
                <a:cs typeface="Yu Gothic" pitchFamily="34" charset="-120"/>
              </a:rPr>
              <a:t>STEP 1 · MENELAUS</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Step 1 - ②  直線 DEP</a:t>
            </a:r>
            <a:endParaRPr lang="en-US" sz="3000" dirty="0"/>
          </a:p>
        </p:txBody>
      </p:sp>
      <p:sp>
        <p:nvSpPr>
          <p:cNvPr id="6" name="Shape 4"/>
          <p:cNvSpPr/>
          <p:nvPr/>
        </p:nvSpPr>
        <p:spPr>
          <a:xfrm>
            <a:off x="457200" y="2207622"/>
            <a:ext cx="4846320" cy="777240"/>
          </a:xfrm>
          <a:prstGeom prst="rect">
            <a:avLst/>
          </a:prstGeom>
          <a:solidFill>
            <a:srgbClr val="FFFFFF"/>
          </a:solidFill>
          <a:ln w="9525">
            <a:solidFill>
              <a:srgbClr val="9999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p:cNvSpPr/>
              <p:nvPr/>
            </p:nvSpPr>
            <p:spPr>
              <a:xfrm>
                <a:off x="640080" y="2207622"/>
                <a:ext cx="4480560" cy="77724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rgbClr val="000000"/>
                              </a:solidFill>
                              <a:latin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cs typeface="Consolas" pitchFamily="34" charset="-120"/>
                            </a:rPr>
                            <m:t>XP</m:t>
                          </m:r>
                        </m:num>
                        <m:den>
                          <m:r>
                            <m:rPr>
                              <m:sty m:val="p"/>
                            </m:rPr>
                            <a:rPr lang="en-US" altLang="ja-JP" b="0" i="1" smtClean="0">
                              <a:solidFill>
                                <a:srgbClr val="000000"/>
                              </a:solidFill>
                              <a:latin typeface="Cambria Math" panose="02040503050406030204" pitchFamily="18" charset="0"/>
                              <a:cs typeface="Consolas" pitchFamily="34" charset="-120"/>
                            </a:rPr>
                            <m:t>PZ</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ZE</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EY</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YD</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DX</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=1</m:t>
                      </m:r>
                    </m:oMath>
                  </m:oMathPara>
                </a14:m>
                <a:endParaRPr lang="en-US" sz="1600" dirty="0"/>
              </a:p>
            </p:txBody>
          </p:sp>
        </mc:Choice>
        <mc:Fallback>
          <p:sp>
            <p:nvSpPr>
              <p:cNvPr id="7" name="Text 5"/>
              <p:cNvSpPr>
                <a:spLocks noRot="1" noChangeAspect="1" noMove="1" noResize="1" noEditPoints="1" noAdjustHandles="1" noChangeArrowheads="1" noChangeShapeType="1" noTextEdit="1"/>
              </p:cNvSpPr>
              <p:nvPr/>
            </p:nvSpPr>
            <p:spPr>
              <a:xfrm>
                <a:off x="640080" y="2207622"/>
                <a:ext cx="4480560" cy="777240"/>
              </a:xfrm>
              <a:prstGeom prst="rect">
                <a:avLst/>
              </a:prstGeom>
              <a:blipFill>
                <a:blip r:embed="rId3"/>
                <a:stretch>
                  <a:fillRect/>
                </a:stretch>
              </a:blipFill>
              <a:ln/>
            </p:spPr>
            <p:txBody>
              <a:bodyPr/>
              <a:lstStyle/>
              <a:p>
                <a:r>
                  <a:rPr lang="ja-JP" altLang="en-US">
                    <a:noFill/>
                  </a:rPr>
                  <a:t> </a:t>
                </a:r>
              </a:p>
            </p:txBody>
          </p:sp>
        </mc:Fallback>
      </mc:AlternateContent>
      <p:sp>
        <p:nvSpPr>
          <p:cNvPr id="8" name="Shape 6"/>
          <p:cNvSpPr/>
          <p:nvPr/>
        </p:nvSpPr>
        <p:spPr>
          <a:xfrm>
            <a:off x="594360" y="3213462"/>
            <a:ext cx="292608" cy="292608"/>
          </a:xfrm>
          <a:prstGeom prst="ellipse">
            <a:avLst/>
          </a:prstGeom>
          <a:solidFill>
            <a:srgbClr val="FFFFFF"/>
          </a:solidFill>
          <a:ln w="15240">
            <a:solidFill>
              <a:srgbClr val="CC6600"/>
            </a:solidFill>
            <a:prstDash val="solid"/>
          </a:ln>
        </p:spPr>
        <p:txBody>
          <a:bodyPr/>
          <a:lstStyle/>
          <a:p>
            <a:endParaRPr lang="ja-JP" altLang="en-US"/>
          </a:p>
        </p:txBody>
      </p:sp>
      <p:sp>
        <p:nvSpPr>
          <p:cNvPr id="9" name="Text 7"/>
          <p:cNvSpPr/>
          <p:nvPr/>
        </p:nvSpPr>
        <p:spPr>
          <a:xfrm>
            <a:off x="594360" y="3213462"/>
            <a:ext cx="292608" cy="292608"/>
          </a:xfrm>
          <a:prstGeom prst="rect">
            <a:avLst/>
          </a:prstGeom>
          <a:noFill/>
          <a:ln/>
        </p:spPr>
        <p:txBody>
          <a:bodyPr wrap="square" lIns="0" tIns="0" rIns="0" bIns="0" rtlCol="0" anchor="ctr"/>
          <a:lstStyle/>
          <a:p>
            <a:pPr marL="0" indent="0" algn="ctr">
              <a:buNone/>
            </a:pPr>
            <a:r>
              <a:rPr lang="en-US" sz="1400" dirty="0">
                <a:solidFill>
                  <a:srgbClr val="CC6600"/>
                </a:solidFill>
                <a:latin typeface="Yu Gothic" pitchFamily="34" charset="0"/>
                <a:ea typeface="Yu Gothic" pitchFamily="34" charset="-122"/>
                <a:cs typeface="Yu Gothic" pitchFamily="34" charset="-120"/>
              </a:rPr>
              <a:t>⇒</a:t>
            </a:r>
            <a:endParaRPr lang="en-US" sz="1400" dirty="0"/>
          </a:p>
        </p:txBody>
      </p:sp>
      <p:sp>
        <p:nvSpPr>
          <p:cNvPr id="10" name="Shape 8"/>
          <p:cNvSpPr/>
          <p:nvPr/>
        </p:nvSpPr>
        <p:spPr>
          <a:xfrm>
            <a:off x="1005840" y="3122022"/>
            <a:ext cx="4297680" cy="594360"/>
          </a:xfrm>
          <a:prstGeom prst="rect">
            <a:avLst/>
          </a:prstGeom>
          <a:solidFill>
            <a:srgbClr val="FFFFFF"/>
          </a:solidFill>
          <a:ln w="12700">
            <a:solidFill>
              <a:srgbClr val="CC6600"/>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11" name="Text 9"/>
              <p:cNvSpPr/>
              <p:nvPr/>
            </p:nvSpPr>
            <p:spPr>
              <a:xfrm>
                <a:off x="1188720" y="3272244"/>
                <a:ext cx="4023360" cy="492084"/>
              </a:xfrm>
              <a:prstGeom prst="rect">
                <a:avLst/>
              </a:prstGeom>
              <a:noFill/>
              <a:ln/>
            </p:spPr>
            <p:txBody>
              <a:bodyPr vert="horz" wrap="square" lIns="0" tIns="0" rIns="0" bIns="0"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altLang="ja-JP" sz="1600" i="1" smtClean="0">
                              <a:solidFill>
                                <a:schemeClr val="accent2"/>
                              </a:solidFill>
                              <a:latin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cs typeface="Consolas" pitchFamily="34" charset="-120"/>
                            </a:rPr>
                            <m:t>XP</m:t>
                          </m:r>
                        </m:num>
                        <m:den>
                          <m:r>
                            <m:rPr>
                              <m:sty m:val="p"/>
                            </m:rPr>
                            <a:rPr lang="en-US" altLang="ja-JP" sz="1600" i="1">
                              <a:solidFill>
                                <a:schemeClr val="accent2"/>
                              </a:solidFill>
                              <a:latin typeface="Cambria Math" panose="02040503050406030204" pitchFamily="18" charset="0"/>
                              <a:cs typeface="Consolas" pitchFamily="34" charset="-120"/>
                            </a:rPr>
                            <m:t>PZ</m:t>
                          </m:r>
                        </m:den>
                      </m:f>
                      <m:r>
                        <a:rPr lang="en-US" altLang="ja-JP" sz="1600" i="1">
                          <a:solidFill>
                            <a:schemeClr val="accent2"/>
                          </a:solidFill>
                          <a:latin typeface="Cambria Math" panose="02040503050406030204" pitchFamily="18" charset="0"/>
                          <a:cs typeface="Consolas" pitchFamily="34" charset="-120"/>
                        </a:rPr>
                        <m:t>=</m:t>
                      </m:r>
                      <m:f>
                        <m:fPr>
                          <m:ctrl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ZE</m:t>
                          </m:r>
                        </m:den>
                      </m:f>
                      <m: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YD</m:t>
                          </m:r>
                        </m:den>
                      </m:f>
                    </m:oMath>
                  </m:oMathPara>
                </a14:m>
                <a:endParaRPr lang="en-US" altLang="ja-JP" sz="1600" dirty="0">
                  <a:solidFill>
                    <a:schemeClr val="accent2"/>
                  </a:solidFill>
                </a:endParaRPr>
              </a:p>
              <a:p>
                <a:pPr marL="0" indent="0">
                  <a:buNone/>
                </a:pPr>
                <a:endParaRPr lang="en-US" sz="1500" dirty="0"/>
              </a:p>
            </p:txBody>
          </p:sp>
        </mc:Choice>
        <mc:Fallback>
          <p:sp>
            <p:nvSpPr>
              <p:cNvPr id="11" name="Text 9"/>
              <p:cNvSpPr>
                <a:spLocks noRot="1" noChangeAspect="1" noMove="1" noResize="1" noEditPoints="1" noAdjustHandles="1" noChangeArrowheads="1" noChangeShapeType="1" noTextEdit="1"/>
              </p:cNvSpPr>
              <p:nvPr/>
            </p:nvSpPr>
            <p:spPr>
              <a:xfrm>
                <a:off x="1188720" y="3272244"/>
                <a:ext cx="4023360" cy="492084"/>
              </a:xfrm>
              <a:prstGeom prst="rect">
                <a:avLst/>
              </a:prstGeom>
              <a:blipFill>
                <a:blip r:embed="rId4"/>
                <a:stretch>
                  <a:fillRect t="-20000"/>
                </a:stretch>
              </a:blipFill>
              <a:ln/>
            </p:spPr>
            <p:txBody>
              <a:bodyPr/>
              <a:lstStyle/>
              <a:p>
                <a:r>
                  <a:rPr lang="ja-JP" altLang="en-US">
                    <a:noFill/>
                  </a:rPr>
                  <a:t> </a:t>
                </a:r>
              </a:p>
            </p:txBody>
          </p:sp>
        </mc:Fallback>
      </mc:AlternateContent>
      <p:sp>
        <p:nvSpPr>
          <p:cNvPr id="12" name="Text 10"/>
          <p:cNvSpPr/>
          <p:nvPr/>
        </p:nvSpPr>
        <p:spPr>
          <a:xfrm>
            <a:off x="457200" y="3611880"/>
            <a:ext cx="4846320" cy="1005840"/>
          </a:xfrm>
          <a:prstGeom prst="rect">
            <a:avLst/>
          </a:prstGeom>
          <a:noFill/>
          <a:ln/>
        </p:spPr>
        <p:txBody>
          <a:bodyPr wrap="square" lIns="0" tIns="0" rIns="0" bIns="0" rtlCol="0" anchor="ctr"/>
          <a:lstStyle/>
          <a:p>
            <a:pPr>
              <a:lnSpc>
                <a:spcPct val="130000"/>
              </a:lnSpc>
            </a:pPr>
            <a:r>
              <a:rPr lang="en-US" altLang="ja-JP" sz="1200" dirty="0">
                <a:solidFill>
                  <a:srgbClr val="333333"/>
                </a:solidFill>
                <a:latin typeface="Yu Gothic" pitchFamily="34" charset="0"/>
                <a:ea typeface="Yu Gothic" pitchFamily="34" charset="-122"/>
                <a:cs typeface="Yu Gothic" pitchFamily="34" charset="-120"/>
              </a:rPr>
              <a:t>△ XYZ </a:t>
            </a:r>
            <a:r>
              <a:rPr lang="en-US" altLang="ja-JP" sz="1200" dirty="0" err="1">
                <a:solidFill>
                  <a:srgbClr val="333333"/>
                </a:solidFill>
                <a:latin typeface="Yu Gothic" pitchFamily="34" charset="0"/>
                <a:ea typeface="Yu Gothic" pitchFamily="34" charset="-122"/>
                <a:cs typeface="Yu Gothic" pitchFamily="34" charset="-120"/>
              </a:rPr>
              <a:t>において、分点</a:t>
            </a:r>
            <a:r>
              <a:rPr lang="en-US" sz="1200" dirty="0">
                <a:solidFill>
                  <a:srgbClr val="333333"/>
                </a:solidFill>
                <a:latin typeface="Yu Gothic" pitchFamily="34" charset="0"/>
                <a:ea typeface="Yu Gothic" pitchFamily="34" charset="-122"/>
                <a:cs typeface="Yu Gothic" pitchFamily="34" charset="-120"/>
              </a:rPr>
              <a:t> D（XY 上）と E（YZ 上）を通る直線が，目標の分点 P（XZ 上）を作る。これが２回目の適用。</a:t>
            </a:r>
            <a:endParaRPr lang="en-US" sz="1200" dirty="0"/>
          </a:p>
        </p:txBody>
      </p:sp>
      <p:sp>
        <p:nvSpPr>
          <p:cNvPr id="13" name="Shape 11"/>
          <p:cNvSpPr/>
          <p:nvPr/>
        </p:nvSpPr>
        <p:spPr>
          <a:xfrm>
            <a:off x="5514110" y="1097280"/>
            <a:ext cx="3291840" cy="3291840"/>
          </a:xfrm>
          <a:prstGeom prst="rect">
            <a:avLst/>
          </a:prstGeom>
          <a:solidFill>
            <a:srgbClr val="FFFFFF"/>
          </a:solidFill>
          <a:ln w="9525">
            <a:solidFill>
              <a:srgbClr val="999999"/>
            </a:solidFill>
            <a:prstDash val="solid"/>
          </a:ln>
        </p:spPr>
        <p:txBody>
          <a:bodyPr/>
          <a:lstStyle/>
          <a:p>
            <a:endParaRPr lang="ja-JP" altLang="en-US"/>
          </a:p>
        </p:txBody>
      </p:sp>
      <p:sp>
        <p:nvSpPr>
          <p:cNvPr id="15" name="Text 12"/>
          <p:cNvSpPr/>
          <p:nvPr/>
        </p:nvSpPr>
        <p:spPr>
          <a:xfrm>
            <a:off x="5577840" y="4498848"/>
            <a:ext cx="310896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Yu Gothic" pitchFamily="34" charset="0"/>
                <a:ea typeface="Yu Gothic" pitchFamily="34" charset="-122"/>
                <a:cs typeface="Yu Gothic" pitchFamily="34" charset="-120"/>
              </a:rPr>
              <a:t>② 直線 DEP が △XYZ を横切る</a:t>
            </a:r>
            <a:endParaRPr lang="en-US" sz="1000" dirty="0"/>
          </a:p>
        </p:txBody>
      </p:sp>
      <p:sp>
        <p:nvSpPr>
          <p:cNvPr id="16" name="Text 13"/>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7" name="Text 14"/>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08</a:t>
            </a:r>
            <a:endParaRPr lang="en-US" sz="1000" dirty="0"/>
          </a:p>
        </p:txBody>
      </p:sp>
      <p:sp>
        <p:nvSpPr>
          <p:cNvPr id="36" name="Shape 3">
            <a:extLst>
              <a:ext uri="{FF2B5EF4-FFF2-40B4-BE49-F238E27FC236}">
                <a16:creationId xmlns:a16="http://schemas.microsoft.com/office/drawing/2014/main" id="{8D55B562-7791-4A99-4DB6-0F83BFC2C503}"/>
              </a:ext>
            </a:extLst>
          </p:cNvPr>
          <p:cNvSpPr/>
          <p:nvPr/>
        </p:nvSpPr>
        <p:spPr>
          <a:xfrm>
            <a:off x="457200" y="1325880"/>
            <a:ext cx="4843354" cy="594360"/>
          </a:xfrm>
          <a:prstGeom prst="rect">
            <a:avLst/>
          </a:prstGeom>
          <a:solidFill>
            <a:srgbClr val="FFFFFF"/>
          </a:solidFill>
          <a:ln w="9525">
            <a:solidFill>
              <a:srgbClr val="999999"/>
            </a:solidFill>
            <a:prstDash val="solid"/>
          </a:ln>
        </p:spPr>
        <p:txBody>
          <a:bodyPr/>
          <a:lstStyle/>
          <a:p>
            <a:endParaRPr lang="ja-JP" altLang="en-US"/>
          </a:p>
        </p:txBody>
      </p:sp>
      <p:sp>
        <p:nvSpPr>
          <p:cNvPr id="37" name="Text 4">
            <a:extLst>
              <a:ext uri="{FF2B5EF4-FFF2-40B4-BE49-F238E27FC236}">
                <a16:creationId xmlns:a16="http://schemas.microsoft.com/office/drawing/2014/main" id="{502681CC-2454-9405-67CE-CB134DCAEFE0}"/>
              </a:ext>
            </a:extLst>
          </p:cNvPr>
          <p:cNvSpPr/>
          <p:nvPr/>
        </p:nvSpPr>
        <p:spPr>
          <a:xfrm>
            <a:off x="516464" y="1335024"/>
            <a:ext cx="4696659" cy="594360"/>
          </a:xfrm>
          <a:prstGeom prst="rect">
            <a:avLst/>
          </a:prstGeom>
          <a:noFill/>
          <a:ln/>
        </p:spPr>
        <p:txBody>
          <a:bodyPr wrap="square" lIns="0" tIns="0" rIns="0" bIns="0" rtlCol="0" anchor="ctr"/>
          <a:lstStyle/>
          <a:p>
            <a:pPr marL="0" indent="0">
              <a:buNone/>
            </a:pPr>
            <a:r>
              <a:rPr lang="en-US" sz="1250" i="1" dirty="0" err="1">
                <a:solidFill>
                  <a:srgbClr val="000000"/>
                </a:solidFill>
                <a:latin typeface="Yu Gothic" pitchFamily="34" charset="0"/>
                <a:ea typeface="Yu Gothic" pitchFamily="34" charset="-122"/>
                <a:cs typeface="Yu Gothic" pitchFamily="34" charset="-120"/>
              </a:rPr>
              <a:t>三角形</a:t>
            </a:r>
            <a:r>
              <a:rPr lang="en-US" sz="1250" i="1" dirty="0">
                <a:solidFill>
                  <a:srgbClr val="000000"/>
                </a:solidFill>
                <a:latin typeface="Yu Gothic" pitchFamily="34" charset="0"/>
                <a:ea typeface="Yu Gothic" pitchFamily="34" charset="-122"/>
                <a:cs typeface="Yu Gothic" pitchFamily="34" charset="-120"/>
              </a:rPr>
              <a:t> XYZ の3辺(</a:t>
            </a:r>
            <a:r>
              <a:rPr lang="en-US" sz="1250" i="1" dirty="0" err="1">
                <a:solidFill>
                  <a:srgbClr val="000000"/>
                </a:solidFill>
                <a:latin typeface="Yu Gothic" pitchFamily="34" charset="0"/>
                <a:ea typeface="Yu Gothic" pitchFamily="34" charset="-122"/>
                <a:cs typeface="Yu Gothic" pitchFamily="34" charset="-120"/>
              </a:rPr>
              <a:t>延長線</a:t>
            </a:r>
            <a:r>
              <a:rPr lang="en-US" sz="1250" i="1" dirty="0">
                <a:solidFill>
                  <a:srgbClr val="000000"/>
                </a:solidFill>
                <a:latin typeface="Yu Gothic" pitchFamily="34" charset="0"/>
                <a:ea typeface="Yu Gothic" pitchFamily="34" charset="-122"/>
                <a:cs typeface="Yu Gothic" pitchFamily="34" charset="-120"/>
              </a:rPr>
              <a:t>)とある1つの直線との関係性を調べる</a:t>
            </a:r>
          </a:p>
          <a:p>
            <a:pPr marL="0" indent="0">
              <a:lnSpc>
                <a:spcPct val="150000"/>
              </a:lnSpc>
              <a:buNone/>
            </a:pPr>
            <a:r>
              <a:rPr lang="en-US" sz="1250" i="1" dirty="0">
                <a:solidFill>
                  <a:srgbClr val="000000"/>
                </a:solidFill>
                <a:latin typeface="Yu Gothic" pitchFamily="34" charset="0"/>
                <a:ea typeface="Yu Gothic" pitchFamily="34" charset="-122"/>
              </a:rPr>
              <a:t> ⇨ </a:t>
            </a:r>
            <a:r>
              <a:rPr lang="en-US" sz="1250" i="1" dirty="0" err="1">
                <a:solidFill>
                  <a:srgbClr val="000000"/>
                </a:solidFill>
                <a:latin typeface="Yu Gothic" pitchFamily="34" charset="0"/>
                <a:ea typeface="Yu Gothic" pitchFamily="34" charset="-122"/>
              </a:rPr>
              <a:t>メネラウスの定理</a:t>
            </a:r>
            <a:endParaRPr lang="en-US" sz="1250" dirty="0"/>
          </a:p>
        </p:txBody>
      </p:sp>
      <p:grpSp>
        <p:nvGrpSpPr>
          <p:cNvPr id="38" name="グループ化 37">
            <a:extLst>
              <a:ext uri="{FF2B5EF4-FFF2-40B4-BE49-F238E27FC236}">
                <a16:creationId xmlns:a16="http://schemas.microsoft.com/office/drawing/2014/main" id="{AB2A5153-0B48-99C7-4078-8F308C81EFCD}"/>
              </a:ext>
            </a:extLst>
          </p:cNvPr>
          <p:cNvGrpSpPr/>
          <p:nvPr/>
        </p:nvGrpSpPr>
        <p:grpSpPr>
          <a:xfrm>
            <a:off x="5561418" y="1658145"/>
            <a:ext cx="3256332" cy="2106594"/>
            <a:chOff x="2350589" y="29053"/>
            <a:chExt cx="7859846" cy="5084704"/>
          </a:xfrm>
        </p:grpSpPr>
        <p:cxnSp>
          <p:nvCxnSpPr>
            <p:cNvPr id="40" name="直線コネクタ 39">
              <a:extLst>
                <a:ext uri="{FF2B5EF4-FFF2-40B4-BE49-F238E27FC236}">
                  <a16:creationId xmlns:a16="http://schemas.microsoft.com/office/drawing/2014/main" id="{5BD42FC6-7E04-BA28-4221-4411573B27F5}"/>
                </a:ext>
              </a:extLst>
            </p:cNvPr>
            <p:cNvCxnSpPr>
              <a:cxnSpLocks/>
              <a:stCxn id="58" idx="4"/>
              <a:endCxn id="57" idx="7"/>
            </p:cNvCxnSpPr>
            <p:nvPr/>
          </p:nvCxnSpPr>
          <p:spPr>
            <a:xfrm flipV="1">
              <a:off x="5788824" y="3203229"/>
              <a:ext cx="2142278" cy="806205"/>
            </a:xfrm>
            <a:prstGeom prst="line">
              <a:avLst/>
            </a:prstGeom>
            <a:ln w="3492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BCE4D310-B6ED-1026-C855-0B8D1D7F608A}"/>
                </a:ext>
              </a:extLst>
            </p:cNvPr>
            <p:cNvCxnSpPr>
              <a:cxnSpLocks/>
            </p:cNvCxnSpPr>
            <p:nvPr/>
          </p:nvCxnSpPr>
          <p:spPr>
            <a:xfrm flipH="1" flipV="1">
              <a:off x="4237936" y="2959416"/>
              <a:ext cx="5908665" cy="215434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6D311A8A-45E5-52FD-86B9-21A9F9E0901B}"/>
                </a:ext>
              </a:extLst>
            </p:cNvPr>
            <p:cNvCxnSpPr>
              <a:cxnSpLocks/>
              <a:stCxn id="58" idx="4"/>
              <a:endCxn id="56" idx="6"/>
            </p:cNvCxnSpPr>
            <p:nvPr/>
          </p:nvCxnSpPr>
          <p:spPr>
            <a:xfrm flipH="1" flipV="1">
              <a:off x="4543835" y="65473"/>
              <a:ext cx="1244990" cy="3943961"/>
            </a:xfrm>
            <a:prstGeom prst="line">
              <a:avLst/>
            </a:prstGeom>
            <a:ln w="3492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D8F81EBE-C5AC-C834-F42E-2FDE2B0AA171}"/>
                </a:ext>
              </a:extLst>
            </p:cNvPr>
            <p:cNvCxnSpPr>
              <a:cxnSpLocks/>
              <a:stCxn id="56" idx="4"/>
              <a:endCxn id="55" idx="5"/>
            </p:cNvCxnSpPr>
            <p:nvPr/>
          </p:nvCxnSpPr>
          <p:spPr>
            <a:xfrm>
              <a:off x="4507416" y="101891"/>
              <a:ext cx="5210711" cy="4851156"/>
            </a:xfrm>
            <a:prstGeom prst="line">
              <a:avLst/>
            </a:prstGeom>
            <a:ln w="3492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45" name="Shape 0">
              <a:extLst>
                <a:ext uri="{FF2B5EF4-FFF2-40B4-BE49-F238E27FC236}">
                  <a16:creationId xmlns:a16="http://schemas.microsoft.com/office/drawing/2014/main" id="{45738515-69A8-5F10-4303-95938D263564}"/>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49" name="Shape 4">
              <a:extLst>
                <a:ext uri="{FF2B5EF4-FFF2-40B4-BE49-F238E27FC236}">
                  <a16:creationId xmlns:a16="http://schemas.microsoft.com/office/drawing/2014/main" id="{1C8EC5D1-0F45-7C60-C1E3-2BDED0BBA540}"/>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50" name="Shape 5">
              <a:extLst>
                <a:ext uri="{FF2B5EF4-FFF2-40B4-BE49-F238E27FC236}">
                  <a16:creationId xmlns:a16="http://schemas.microsoft.com/office/drawing/2014/main" id="{5DDB0F34-FE26-E9C7-ADC1-E89023D9EB69}"/>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cxnSp>
          <p:nvCxnSpPr>
            <p:cNvPr id="52" name="直線コネクタ 51">
              <a:extLst>
                <a:ext uri="{FF2B5EF4-FFF2-40B4-BE49-F238E27FC236}">
                  <a16:creationId xmlns:a16="http://schemas.microsoft.com/office/drawing/2014/main" id="{427497AF-D618-3F56-0133-31FF306D11DD}"/>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5" name="Shape 2">
              <a:extLst>
                <a:ext uri="{FF2B5EF4-FFF2-40B4-BE49-F238E27FC236}">
                  <a16:creationId xmlns:a16="http://schemas.microsoft.com/office/drawing/2014/main" id="{8679483C-F2CC-F886-68AF-A6D819383370}"/>
                </a:ext>
              </a:extLst>
            </p:cNvPr>
            <p:cNvSpPr/>
            <p:nvPr/>
          </p:nvSpPr>
          <p:spPr>
            <a:xfrm>
              <a:off x="9655954" y="4890875"/>
              <a:ext cx="72838" cy="72838"/>
            </a:xfrm>
            <a:prstGeom prst="ellipse">
              <a:avLst/>
            </a:prstGeom>
            <a:solidFill>
              <a:schemeClr val="tx1"/>
            </a:solidFill>
            <a:ln/>
          </p:spPr>
          <p:txBody>
            <a:bodyPr/>
            <a:lstStyle/>
            <a:p>
              <a:r>
                <a:rPr lang="en-US" altLang="ja-JP" dirty="0"/>
                <a:t>P</a:t>
              </a:r>
              <a:endParaRPr lang="ja-JP" altLang="en-US"/>
            </a:p>
          </p:txBody>
        </p:sp>
        <p:sp>
          <p:nvSpPr>
            <p:cNvPr id="56" name="Shape 6">
              <a:extLst>
                <a:ext uri="{FF2B5EF4-FFF2-40B4-BE49-F238E27FC236}">
                  <a16:creationId xmlns:a16="http://schemas.microsoft.com/office/drawing/2014/main" id="{AECE5A39-9A96-EE1A-3490-3D106FDB0135}"/>
                </a:ext>
              </a:extLst>
            </p:cNvPr>
            <p:cNvSpPr/>
            <p:nvPr/>
          </p:nvSpPr>
          <p:spPr>
            <a:xfrm>
              <a:off x="4470997" y="29053"/>
              <a:ext cx="72838" cy="72838"/>
            </a:xfrm>
            <a:prstGeom prst="ellipse">
              <a:avLst/>
            </a:prstGeom>
            <a:solidFill>
              <a:schemeClr val="tx1"/>
            </a:solidFill>
            <a:ln/>
          </p:spPr>
          <p:txBody>
            <a:bodyPr>
              <a:noAutofit/>
            </a:bodyPr>
            <a:lstStyle/>
            <a:p>
              <a:r>
                <a:rPr lang="en-US" altLang="ja-JP" dirty="0"/>
                <a:t>Z</a:t>
              </a:r>
              <a:endParaRPr lang="ja-JP" altLang="en-US"/>
            </a:p>
          </p:txBody>
        </p:sp>
        <p:sp>
          <p:nvSpPr>
            <p:cNvPr id="57" name="Shape 3">
              <a:extLst>
                <a:ext uri="{FF2B5EF4-FFF2-40B4-BE49-F238E27FC236}">
                  <a16:creationId xmlns:a16="http://schemas.microsoft.com/office/drawing/2014/main" id="{CF245C47-B445-BB80-E604-1105D367636E}"/>
                </a:ext>
              </a:extLst>
            </p:cNvPr>
            <p:cNvSpPr/>
            <p:nvPr/>
          </p:nvSpPr>
          <p:spPr>
            <a:xfrm>
              <a:off x="7868930" y="3192564"/>
              <a:ext cx="72838" cy="72838"/>
            </a:xfrm>
            <a:prstGeom prst="ellipse">
              <a:avLst/>
            </a:prstGeom>
            <a:solidFill>
              <a:schemeClr val="tx1"/>
            </a:solidFill>
            <a:ln/>
          </p:spPr>
          <p:txBody>
            <a:bodyPr/>
            <a:lstStyle/>
            <a:p>
              <a:r>
                <a:rPr lang="en-US" altLang="ja-JP" dirty="0"/>
                <a:t>X</a:t>
              </a:r>
              <a:endParaRPr lang="ja-JP" altLang="en-US"/>
            </a:p>
          </p:txBody>
        </p:sp>
        <p:sp>
          <p:nvSpPr>
            <p:cNvPr id="58" name="Shape 4">
              <a:extLst>
                <a:ext uri="{FF2B5EF4-FFF2-40B4-BE49-F238E27FC236}">
                  <a16:creationId xmlns:a16="http://schemas.microsoft.com/office/drawing/2014/main" id="{66694482-F5D9-ECF6-DD03-A459401D7BAB}"/>
                </a:ext>
              </a:extLst>
            </p:cNvPr>
            <p:cNvSpPr/>
            <p:nvPr/>
          </p:nvSpPr>
          <p:spPr>
            <a:xfrm>
              <a:off x="5752405" y="3936597"/>
              <a:ext cx="72838" cy="72838"/>
            </a:xfrm>
            <a:prstGeom prst="ellipse">
              <a:avLst/>
            </a:prstGeom>
            <a:solidFill>
              <a:schemeClr val="tx1"/>
            </a:solidFill>
            <a:ln/>
          </p:spPr>
          <p:txBody>
            <a:bodyPr/>
            <a:lstStyle/>
            <a:p>
              <a:r>
                <a:rPr lang="en-US" altLang="ja-JP" dirty="0"/>
                <a:t>Y</a:t>
              </a:r>
              <a:endParaRPr lang="ja-JP" altLang="en-US"/>
            </a:p>
          </p:txBody>
        </p:sp>
      </p:grpSp>
      <p:cxnSp>
        <p:nvCxnSpPr>
          <p:cNvPr id="92" name="直線コネクタ 91">
            <a:extLst>
              <a:ext uri="{FF2B5EF4-FFF2-40B4-BE49-F238E27FC236}">
                <a16:creationId xmlns:a16="http://schemas.microsoft.com/office/drawing/2014/main" id="{5945E29A-A02E-5DA3-0B19-F450397DFBDA}"/>
              </a:ext>
            </a:extLst>
          </p:cNvPr>
          <p:cNvCxnSpPr>
            <a:cxnSpLocks/>
            <a:stCxn id="57" idx="3"/>
            <a:endCxn id="55" idx="3"/>
          </p:cNvCxnSpPr>
          <p:nvPr/>
        </p:nvCxnSpPr>
        <p:spPr>
          <a:xfrm>
            <a:off x="7852084" y="2994546"/>
            <a:ext cx="740364" cy="703611"/>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A1914E81-61A0-FF52-0700-60F4E7BECDB2}"/>
              </a:ext>
            </a:extLst>
          </p:cNvPr>
          <p:cNvCxnSpPr>
            <a:cxnSpLocks/>
            <a:stCxn id="56" idx="2"/>
          </p:cNvCxnSpPr>
          <p:nvPr/>
        </p:nvCxnSpPr>
        <p:spPr>
          <a:xfrm>
            <a:off x="6439902" y="1673234"/>
            <a:ext cx="2159870" cy="2022288"/>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FE1ACF56-D612-0422-892F-69E46648F2B4}"/>
              </a:ext>
            </a:extLst>
          </p:cNvPr>
          <p:cNvCxnSpPr>
            <a:cxnSpLocks/>
            <a:stCxn id="50" idx="4"/>
          </p:cNvCxnSpPr>
          <p:nvPr/>
        </p:nvCxnSpPr>
        <p:spPr>
          <a:xfrm flipH="1" flipV="1">
            <a:off x="6455432" y="1670599"/>
            <a:ext cx="458016" cy="1426693"/>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5D2D8EE4-00E3-7364-3E2F-4E7BA79BBF41}"/>
              </a:ext>
            </a:extLst>
          </p:cNvPr>
          <p:cNvCxnSpPr>
            <a:cxnSpLocks/>
            <a:stCxn id="58" idx="4"/>
          </p:cNvCxnSpPr>
          <p:nvPr/>
        </p:nvCxnSpPr>
        <p:spPr>
          <a:xfrm flipH="1" flipV="1">
            <a:off x="6897768" y="3053901"/>
            <a:ext cx="88110" cy="253317"/>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2FA2BBE7-4ED2-15EB-AE99-C8004C7DBE95}"/>
              </a:ext>
            </a:extLst>
          </p:cNvPr>
          <p:cNvCxnSpPr>
            <a:cxnSpLocks/>
            <a:endCxn id="49" idx="6"/>
          </p:cNvCxnSpPr>
          <p:nvPr/>
        </p:nvCxnSpPr>
        <p:spPr>
          <a:xfrm flipV="1">
            <a:off x="6978235" y="3203775"/>
            <a:ext cx="276273" cy="111296"/>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F19032E5-C4B2-33C9-9004-8E26C1FF1F17}"/>
              </a:ext>
            </a:extLst>
          </p:cNvPr>
          <p:cNvCxnSpPr>
            <a:cxnSpLocks/>
            <a:endCxn id="57" idx="2"/>
          </p:cNvCxnSpPr>
          <p:nvPr/>
        </p:nvCxnSpPr>
        <p:spPr>
          <a:xfrm flipV="1">
            <a:off x="7242484" y="2983877"/>
            <a:ext cx="605181" cy="225423"/>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 calcmode="lin" valueType="num">
                                      <p:cBhvr additive="base">
                                        <p:cTn id="7" dur="500"/>
                                        <p:tgtEl>
                                          <p:spTgt spid="37">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p:tgtEl>
                                          <p:spTgt spid="6"/>
                                        </p:tgtEl>
                                        <p:attrNameLst>
                                          <p:attrName>ppt_y</p:attrName>
                                        </p:attrNameLst>
                                      </p:cBhvr>
                                      <p:tavLst>
                                        <p:tav tm="0">
                                          <p:val>
                                            <p:strVal val="#ppt_y+#ppt_h*1.125000"/>
                                          </p:val>
                                        </p:tav>
                                        <p:tav tm="100000">
                                          <p:val>
                                            <p:strVal val="#ppt_y"/>
                                          </p:val>
                                        </p:tav>
                                      </p:tavLst>
                                    </p:anim>
                                    <p:animEffect transition="in" filter="wipe(u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up)">
                                      <p:cBhvr>
                                        <p:cTn id="23"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96"/>
                                        </p:tgtEl>
                                        <p:attrNameLst>
                                          <p:attrName>style.visibility</p:attrName>
                                        </p:attrNameLst>
                                      </p:cBhvr>
                                      <p:to>
                                        <p:strVal val="visible"/>
                                      </p:to>
                                    </p:set>
                                    <p:animEffect transition="in" filter="wipe(down)">
                                      <p:cBhvr>
                                        <p:cTn id="28" dur="500"/>
                                        <p:tgtEl>
                                          <p:spTgt spid="96"/>
                                        </p:tgtEl>
                                      </p:cBhvr>
                                    </p:animEffect>
                                  </p:childTnLst>
                                  <p:subTnLst>
                                    <p:set>
                                      <p:cBhvr override="childStyle">
                                        <p:cTn dur="1" fill="hold" display="0" masterRel="nextClick" afterEffect="1"/>
                                        <p:tgtEl>
                                          <p:spTgt spid="96"/>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wipe(up)">
                                      <p:cBhvr>
                                        <p:cTn id="33" dur="500"/>
                                        <p:tgtEl>
                                          <p:spTgt spid="98"/>
                                        </p:tgtEl>
                                      </p:cBhvr>
                                    </p:animEffect>
                                  </p:childTnLst>
                                  <p:subTnLst>
                                    <p:set>
                                      <p:cBhvr override="childStyle">
                                        <p:cTn dur="1" fill="hold" display="0" masterRel="nextClick" afterEffect="1"/>
                                        <p:tgtEl>
                                          <p:spTgt spid="98"/>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00"/>
                                        </p:tgtEl>
                                        <p:attrNameLst>
                                          <p:attrName>style.visibility</p:attrName>
                                        </p:attrNameLst>
                                      </p:cBhvr>
                                      <p:to>
                                        <p:strVal val="visible"/>
                                      </p:to>
                                    </p:set>
                                    <p:animEffect transition="in" filter="wipe(up)">
                                      <p:cBhvr>
                                        <p:cTn id="38" dur="500"/>
                                        <p:tgtEl>
                                          <p:spTgt spid="100"/>
                                        </p:tgtEl>
                                      </p:cBhvr>
                                    </p:animEffect>
                                  </p:childTnLst>
                                  <p:subTnLst>
                                    <p:set>
                                      <p:cBhvr override="childStyle">
                                        <p:cTn dur="1" fill="hold" display="0" masterRel="nextClick" afterEffect="1"/>
                                        <p:tgtEl>
                                          <p:spTgt spid="100"/>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03"/>
                                        </p:tgtEl>
                                        <p:attrNameLst>
                                          <p:attrName>style.visibility</p:attrName>
                                        </p:attrNameLst>
                                      </p:cBhvr>
                                      <p:to>
                                        <p:strVal val="visible"/>
                                      </p:to>
                                    </p:set>
                                    <p:animEffect transition="in" filter="wipe(down)">
                                      <p:cBhvr>
                                        <p:cTn id="43" dur="500"/>
                                        <p:tgtEl>
                                          <p:spTgt spid="10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105"/>
                                        </p:tgtEl>
                                        <p:attrNameLst>
                                          <p:attrName>style.visibility</p:attrName>
                                        </p:attrNameLst>
                                      </p:cBhvr>
                                      <p:to>
                                        <p:strVal val="visible"/>
                                      </p:to>
                                    </p:set>
                                    <p:animEffect transition="in" filter="wipe(down)">
                                      <p:cBhvr>
                                        <p:cTn id="48" dur="500"/>
                                        <p:tgtEl>
                                          <p:spTgt spid="105"/>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p:tgtEl>
                                          <p:spTgt spid="11"/>
                                        </p:tgtEl>
                                        <p:attrNameLst>
                                          <p:attrName>ppt_y</p:attrName>
                                        </p:attrNameLst>
                                      </p:cBhvr>
                                      <p:tavLst>
                                        <p:tav tm="0">
                                          <p:val>
                                            <p:strVal val="#ppt_y+#ppt_h*1.125000"/>
                                          </p:val>
                                        </p:tav>
                                        <p:tav tm="100000">
                                          <p:val>
                                            <p:strVal val="#ppt_y"/>
                                          </p:val>
                                        </p:tav>
                                      </p:tavLst>
                                    </p:anim>
                                    <p:animEffect transition="in" filter="wipe(up)">
                                      <p:cBhvr>
                                        <p:cTn id="54" dur="500"/>
                                        <p:tgtEl>
                                          <p:spTgt spid="11"/>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p:tgtEl>
                                          <p:spTgt spid="10"/>
                                        </p:tgtEl>
                                        <p:attrNameLst>
                                          <p:attrName>ppt_y</p:attrName>
                                        </p:attrNameLst>
                                      </p:cBhvr>
                                      <p:tavLst>
                                        <p:tav tm="0">
                                          <p:val>
                                            <p:strVal val="#ppt_y+#ppt_h*1.125000"/>
                                          </p:val>
                                        </p:tav>
                                        <p:tav tm="100000">
                                          <p:val>
                                            <p:strVal val="#ppt_y"/>
                                          </p:val>
                                        </p:tav>
                                      </p:tavLst>
                                    </p:anim>
                                    <p:animEffect transition="in" filter="wipe(up)">
                                      <p:cBhvr>
                                        <p:cTn id="58" dur="500"/>
                                        <p:tgtEl>
                                          <p:spTgt spid="10"/>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p:tgtEl>
                                          <p:spTgt spid="9"/>
                                        </p:tgtEl>
                                        <p:attrNameLst>
                                          <p:attrName>ppt_y</p:attrName>
                                        </p:attrNameLst>
                                      </p:cBhvr>
                                      <p:tavLst>
                                        <p:tav tm="0">
                                          <p:val>
                                            <p:strVal val="#ppt_y+#ppt_h*1.125000"/>
                                          </p:val>
                                        </p:tav>
                                        <p:tav tm="100000">
                                          <p:val>
                                            <p:strVal val="#ppt_y"/>
                                          </p:val>
                                        </p:tav>
                                      </p:tavLst>
                                    </p:anim>
                                    <p:animEffect transition="in" filter="wipe(up)">
                                      <p:cBhvr>
                                        <p:cTn id="62" dur="500"/>
                                        <p:tgtEl>
                                          <p:spTgt spid="9"/>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p:tgtEl>
                                          <p:spTgt spid="8"/>
                                        </p:tgtEl>
                                        <p:attrNameLst>
                                          <p:attrName>ppt_y</p:attrName>
                                        </p:attrNameLst>
                                      </p:cBhvr>
                                      <p:tavLst>
                                        <p:tav tm="0">
                                          <p:val>
                                            <p:strVal val="#ppt_y+#ppt_h*1.125000"/>
                                          </p:val>
                                        </p:tav>
                                        <p:tav tm="100000">
                                          <p:val>
                                            <p:strVal val="#ppt_y"/>
                                          </p:val>
                                        </p:tav>
                                      </p:tavLst>
                                    </p:anim>
                                    <p:animEffect transition="in" filter="wipe(up)">
                                      <p:cBhvr>
                                        <p:cTn id="6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99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9933"/>
                </a:solidFill>
                <a:latin typeface="Yu Gothic" pitchFamily="34" charset="0"/>
                <a:ea typeface="Yu Gothic" pitchFamily="34" charset="-122"/>
                <a:cs typeface="Yu Gothic" pitchFamily="34" charset="-120"/>
              </a:rPr>
              <a:t>STEP 1 · MENELAUS</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Step 1 - ③  直線 FAR</a:t>
            </a:r>
            <a:endParaRPr lang="en-US" sz="3000" dirty="0"/>
          </a:p>
        </p:txBody>
      </p:sp>
      <p:sp>
        <p:nvSpPr>
          <p:cNvPr id="6" name="Shape 4"/>
          <p:cNvSpPr/>
          <p:nvPr/>
        </p:nvSpPr>
        <p:spPr>
          <a:xfrm>
            <a:off x="457200" y="2207623"/>
            <a:ext cx="4846320" cy="777240"/>
          </a:xfrm>
          <a:prstGeom prst="rect">
            <a:avLst/>
          </a:prstGeom>
          <a:solidFill>
            <a:srgbClr val="FFFFFF"/>
          </a:solidFill>
          <a:ln w="9525">
            <a:solidFill>
              <a:srgbClr val="9999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p:cNvSpPr/>
              <p:nvPr/>
            </p:nvSpPr>
            <p:spPr>
              <a:xfrm>
                <a:off x="640080" y="2207623"/>
                <a:ext cx="4480560" cy="77724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rgbClr val="000000"/>
                              </a:solidFill>
                              <a:latin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cs typeface="Consolas" pitchFamily="34" charset="-120"/>
                            </a:rPr>
                            <m:t>YR</m:t>
                          </m:r>
                        </m:num>
                        <m:den>
                          <m:r>
                            <m:rPr>
                              <m:sty m:val="p"/>
                            </m:rPr>
                            <a:rPr lang="en-US" altLang="ja-JP" b="0" i="1" smtClean="0">
                              <a:solidFill>
                                <a:srgbClr val="000000"/>
                              </a:solidFill>
                              <a:latin typeface="Cambria Math" panose="02040503050406030204" pitchFamily="18" charset="0"/>
                              <a:cs typeface="Consolas" pitchFamily="34" charset="-120"/>
                            </a:rPr>
                            <m:t>RX</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XA</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AZ</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rgbClr val="000000"/>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ZF</m:t>
                          </m:r>
                        </m:num>
                        <m:den>
                          <m:r>
                            <m:rPr>
                              <m:sty m:val="p"/>
                            </m:rPr>
                            <a:rPr lang="en-US" altLang="ja-JP" b="0" i="1" smtClean="0">
                              <a:solidFill>
                                <a:srgbClr val="000000"/>
                              </a:solidFill>
                              <a:latin typeface="Cambria Math" panose="02040503050406030204" pitchFamily="18" charset="0"/>
                              <a:ea typeface="Cambria Math" panose="02040503050406030204" pitchFamily="18" charset="0"/>
                              <a:cs typeface="Consolas" pitchFamily="34" charset="-120"/>
                            </a:rPr>
                            <m:t>FY</m:t>
                          </m:r>
                        </m:den>
                      </m:f>
                      <m:r>
                        <a:rPr lang="en-US" altLang="ja-JP" i="1">
                          <a:solidFill>
                            <a:srgbClr val="000000"/>
                          </a:solidFill>
                          <a:latin typeface="Cambria Math" panose="02040503050406030204" pitchFamily="18" charset="0"/>
                          <a:ea typeface="Cambria Math" panose="02040503050406030204" pitchFamily="18" charset="0"/>
                          <a:cs typeface="Consolas" pitchFamily="34" charset="-120"/>
                        </a:rPr>
                        <m:t>=1</m:t>
                      </m:r>
                    </m:oMath>
                  </m:oMathPara>
                </a14:m>
                <a:endParaRPr lang="en-US" sz="1600" dirty="0"/>
              </a:p>
            </p:txBody>
          </p:sp>
        </mc:Choice>
        <mc:Fallback>
          <p:sp>
            <p:nvSpPr>
              <p:cNvPr id="7" name="Text 5"/>
              <p:cNvSpPr>
                <a:spLocks noRot="1" noChangeAspect="1" noMove="1" noResize="1" noEditPoints="1" noAdjustHandles="1" noChangeArrowheads="1" noChangeShapeType="1" noTextEdit="1"/>
              </p:cNvSpPr>
              <p:nvPr/>
            </p:nvSpPr>
            <p:spPr>
              <a:xfrm>
                <a:off x="640080" y="2207623"/>
                <a:ext cx="4480560" cy="777240"/>
              </a:xfrm>
              <a:prstGeom prst="rect">
                <a:avLst/>
              </a:prstGeom>
              <a:blipFill>
                <a:blip r:embed="rId3"/>
                <a:stretch>
                  <a:fillRect/>
                </a:stretch>
              </a:blipFill>
              <a:ln/>
            </p:spPr>
            <p:txBody>
              <a:bodyPr/>
              <a:lstStyle/>
              <a:p>
                <a:r>
                  <a:rPr lang="ja-JP" altLang="en-US">
                    <a:noFill/>
                  </a:rPr>
                  <a:t> </a:t>
                </a:r>
              </a:p>
            </p:txBody>
          </p:sp>
        </mc:Fallback>
      </mc:AlternateContent>
      <p:sp>
        <p:nvSpPr>
          <p:cNvPr id="8" name="Shape 6"/>
          <p:cNvSpPr/>
          <p:nvPr/>
        </p:nvSpPr>
        <p:spPr>
          <a:xfrm>
            <a:off x="594360" y="3213463"/>
            <a:ext cx="292608" cy="292608"/>
          </a:xfrm>
          <a:prstGeom prst="ellipse">
            <a:avLst/>
          </a:prstGeom>
          <a:solidFill>
            <a:srgbClr val="FFFFFF"/>
          </a:solidFill>
          <a:ln w="15240">
            <a:solidFill>
              <a:srgbClr val="339933"/>
            </a:solidFill>
            <a:prstDash val="solid"/>
          </a:ln>
        </p:spPr>
        <p:txBody>
          <a:bodyPr/>
          <a:lstStyle/>
          <a:p>
            <a:endParaRPr lang="ja-JP" altLang="en-US"/>
          </a:p>
        </p:txBody>
      </p:sp>
      <p:sp>
        <p:nvSpPr>
          <p:cNvPr id="9" name="Text 7"/>
          <p:cNvSpPr/>
          <p:nvPr/>
        </p:nvSpPr>
        <p:spPr>
          <a:xfrm>
            <a:off x="594360" y="3213463"/>
            <a:ext cx="292608" cy="292608"/>
          </a:xfrm>
          <a:prstGeom prst="rect">
            <a:avLst/>
          </a:prstGeom>
          <a:noFill/>
          <a:ln/>
        </p:spPr>
        <p:txBody>
          <a:bodyPr wrap="square" lIns="0" tIns="0" rIns="0" bIns="0" rtlCol="0" anchor="ctr"/>
          <a:lstStyle/>
          <a:p>
            <a:pPr marL="0" indent="0" algn="ctr">
              <a:buNone/>
            </a:pPr>
            <a:r>
              <a:rPr lang="en-US" sz="1400" dirty="0">
                <a:solidFill>
                  <a:srgbClr val="339933"/>
                </a:solidFill>
                <a:latin typeface="Yu Gothic" pitchFamily="34" charset="0"/>
                <a:ea typeface="Yu Gothic" pitchFamily="34" charset="-122"/>
                <a:cs typeface="Yu Gothic" pitchFamily="34" charset="-120"/>
              </a:rPr>
              <a:t>⇒</a:t>
            </a:r>
            <a:endParaRPr lang="en-US" sz="1400" dirty="0"/>
          </a:p>
        </p:txBody>
      </p:sp>
      <p:sp>
        <p:nvSpPr>
          <p:cNvPr id="10" name="Shape 8"/>
          <p:cNvSpPr/>
          <p:nvPr/>
        </p:nvSpPr>
        <p:spPr>
          <a:xfrm>
            <a:off x="1005840" y="3122023"/>
            <a:ext cx="4297680" cy="594360"/>
          </a:xfrm>
          <a:prstGeom prst="rect">
            <a:avLst/>
          </a:prstGeom>
          <a:solidFill>
            <a:srgbClr val="FFFFFF"/>
          </a:solidFill>
          <a:ln w="12700">
            <a:solidFill>
              <a:srgbClr val="339933"/>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11" name="Text 9"/>
              <p:cNvSpPr/>
              <p:nvPr/>
            </p:nvSpPr>
            <p:spPr>
              <a:xfrm>
                <a:off x="1188720" y="3314047"/>
                <a:ext cx="4023360" cy="402335"/>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sz="1600" i="1" smtClean="0">
                              <a:solidFill>
                                <a:schemeClr val="accent6"/>
                              </a:solidFill>
                              <a:latin typeface="Cambria Math" panose="02040503050406030204" pitchFamily="18" charset="0"/>
                              <a:cs typeface="Consolas" pitchFamily="34" charset="-120"/>
                            </a:rPr>
                          </m:ctrlPr>
                        </m:fPr>
                        <m:num>
                          <m:r>
                            <m:rPr>
                              <m:sty m:val="p"/>
                            </m:rPr>
                            <a:rPr lang="en-US" altLang="ja-JP" sz="1600" b="0" i="1" smtClean="0">
                              <a:solidFill>
                                <a:schemeClr val="accent6"/>
                              </a:solidFill>
                              <a:latin typeface="Cambria Math" panose="02040503050406030204" pitchFamily="18" charset="0"/>
                              <a:cs typeface="Consolas" pitchFamily="34" charset="-120"/>
                            </a:rPr>
                            <m:t>YR</m:t>
                          </m:r>
                        </m:num>
                        <m:den>
                          <m:r>
                            <m:rPr>
                              <m:sty m:val="p"/>
                            </m:rPr>
                            <a:rPr lang="en-US" altLang="ja-JP" sz="1600" b="0" i="1" smtClean="0">
                              <a:solidFill>
                                <a:schemeClr val="accent6"/>
                              </a:solidFill>
                              <a:latin typeface="Cambria Math" panose="02040503050406030204" pitchFamily="18" charset="0"/>
                              <a:cs typeface="Consolas" pitchFamily="34" charset="-120"/>
                            </a:rPr>
                            <m:t>RX</m:t>
                          </m:r>
                        </m:den>
                      </m:f>
                      <m:r>
                        <a:rPr lang="en-US" altLang="ja-JP" sz="1600" i="1">
                          <a:solidFill>
                            <a:schemeClr val="accent6"/>
                          </a:solidFill>
                          <a:latin typeface="Cambria Math" panose="02040503050406030204" pitchFamily="18" charset="0"/>
                          <a:cs typeface="Consolas" pitchFamily="34" charset="-120"/>
                        </a:rPr>
                        <m:t>=</m:t>
                      </m:r>
                      <m:f>
                        <m:fPr>
                          <m:ctrl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b="0" i="1" smtClean="0">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sz="1600" b="0" i="1" smtClean="0">
                              <a:solidFill>
                                <a:schemeClr val="accent6"/>
                              </a:solidFill>
                              <a:latin typeface="Cambria Math" panose="02040503050406030204" pitchFamily="18" charset="0"/>
                              <a:ea typeface="Cambria Math" panose="02040503050406030204" pitchFamily="18" charset="0"/>
                              <a:cs typeface="Consolas" pitchFamily="34" charset="-120"/>
                            </a:rPr>
                            <m:t>XA</m:t>
                          </m:r>
                        </m:den>
                      </m:f>
                      <m: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b="0" i="1" smtClean="0">
                              <a:solidFill>
                                <a:schemeClr val="accent6"/>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sz="1600" b="0" i="1" smtClean="0">
                              <a:solidFill>
                                <a:schemeClr val="accent6"/>
                              </a:solidFill>
                              <a:latin typeface="Cambria Math" panose="02040503050406030204" pitchFamily="18" charset="0"/>
                              <a:ea typeface="Cambria Math" panose="02040503050406030204" pitchFamily="18" charset="0"/>
                              <a:cs typeface="Consolas" pitchFamily="34" charset="-120"/>
                            </a:rPr>
                            <m:t>ZF</m:t>
                          </m:r>
                        </m:den>
                      </m:f>
                    </m:oMath>
                  </m:oMathPara>
                </a14:m>
                <a:endParaRPr lang="en-US" altLang="ja-JP" sz="1600" dirty="0">
                  <a:solidFill>
                    <a:schemeClr val="accent6"/>
                  </a:solidFill>
                </a:endParaRPr>
              </a:p>
              <a:p>
                <a:pPr marL="0" indent="0">
                  <a:buNone/>
                </a:pPr>
                <a:endParaRPr lang="en-US" sz="1500" dirty="0"/>
              </a:p>
            </p:txBody>
          </p:sp>
        </mc:Choice>
        <mc:Fallback>
          <p:sp>
            <p:nvSpPr>
              <p:cNvPr id="11" name="Text 9"/>
              <p:cNvSpPr>
                <a:spLocks noRot="1" noChangeAspect="1" noMove="1" noResize="1" noEditPoints="1" noAdjustHandles="1" noChangeArrowheads="1" noChangeShapeType="1" noTextEdit="1"/>
              </p:cNvSpPr>
              <p:nvPr/>
            </p:nvSpPr>
            <p:spPr>
              <a:xfrm>
                <a:off x="1188720" y="3314047"/>
                <a:ext cx="4023360" cy="402335"/>
              </a:xfrm>
              <a:prstGeom prst="rect">
                <a:avLst/>
              </a:prstGeom>
              <a:blipFill>
                <a:blip r:embed="rId4"/>
                <a:stretch>
                  <a:fillRect t="-40625"/>
                </a:stretch>
              </a:blipFill>
              <a:ln/>
            </p:spPr>
            <p:txBody>
              <a:bodyPr/>
              <a:lstStyle/>
              <a:p>
                <a:r>
                  <a:rPr lang="ja-JP" altLang="en-US">
                    <a:noFill/>
                  </a:rPr>
                  <a:t> </a:t>
                </a:r>
              </a:p>
            </p:txBody>
          </p:sp>
        </mc:Fallback>
      </mc:AlternateContent>
      <p:sp>
        <p:nvSpPr>
          <p:cNvPr id="12" name="Text 10"/>
          <p:cNvSpPr/>
          <p:nvPr/>
        </p:nvSpPr>
        <p:spPr>
          <a:xfrm>
            <a:off x="457200" y="3611880"/>
            <a:ext cx="4846320" cy="1005840"/>
          </a:xfrm>
          <a:prstGeom prst="rect">
            <a:avLst/>
          </a:prstGeom>
          <a:noFill/>
          <a:ln/>
        </p:spPr>
        <p:txBody>
          <a:bodyPr wrap="square" lIns="0" tIns="0" rIns="0" bIns="0" rtlCol="0" anchor="ctr"/>
          <a:lstStyle/>
          <a:p>
            <a:pPr>
              <a:lnSpc>
                <a:spcPct val="130000"/>
              </a:lnSpc>
            </a:pPr>
            <a:r>
              <a:rPr lang="en-US" altLang="ja-JP" sz="1200" dirty="0">
                <a:solidFill>
                  <a:srgbClr val="333333"/>
                </a:solidFill>
                <a:latin typeface="Yu Gothic" pitchFamily="34" charset="0"/>
                <a:ea typeface="Yu Gothic" pitchFamily="34" charset="-122"/>
                <a:cs typeface="Yu Gothic" pitchFamily="34" charset="-120"/>
              </a:rPr>
              <a:t>△ XYZ </a:t>
            </a:r>
            <a:r>
              <a:rPr lang="en-US" altLang="ja-JP" sz="1200" dirty="0" err="1">
                <a:solidFill>
                  <a:srgbClr val="333333"/>
                </a:solidFill>
                <a:latin typeface="Yu Gothic" pitchFamily="34" charset="0"/>
                <a:ea typeface="Yu Gothic" pitchFamily="34" charset="-122"/>
                <a:cs typeface="Yu Gothic" pitchFamily="34" charset="-120"/>
              </a:rPr>
              <a:t>において、分点</a:t>
            </a:r>
            <a:r>
              <a:rPr lang="en-US" altLang="ja-JP" sz="1200" dirty="0">
                <a:solidFill>
                  <a:srgbClr val="333333"/>
                </a:solidFill>
                <a:latin typeface="Yu Gothic" pitchFamily="34" charset="0"/>
                <a:ea typeface="Yu Gothic" pitchFamily="34" charset="-122"/>
                <a:cs typeface="Yu Gothic" pitchFamily="34" charset="-120"/>
              </a:rPr>
              <a:t> </a:t>
            </a:r>
            <a:r>
              <a:rPr lang="en-US" sz="1200" dirty="0">
                <a:solidFill>
                  <a:srgbClr val="333333"/>
                </a:solidFill>
                <a:latin typeface="Yu Gothic" pitchFamily="34" charset="0"/>
                <a:ea typeface="Yu Gothic" pitchFamily="34" charset="-122"/>
                <a:cs typeface="Yu Gothic" pitchFamily="34" charset="-120"/>
              </a:rPr>
              <a:t>F（YZ 上）と A（ZX 上）を通る直線が，目標の分点 R（XY 上）を作る。これで３本すべて適用が完了。</a:t>
            </a:r>
            <a:endParaRPr lang="en-US" sz="1200" dirty="0"/>
          </a:p>
        </p:txBody>
      </p:sp>
      <p:sp>
        <p:nvSpPr>
          <p:cNvPr id="13" name="Shape 11"/>
          <p:cNvSpPr/>
          <p:nvPr/>
        </p:nvSpPr>
        <p:spPr>
          <a:xfrm>
            <a:off x="5486400" y="1097280"/>
            <a:ext cx="3291840" cy="3291840"/>
          </a:xfrm>
          <a:prstGeom prst="rect">
            <a:avLst/>
          </a:prstGeom>
          <a:solidFill>
            <a:srgbClr val="FFFFFF"/>
          </a:solidFill>
          <a:ln w="9525">
            <a:solidFill>
              <a:srgbClr val="999999"/>
            </a:solidFill>
            <a:prstDash val="solid"/>
          </a:ln>
        </p:spPr>
        <p:txBody>
          <a:bodyPr/>
          <a:lstStyle/>
          <a:p>
            <a:endParaRPr lang="ja-JP" altLang="en-US"/>
          </a:p>
        </p:txBody>
      </p:sp>
      <p:sp>
        <p:nvSpPr>
          <p:cNvPr id="15" name="Text 12"/>
          <p:cNvSpPr/>
          <p:nvPr/>
        </p:nvSpPr>
        <p:spPr>
          <a:xfrm>
            <a:off x="5577840" y="4498848"/>
            <a:ext cx="310896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Yu Gothic" pitchFamily="34" charset="0"/>
                <a:ea typeface="Yu Gothic" pitchFamily="34" charset="-122"/>
                <a:cs typeface="Yu Gothic" pitchFamily="34" charset="-120"/>
              </a:rPr>
              <a:t>③ 直線 FAR が △XYZ を横切る</a:t>
            </a:r>
            <a:endParaRPr lang="en-US" sz="1000" dirty="0"/>
          </a:p>
        </p:txBody>
      </p:sp>
      <p:sp>
        <p:nvSpPr>
          <p:cNvPr id="16" name="Text 13"/>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7" name="Text 14"/>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09</a:t>
            </a:r>
            <a:endParaRPr lang="en-US" sz="1000" dirty="0"/>
          </a:p>
        </p:txBody>
      </p:sp>
      <p:sp>
        <p:nvSpPr>
          <p:cNvPr id="36" name="Shape 3">
            <a:extLst>
              <a:ext uri="{FF2B5EF4-FFF2-40B4-BE49-F238E27FC236}">
                <a16:creationId xmlns:a16="http://schemas.microsoft.com/office/drawing/2014/main" id="{4767FD43-BFBC-FDBA-4080-E72A763FE019}"/>
              </a:ext>
            </a:extLst>
          </p:cNvPr>
          <p:cNvSpPr/>
          <p:nvPr/>
        </p:nvSpPr>
        <p:spPr>
          <a:xfrm>
            <a:off x="457200" y="1325880"/>
            <a:ext cx="4843354" cy="594360"/>
          </a:xfrm>
          <a:prstGeom prst="rect">
            <a:avLst/>
          </a:prstGeom>
          <a:solidFill>
            <a:srgbClr val="FFFFFF"/>
          </a:solidFill>
          <a:ln w="9525">
            <a:solidFill>
              <a:srgbClr val="999999"/>
            </a:solidFill>
            <a:prstDash val="solid"/>
          </a:ln>
        </p:spPr>
        <p:txBody>
          <a:bodyPr/>
          <a:lstStyle/>
          <a:p>
            <a:endParaRPr lang="ja-JP" altLang="en-US"/>
          </a:p>
        </p:txBody>
      </p:sp>
      <p:sp>
        <p:nvSpPr>
          <p:cNvPr id="37" name="Text 4">
            <a:extLst>
              <a:ext uri="{FF2B5EF4-FFF2-40B4-BE49-F238E27FC236}">
                <a16:creationId xmlns:a16="http://schemas.microsoft.com/office/drawing/2014/main" id="{1DA1291D-F022-B5AE-6477-C788707AEBD6}"/>
              </a:ext>
            </a:extLst>
          </p:cNvPr>
          <p:cNvSpPr/>
          <p:nvPr/>
        </p:nvSpPr>
        <p:spPr>
          <a:xfrm>
            <a:off x="516464" y="1335024"/>
            <a:ext cx="4696659" cy="594360"/>
          </a:xfrm>
          <a:prstGeom prst="rect">
            <a:avLst/>
          </a:prstGeom>
          <a:noFill/>
          <a:ln/>
        </p:spPr>
        <p:txBody>
          <a:bodyPr wrap="square" lIns="0" tIns="0" rIns="0" bIns="0" rtlCol="0" anchor="ctr"/>
          <a:lstStyle/>
          <a:p>
            <a:pPr marL="0" indent="0">
              <a:buNone/>
            </a:pPr>
            <a:r>
              <a:rPr lang="en-US" sz="1250" i="1" dirty="0" err="1">
                <a:solidFill>
                  <a:srgbClr val="000000"/>
                </a:solidFill>
                <a:latin typeface="Yu Gothic" pitchFamily="34" charset="0"/>
                <a:ea typeface="Yu Gothic" pitchFamily="34" charset="-122"/>
                <a:cs typeface="Yu Gothic" pitchFamily="34" charset="-120"/>
              </a:rPr>
              <a:t>三角形</a:t>
            </a:r>
            <a:r>
              <a:rPr lang="en-US" sz="1250" i="1" dirty="0">
                <a:solidFill>
                  <a:srgbClr val="000000"/>
                </a:solidFill>
                <a:latin typeface="Yu Gothic" pitchFamily="34" charset="0"/>
                <a:ea typeface="Yu Gothic" pitchFamily="34" charset="-122"/>
                <a:cs typeface="Yu Gothic" pitchFamily="34" charset="-120"/>
              </a:rPr>
              <a:t> XYZ の3辺(</a:t>
            </a:r>
            <a:r>
              <a:rPr lang="en-US" sz="1250" i="1" dirty="0" err="1">
                <a:solidFill>
                  <a:srgbClr val="000000"/>
                </a:solidFill>
                <a:latin typeface="Yu Gothic" pitchFamily="34" charset="0"/>
                <a:ea typeface="Yu Gothic" pitchFamily="34" charset="-122"/>
                <a:cs typeface="Yu Gothic" pitchFamily="34" charset="-120"/>
              </a:rPr>
              <a:t>延長線</a:t>
            </a:r>
            <a:r>
              <a:rPr lang="en-US" sz="1250" i="1" dirty="0">
                <a:solidFill>
                  <a:srgbClr val="000000"/>
                </a:solidFill>
                <a:latin typeface="Yu Gothic" pitchFamily="34" charset="0"/>
                <a:ea typeface="Yu Gothic" pitchFamily="34" charset="-122"/>
                <a:cs typeface="Yu Gothic" pitchFamily="34" charset="-120"/>
              </a:rPr>
              <a:t>)とある1つの直線との関係性を調べる</a:t>
            </a:r>
          </a:p>
          <a:p>
            <a:pPr marL="0" indent="0">
              <a:lnSpc>
                <a:spcPct val="150000"/>
              </a:lnSpc>
              <a:buNone/>
            </a:pPr>
            <a:r>
              <a:rPr lang="en-US" sz="1250" i="1" dirty="0">
                <a:solidFill>
                  <a:srgbClr val="000000"/>
                </a:solidFill>
                <a:latin typeface="Yu Gothic" pitchFamily="34" charset="0"/>
                <a:ea typeface="Yu Gothic" pitchFamily="34" charset="-122"/>
              </a:rPr>
              <a:t> ⇨ </a:t>
            </a:r>
            <a:r>
              <a:rPr lang="en-US" sz="1250" i="1" dirty="0" err="1">
                <a:solidFill>
                  <a:srgbClr val="000000"/>
                </a:solidFill>
                <a:latin typeface="Yu Gothic" pitchFamily="34" charset="0"/>
                <a:ea typeface="Yu Gothic" pitchFamily="34" charset="-122"/>
              </a:rPr>
              <a:t>メネラウスの定理</a:t>
            </a:r>
            <a:endParaRPr lang="en-US" sz="1250" dirty="0"/>
          </a:p>
        </p:txBody>
      </p:sp>
      <p:grpSp>
        <p:nvGrpSpPr>
          <p:cNvPr id="38" name="グループ化 37">
            <a:extLst>
              <a:ext uri="{FF2B5EF4-FFF2-40B4-BE49-F238E27FC236}">
                <a16:creationId xmlns:a16="http://schemas.microsoft.com/office/drawing/2014/main" id="{2F80230E-ACB7-3C25-B77E-EA63C2A7A34D}"/>
              </a:ext>
            </a:extLst>
          </p:cNvPr>
          <p:cNvGrpSpPr/>
          <p:nvPr/>
        </p:nvGrpSpPr>
        <p:grpSpPr>
          <a:xfrm>
            <a:off x="5526583" y="1658145"/>
            <a:ext cx="3256332" cy="2173114"/>
            <a:chOff x="2350589" y="29053"/>
            <a:chExt cx="7859846" cy="5245263"/>
          </a:xfrm>
        </p:grpSpPr>
        <p:cxnSp>
          <p:nvCxnSpPr>
            <p:cNvPr id="40" name="直線コネクタ 39">
              <a:extLst>
                <a:ext uri="{FF2B5EF4-FFF2-40B4-BE49-F238E27FC236}">
                  <a16:creationId xmlns:a16="http://schemas.microsoft.com/office/drawing/2014/main" id="{4BEE7231-70A5-9424-8480-F36033FAE7DC}"/>
                </a:ext>
              </a:extLst>
            </p:cNvPr>
            <p:cNvCxnSpPr>
              <a:cxnSpLocks/>
              <a:stCxn id="53" idx="5"/>
              <a:endCxn id="57" idx="2"/>
            </p:cNvCxnSpPr>
            <p:nvPr/>
          </p:nvCxnSpPr>
          <p:spPr>
            <a:xfrm flipV="1">
              <a:off x="2840317" y="3228986"/>
              <a:ext cx="5028613" cy="1819873"/>
            </a:xfrm>
            <a:prstGeom prst="line">
              <a:avLst/>
            </a:prstGeom>
            <a:ln w="28575">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8626239-8D14-B3AC-D237-D3EE6A65D6A1}"/>
                </a:ext>
              </a:extLst>
            </p:cNvPr>
            <p:cNvCxnSpPr>
              <a:cxnSpLocks/>
              <a:stCxn id="58" idx="4"/>
              <a:endCxn id="56" idx="4"/>
            </p:cNvCxnSpPr>
            <p:nvPr/>
          </p:nvCxnSpPr>
          <p:spPr>
            <a:xfrm flipH="1" flipV="1">
              <a:off x="4507417" y="101891"/>
              <a:ext cx="1281408" cy="3907545"/>
            </a:xfrm>
            <a:prstGeom prst="line">
              <a:avLst/>
            </a:prstGeom>
            <a:ln w="28575">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20C13E57-1CC1-41B0-ABDA-20E8EF1F1C3E}"/>
                </a:ext>
              </a:extLst>
            </p:cNvPr>
            <p:cNvCxnSpPr>
              <a:cxnSpLocks/>
            </p:cNvCxnSpPr>
            <p:nvPr/>
          </p:nvCxnSpPr>
          <p:spPr>
            <a:xfrm flipV="1">
              <a:off x="2585013" y="505654"/>
              <a:ext cx="4154397" cy="4768662"/>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EA284E97-089C-2950-8961-DAC73E2547EF}"/>
                </a:ext>
              </a:extLst>
            </p:cNvPr>
            <p:cNvCxnSpPr>
              <a:cxnSpLocks/>
              <a:stCxn id="56" idx="1"/>
              <a:endCxn id="57" idx="2"/>
            </p:cNvCxnSpPr>
            <p:nvPr/>
          </p:nvCxnSpPr>
          <p:spPr>
            <a:xfrm>
              <a:off x="4481663" y="39719"/>
              <a:ext cx="3387267" cy="3189266"/>
            </a:xfrm>
            <a:prstGeom prst="line">
              <a:avLst/>
            </a:prstGeom>
            <a:ln w="28575">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45" name="Shape 0">
              <a:extLst>
                <a:ext uri="{FF2B5EF4-FFF2-40B4-BE49-F238E27FC236}">
                  <a16:creationId xmlns:a16="http://schemas.microsoft.com/office/drawing/2014/main" id="{CD7088FA-C347-7BB1-06F8-6058C65C2D42}"/>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46" name="Shape 1">
              <a:extLst>
                <a:ext uri="{FF2B5EF4-FFF2-40B4-BE49-F238E27FC236}">
                  <a16:creationId xmlns:a16="http://schemas.microsoft.com/office/drawing/2014/main" id="{9AC3FCA3-0AAF-B333-FED1-5F128C54D161}"/>
                </a:ext>
              </a:extLst>
            </p:cNvPr>
            <p:cNvSpPr/>
            <p:nvPr/>
          </p:nvSpPr>
          <p:spPr>
            <a:xfrm>
              <a:off x="5184679" y="2228069"/>
              <a:ext cx="72838" cy="72838"/>
            </a:xfrm>
            <a:prstGeom prst="ellipse">
              <a:avLst/>
            </a:prstGeom>
            <a:solidFill>
              <a:schemeClr val="tx1"/>
            </a:solidFill>
            <a:ln/>
          </p:spPr>
          <p:txBody>
            <a:bodyPr/>
            <a:lstStyle/>
            <a:p>
              <a:r>
                <a:rPr lang="en-US" altLang="ja-JP" dirty="0"/>
                <a:t>F</a:t>
              </a:r>
              <a:endParaRPr lang="ja-JP" altLang="en-US"/>
            </a:p>
          </p:txBody>
        </p:sp>
        <p:sp>
          <p:nvSpPr>
            <p:cNvPr id="51" name="Shape 6">
              <a:extLst>
                <a:ext uri="{FF2B5EF4-FFF2-40B4-BE49-F238E27FC236}">
                  <a16:creationId xmlns:a16="http://schemas.microsoft.com/office/drawing/2014/main" id="{467777E6-6E41-35E3-1AB0-99FF5F890647}"/>
                </a:ext>
              </a:extLst>
            </p:cNvPr>
            <p:cNvSpPr/>
            <p:nvPr/>
          </p:nvSpPr>
          <p:spPr>
            <a:xfrm>
              <a:off x="5908211" y="1382815"/>
              <a:ext cx="72838" cy="72838"/>
            </a:xfrm>
            <a:prstGeom prst="ellipse">
              <a:avLst/>
            </a:prstGeom>
            <a:solidFill>
              <a:schemeClr val="tx1"/>
            </a:solidFill>
            <a:ln/>
          </p:spPr>
          <p:txBody>
            <a:bodyPr>
              <a:noAutofit/>
            </a:bodyPr>
            <a:lstStyle/>
            <a:p>
              <a:r>
                <a:rPr lang="en-US" altLang="ja-JP" dirty="0"/>
                <a:t>A</a:t>
              </a:r>
              <a:endParaRPr lang="ja-JP" altLang="en-US"/>
            </a:p>
          </p:txBody>
        </p:sp>
        <p:cxnSp>
          <p:nvCxnSpPr>
            <p:cNvPr id="52" name="直線コネクタ 51">
              <a:extLst>
                <a:ext uri="{FF2B5EF4-FFF2-40B4-BE49-F238E27FC236}">
                  <a16:creationId xmlns:a16="http://schemas.microsoft.com/office/drawing/2014/main" id="{35ECF966-CB87-658D-CDB5-AA7AA8315B01}"/>
                </a:ext>
              </a:extLst>
            </p:cNvPr>
            <p:cNvCxnSpPr>
              <a:cxnSpLocks/>
            </p:cNvCxnSpPr>
            <p:nvPr/>
          </p:nvCxnSpPr>
          <p:spPr>
            <a:xfrm flipV="1">
              <a:off x="2350589" y="4909831"/>
              <a:ext cx="7859846" cy="113275"/>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3" name="Shape 5">
              <a:extLst>
                <a:ext uri="{FF2B5EF4-FFF2-40B4-BE49-F238E27FC236}">
                  <a16:creationId xmlns:a16="http://schemas.microsoft.com/office/drawing/2014/main" id="{24FDB46A-99E0-C757-3BE1-0DF07F65DCA0}"/>
                </a:ext>
              </a:extLst>
            </p:cNvPr>
            <p:cNvSpPr/>
            <p:nvPr/>
          </p:nvSpPr>
          <p:spPr>
            <a:xfrm>
              <a:off x="2778143" y="4986687"/>
              <a:ext cx="72838" cy="72838"/>
            </a:xfrm>
            <a:prstGeom prst="ellipse">
              <a:avLst/>
            </a:prstGeom>
            <a:solidFill>
              <a:schemeClr val="tx1"/>
            </a:solidFill>
            <a:ln/>
          </p:spPr>
          <p:txBody>
            <a:bodyPr/>
            <a:lstStyle/>
            <a:p>
              <a:r>
                <a:rPr lang="en-US" altLang="ja-JP" dirty="0"/>
                <a:t>R</a:t>
              </a:r>
              <a:endParaRPr lang="ja-JP" altLang="en-US"/>
            </a:p>
          </p:txBody>
        </p:sp>
        <p:sp>
          <p:nvSpPr>
            <p:cNvPr id="56" name="Shape 6">
              <a:extLst>
                <a:ext uri="{FF2B5EF4-FFF2-40B4-BE49-F238E27FC236}">
                  <a16:creationId xmlns:a16="http://schemas.microsoft.com/office/drawing/2014/main" id="{4433103D-2537-746E-9144-95963075D731}"/>
                </a:ext>
              </a:extLst>
            </p:cNvPr>
            <p:cNvSpPr/>
            <p:nvPr/>
          </p:nvSpPr>
          <p:spPr>
            <a:xfrm>
              <a:off x="4470997" y="29053"/>
              <a:ext cx="72838" cy="72838"/>
            </a:xfrm>
            <a:prstGeom prst="ellipse">
              <a:avLst/>
            </a:prstGeom>
            <a:solidFill>
              <a:schemeClr val="tx1"/>
            </a:solidFill>
            <a:ln/>
          </p:spPr>
          <p:txBody>
            <a:bodyPr>
              <a:noAutofit/>
            </a:bodyPr>
            <a:lstStyle/>
            <a:p>
              <a:r>
                <a:rPr lang="en-US" altLang="ja-JP" dirty="0"/>
                <a:t>Z</a:t>
              </a:r>
              <a:endParaRPr lang="ja-JP" altLang="en-US"/>
            </a:p>
          </p:txBody>
        </p:sp>
        <p:sp>
          <p:nvSpPr>
            <p:cNvPr id="57" name="Shape 3">
              <a:extLst>
                <a:ext uri="{FF2B5EF4-FFF2-40B4-BE49-F238E27FC236}">
                  <a16:creationId xmlns:a16="http://schemas.microsoft.com/office/drawing/2014/main" id="{C9FD0F55-A5D0-AC0D-1EC3-0E4F15823FF2}"/>
                </a:ext>
              </a:extLst>
            </p:cNvPr>
            <p:cNvSpPr/>
            <p:nvPr/>
          </p:nvSpPr>
          <p:spPr>
            <a:xfrm>
              <a:off x="7868930" y="3192564"/>
              <a:ext cx="72838" cy="72838"/>
            </a:xfrm>
            <a:prstGeom prst="ellipse">
              <a:avLst/>
            </a:prstGeom>
            <a:solidFill>
              <a:schemeClr val="tx1"/>
            </a:solidFill>
            <a:ln/>
          </p:spPr>
          <p:txBody>
            <a:bodyPr/>
            <a:lstStyle/>
            <a:p>
              <a:r>
                <a:rPr lang="en-US" altLang="ja-JP" dirty="0"/>
                <a:t>X</a:t>
              </a:r>
              <a:endParaRPr lang="ja-JP" altLang="en-US"/>
            </a:p>
          </p:txBody>
        </p:sp>
        <p:sp>
          <p:nvSpPr>
            <p:cNvPr id="58" name="Shape 4">
              <a:extLst>
                <a:ext uri="{FF2B5EF4-FFF2-40B4-BE49-F238E27FC236}">
                  <a16:creationId xmlns:a16="http://schemas.microsoft.com/office/drawing/2014/main" id="{FC262A80-E4C4-E7D1-4EB1-39864445152F}"/>
                </a:ext>
              </a:extLst>
            </p:cNvPr>
            <p:cNvSpPr/>
            <p:nvPr/>
          </p:nvSpPr>
          <p:spPr>
            <a:xfrm>
              <a:off x="5752405" y="3936597"/>
              <a:ext cx="72838" cy="72838"/>
            </a:xfrm>
            <a:prstGeom prst="ellipse">
              <a:avLst/>
            </a:prstGeom>
            <a:solidFill>
              <a:schemeClr val="tx1"/>
            </a:solidFill>
            <a:ln/>
          </p:spPr>
          <p:txBody>
            <a:bodyPr/>
            <a:lstStyle/>
            <a:p>
              <a:r>
                <a:rPr lang="en-US" altLang="ja-JP" dirty="0"/>
                <a:t>Y</a:t>
              </a:r>
              <a:endParaRPr lang="ja-JP" altLang="en-US"/>
            </a:p>
          </p:txBody>
        </p:sp>
      </p:grpSp>
      <p:cxnSp>
        <p:nvCxnSpPr>
          <p:cNvPr id="67" name="直線コネクタ 66">
            <a:extLst>
              <a:ext uri="{FF2B5EF4-FFF2-40B4-BE49-F238E27FC236}">
                <a16:creationId xmlns:a16="http://schemas.microsoft.com/office/drawing/2014/main" id="{3797A87E-9AA1-85D8-FB11-8F42142801D8}"/>
              </a:ext>
            </a:extLst>
          </p:cNvPr>
          <p:cNvCxnSpPr>
            <a:cxnSpLocks/>
            <a:endCxn id="58" idx="4"/>
          </p:cNvCxnSpPr>
          <p:nvPr/>
        </p:nvCxnSpPr>
        <p:spPr>
          <a:xfrm flipV="1">
            <a:off x="5744565" y="3307219"/>
            <a:ext cx="1206478" cy="426439"/>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491FD152-30F0-69EE-BE56-9D5A0B9FA8F6}"/>
              </a:ext>
            </a:extLst>
          </p:cNvPr>
          <p:cNvCxnSpPr>
            <a:cxnSpLocks/>
            <a:stCxn id="58" idx="4"/>
          </p:cNvCxnSpPr>
          <p:nvPr/>
        </p:nvCxnSpPr>
        <p:spPr>
          <a:xfrm flipV="1">
            <a:off x="6951043" y="2978487"/>
            <a:ext cx="893076" cy="328732"/>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7C5AB775-1A40-F4EC-B8FE-5172A025046A}"/>
              </a:ext>
            </a:extLst>
          </p:cNvPr>
          <p:cNvCxnSpPr>
            <a:cxnSpLocks/>
            <a:stCxn id="51" idx="5"/>
          </p:cNvCxnSpPr>
          <p:nvPr/>
        </p:nvCxnSpPr>
        <p:spPr>
          <a:xfrm>
            <a:off x="7026263" y="2244767"/>
            <a:ext cx="785669" cy="74121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ED8C41B0-1B1E-E844-E72B-B51054F19A6F}"/>
              </a:ext>
            </a:extLst>
          </p:cNvPr>
          <p:cNvCxnSpPr>
            <a:cxnSpLocks/>
            <a:endCxn id="51" idx="5"/>
          </p:cNvCxnSpPr>
          <p:nvPr/>
        </p:nvCxnSpPr>
        <p:spPr>
          <a:xfrm>
            <a:off x="6410253" y="1664821"/>
            <a:ext cx="616010" cy="579946"/>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C4BCD872-C869-3852-C2D0-A8A102C07FBF}"/>
              </a:ext>
            </a:extLst>
          </p:cNvPr>
          <p:cNvCxnSpPr>
            <a:cxnSpLocks/>
            <a:stCxn id="46" idx="5"/>
          </p:cNvCxnSpPr>
          <p:nvPr/>
        </p:nvCxnSpPr>
        <p:spPr>
          <a:xfrm flipH="1" flipV="1">
            <a:off x="6409281" y="1677653"/>
            <a:ext cx="317223" cy="91730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A30251B7-D048-AD6D-D7EC-1F03BC761935}"/>
              </a:ext>
            </a:extLst>
          </p:cNvPr>
          <p:cNvCxnSpPr>
            <a:cxnSpLocks/>
            <a:stCxn id="58" idx="4"/>
          </p:cNvCxnSpPr>
          <p:nvPr/>
        </p:nvCxnSpPr>
        <p:spPr>
          <a:xfrm flipH="1" flipV="1">
            <a:off x="6718985" y="2560847"/>
            <a:ext cx="232058" cy="746372"/>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 calcmode="lin" valueType="num">
                                      <p:cBhvr additive="base">
                                        <p:cTn id="7" dur="500"/>
                                        <p:tgtEl>
                                          <p:spTgt spid="37">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p:tgtEl>
                                          <p:spTgt spid="6"/>
                                        </p:tgtEl>
                                        <p:attrNameLst>
                                          <p:attrName>ppt_y</p:attrName>
                                        </p:attrNameLst>
                                      </p:cBhvr>
                                      <p:tavLst>
                                        <p:tav tm="0">
                                          <p:val>
                                            <p:strVal val="#ppt_y+#ppt_h*1.125000"/>
                                          </p:val>
                                        </p:tav>
                                        <p:tav tm="100000">
                                          <p:val>
                                            <p:strVal val="#ppt_y"/>
                                          </p:val>
                                        </p:tav>
                                      </p:tavLst>
                                    </p:anim>
                                    <p:animEffect transition="in" filter="wipe(u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wipe(down)">
                                      <p:cBhvr>
                                        <p:cTn id="23"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wipe(down)">
                                      <p:cBhvr>
                                        <p:cTn id="28" dur="500"/>
                                        <p:tgtEl>
                                          <p:spTgt spid="69"/>
                                        </p:tgtEl>
                                      </p:cBhvr>
                                    </p:animEffect>
                                  </p:childTnLst>
                                  <p:subTnLst>
                                    <p:set>
                                      <p:cBhvr override="childStyle">
                                        <p:cTn dur="1" fill="hold" display="0" masterRel="nextClick" afterEffect="1"/>
                                        <p:tgtEl>
                                          <p:spTgt spid="69"/>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71"/>
                                        </p:tgtEl>
                                        <p:attrNameLst>
                                          <p:attrName>style.visibility</p:attrName>
                                        </p:attrNameLst>
                                      </p:cBhvr>
                                      <p:to>
                                        <p:strVal val="visible"/>
                                      </p:to>
                                    </p:set>
                                    <p:animEffect transition="in" filter="wipe(down)">
                                      <p:cBhvr>
                                        <p:cTn id="33" dur="5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73"/>
                                        </p:tgtEl>
                                        <p:attrNameLst>
                                          <p:attrName>style.visibility</p:attrName>
                                        </p:attrNameLst>
                                      </p:cBhvr>
                                      <p:to>
                                        <p:strVal val="visible"/>
                                      </p:to>
                                    </p:set>
                                    <p:animEffect transition="in" filter="wipe(down)">
                                      <p:cBhvr>
                                        <p:cTn id="38" dur="500"/>
                                        <p:tgtEl>
                                          <p:spTgt spid="73"/>
                                        </p:tgtEl>
                                      </p:cBhvr>
                                    </p:animEffect>
                                  </p:childTnLst>
                                  <p:subTnLst>
                                    <p:set>
                                      <p:cBhvr override="childStyle">
                                        <p:cTn dur="1" fill="hold" display="0" masterRel="nextClick" afterEffect="1"/>
                                        <p:tgtEl>
                                          <p:spTgt spid="73"/>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wipe(up)">
                                      <p:cBhvr>
                                        <p:cTn id="43" dur="500"/>
                                        <p:tgtEl>
                                          <p:spTgt spid="75"/>
                                        </p:tgtEl>
                                      </p:cBhvr>
                                    </p:animEffec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7"/>
                                        </p:tgtEl>
                                        <p:attrNameLst>
                                          <p:attrName>style.visibility</p:attrName>
                                        </p:attrNameLst>
                                      </p:cBhvr>
                                      <p:to>
                                        <p:strVal val="visible"/>
                                      </p:to>
                                    </p:set>
                                    <p:animEffect transition="in" filter="wipe(up)">
                                      <p:cBhvr>
                                        <p:cTn id="48" dur="500"/>
                                        <p:tgtEl>
                                          <p:spTgt spid="77"/>
                                        </p:tgtEl>
                                      </p:cBhvr>
                                    </p:animEffect>
                                  </p:childTnLst>
                                  <p:subTnLst>
                                    <p:set>
                                      <p:cBhvr override="childStyle">
                                        <p:cTn dur="1" fill="hold" display="0" masterRel="nextClick" afterEffect="1"/>
                                        <p:tgtEl>
                                          <p:spTgt spid="77"/>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p:tgtEl>
                                          <p:spTgt spid="11"/>
                                        </p:tgtEl>
                                        <p:attrNameLst>
                                          <p:attrName>ppt_y</p:attrName>
                                        </p:attrNameLst>
                                      </p:cBhvr>
                                      <p:tavLst>
                                        <p:tav tm="0">
                                          <p:val>
                                            <p:strVal val="#ppt_y+#ppt_h*1.125000"/>
                                          </p:val>
                                        </p:tav>
                                        <p:tav tm="100000">
                                          <p:val>
                                            <p:strVal val="#ppt_y"/>
                                          </p:val>
                                        </p:tav>
                                      </p:tavLst>
                                    </p:anim>
                                    <p:animEffect transition="in" filter="wipe(up)">
                                      <p:cBhvr>
                                        <p:cTn id="54" dur="500"/>
                                        <p:tgtEl>
                                          <p:spTgt spid="11"/>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p:tgtEl>
                                          <p:spTgt spid="10"/>
                                        </p:tgtEl>
                                        <p:attrNameLst>
                                          <p:attrName>ppt_y</p:attrName>
                                        </p:attrNameLst>
                                      </p:cBhvr>
                                      <p:tavLst>
                                        <p:tav tm="0">
                                          <p:val>
                                            <p:strVal val="#ppt_y+#ppt_h*1.125000"/>
                                          </p:val>
                                        </p:tav>
                                        <p:tav tm="100000">
                                          <p:val>
                                            <p:strVal val="#ppt_y"/>
                                          </p:val>
                                        </p:tav>
                                      </p:tavLst>
                                    </p:anim>
                                    <p:animEffect transition="in" filter="wipe(up)">
                                      <p:cBhvr>
                                        <p:cTn id="58" dur="500"/>
                                        <p:tgtEl>
                                          <p:spTgt spid="10"/>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p:tgtEl>
                                          <p:spTgt spid="9"/>
                                        </p:tgtEl>
                                        <p:attrNameLst>
                                          <p:attrName>ppt_y</p:attrName>
                                        </p:attrNameLst>
                                      </p:cBhvr>
                                      <p:tavLst>
                                        <p:tav tm="0">
                                          <p:val>
                                            <p:strVal val="#ppt_y+#ppt_h*1.125000"/>
                                          </p:val>
                                        </p:tav>
                                        <p:tav tm="100000">
                                          <p:val>
                                            <p:strVal val="#ppt_y"/>
                                          </p:val>
                                        </p:tav>
                                      </p:tavLst>
                                    </p:anim>
                                    <p:animEffect transition="in" filter="wipe(up)">
                                      <p:cBhvr>
                                        <p:cTn id="62" dur="500"/>
                                        <p:tgtEl>
                                          <p:spTgt spid="9"/>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p:tgtEl>
                                          <p:spTgt spid="8"/>
                                        </p:tgtEl>
                                        <p:attrNameLst>
                                          <p:attrName>ppt_y</p:attrName>
                                        </p:attrNameLst>
                                      </p:cBhvr>
                                      <p:tavLst>
                                        <p:tav tm="0">
                                          <p:val>
                                            <p:strVal val="#ppt_y+#ppt_h*1.125000"/>
                                          </p:val>
                                        </p:tav>
                                        <p:tav tm="100000">
                                          <p:val>
                                            <p:strVal val="#ppt_y"/>
                                          </p:val>
                                        </p:tav>
                                      </p:tavLst>
                                    </p:anim>
                                    <p:animEffect transition="in" filter="wipe(up)">
                                      <p:cBhvr>
                                        <p:cTn id="6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0E83-8F40-3A54-4213-4D9C962879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E37B9B7-6B75-6D24-F389-86A99E119383}"/>
              </a:ext>
            </a:extLst>
          </p:cNvPr>
          <p:cNvSpPr/>
          <p:nvPr/>
        </p:nvSpPr>
        <p:spPr>
          <a:xfrm>
            <a:off x="0" y="0"/>
            <a:ext cx="109728" cy="5143500"/>
          </a:xfrm>
          <a:prstGeom prst="rect">
            <a:avLst/>
          </a:prstGeom>
          <a:solidFill>
            <a:srgbClr val="996633"/>
          </a:solidFill>
          <a:ln/>
        </p:spPr>
        <p:txBody>
          <a:bodyPr/>
          <a:lstStyle/>
          <a:p>
            <a:endParaRPr lang="ja-JP" altLang="en-US"/>
          </a:p>
        </p:txBody>
      </p:sp>
      <p:sp>
        <p:nvSpPr>
          <p:cNvPr id="3" name="Text 1">
            <a:extLst>
              <a:ext uri="{FF2B5EF4-FFF2-40B4-BE49-F238E27FC236}">
                <a16:creationId xmlns:a16="http://schemas.microsoft.com/office/drawing/2014/main" id="{5454A469-DFDE-8F92-2993-35513E1F66C3}"/>
              </a:ext>
            </a:extLst>
          </p:cNvPr>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996633"/>
                </a:solidFill>
                <a:latin typeface="Yu Gothic" pitchFamily="34" charset="0"/>
                <a:ea typeface="Yu Gothic" pitchFamily="34" charset="-122"/>
                <a:cs typeface="Yu Gothic" pitchFamily="34" charset="-120"/>
              </a:rPr>
              <a:t>STEP 2 · COMBINE</a:t>
            </a:r>
            <a:endParaRPr lang="en-US" sz="1200" dirty="0"/>
          </a:p>
        </p:txBody>
      </p:sp>
      <p:sp>
        <p:nvSpPr>
          <p:cNvPr id="4" name="Text 2">
            <a:extLst>
              <a:ext uri="{FF2B5EF4-FFF2-40B4-BE49-F238E27FC236}">
                <a16:creationId xmlns:a16="http://schemas.microsoft.com/office/drawing/2014/main" id="{90C62CD9-0F42-9437-9207-5465A5509F05}"/>
              </a:ext>
            </a:extLst>
          </p:cNvPr>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３式の積をとり，頂点ごとに整理する</a:t>
            </a:r>
            <a:endParaRPr lang="en-US" sz="3000" dirty="0"/>
          </a:p>
        </p:txBody>
      </p:sp>
      <p:sp>
        <p:nvSpPr>
          <p:cNvPr id="5" name="Text 3">
            <a:extLst>
              <a:ext uri="{FF2B5EF4-FFF2-40B4-BE49-F238E27FC236}">
                <a16:creationId xmlns:a16="http://schemas.microsoft.com/office/drawing/2014/main" id="{020358FA-30DA-F413-FF73-44B548C455C4}"/>
              </a:ext>
            </a:extLst>
          </p:cNvPr>
          <p:cNvSpPr/>
          <p:nvPr/>
        </p:nvSpPr>
        <p:spPr>
          <a:xfrm>
            <a:off x="457200" y="3729430"/>
            <a:ext cx="8229600" cy="32004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①〜③で得た右辺をすべてかけ合わせる：</a:t>
            </a:r>
            <a:endParaRPr lang="en-US" sz="1300" dirty="0"/>
          </a:p>
        </p:txBody>
      </p:sp>
      <p:sp>
        <p:nvSpPr>
          <p:cNvPr id="6" name="Shape 4">
            <a:extLst>
              <a:ext uri="{FF2B5EF4-FFF2-40B4-BE49-F238E27FC236}">
                <a16:creationId xmlns:a16="http://schemas.microsoft.com/office/drawing/2014/main" id="{A009750B-C38E-E812-5E14-270E4121B422}"/>
              </a:ext>
            </a:extLst>
          </p:cNvPr>
          <p:cNvSpPr/>
          <p:nvPr/>
        </p:nvSpPr>
        <p:spPr>
          <a:xfrm>
            <a:off x="457200" y="4095190"/>
            <a:ext cx="8229600" cy="685800"/>
          </a:xfrm>
          <a:prstGeom prst="rect">
            <a:avLst/>
          </a:prstGeom>
          <a:solidFill>
            <a:srgbClr val="FFFFFF"/>
          </a:solidFill>
          <a:ln w="9525">
            <a:solidFill>
              <a:srgbClr val="9999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a:extLst>
                  <a:ext uri="{FF2B5EF4-FFF2-40B4-BE49-F238E27FC236}">
                    <a16:creationId xmlns:a16="http://schemas.microsoft.com/office/drawing/2014/main" id="{FBAF680C-EA89-8BB8-7609-ADC3161A8D88}"/>
                  </a:ext>
                </a:extLst>
              </p:cNvPr>
              <p:cNvSpPr/>
              <p:nvPr/>
            </p:nvSpPr>
            <p:spPr>
              <a:xfrm>
                <a:off x="594360" y="4095190"/>
                <a:ext cx="7955280" cy="6858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f>
                        <m:fPr>
                          <m:ctrlPr>
                            <a:rPr lang="en-US" altLang="ja-JP" sz="2000" b="1" i="1" smtClean="0">
                              <a:solidFill>
                                <a:srgbClr val="996633"/>
                              </a:solidFill>
                              <a:latin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cs typeface="Consolas" pitchFamily="34" charset="-120"/>
                            </a:rPr>
                            <m:t>XP</m:t>
                          </m:r>
                        </m:num>
                        <m:den>
                          <m:r>
                            <m:rPr>
                              <m:sty m:val="p"/>
                            </m:rPr>
                            <a:rPr lang="en-US" altLang="ja-JP" sz="2000" b="1" i="1">
                              <a:solidFill>
                                <a:srgbClr val="996633"/>
                              </a:solidFill>
                              <a:latin typeface="Cambria Math" panose="02040503050406030204" pitchFamily="18" charset="0"/>
                              <a:cs typeface="Consolas" pitchFamily="34" charset="-120"/>
                            </a:rPr>
                            <m:t>PZ</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QY</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RX</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ZE</m:t>
                          </m:r>
                        </m:den>
                      </m:f>
                      <m: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YD</m:t>
                          </m:r>
                        </m:den>
                      </m:f>
                      <m:r>
                        <a:rPr lang="en-US" altLang="ja-JP" sz="2000" i="1" smtClean="0">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XB</m:t>
                          </m:r>
                        </m:den>
                      </m:f>
                      <m:r>
                        <a:rPr lang="en-US" altLang="ja-JP" sz="2000" i="1" smtClean="0">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XA</m:t>
                          </m:r>
                        </m:den>
                      </m:f>
                      <m: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ZF</m:t>
                          </m:r>
                        </m:den>
                      </m:f>
                    </m:oMath>
                  </m:oMathPara>
                </a14:m>
                <a:endParaRPr lang="en-US" altLang="ja-JP" sz="2000" dirty="0">
                  <a:solidFill>
                    <a:schemeClr val="accent2"/>
                  </a:solidFill>
                </a:endParaRPr>
              </a:p>
            </p:txBody>
          </p:sp>
        </mc:Choice>
        <mc:Fallback>
          <p:sp>
            <p:nvSpPr>
              <p:cNvPr id="7" name="Text 5">
                <a:extLst>
                  <a:ext uri="{FF2B5EF4-FFF2-40B4-BE49-F238E27FC236}">
                    <a16:creationId xmlns:a16="http://schemas.microsoft.com/office/drawing/2014/main" id="{FBAF680C-EA89-8BB8-7609-ADC3161A8D88}"/>
                  </a:ext>
                </a:extLst>
              </p:cNvPr>
              <p:cNvSpPr>
                <a:spLocks noRot="1" noChangeAspect="1" noMove="1" noResize="1" noEditPoints="1" noAdjustHandles="1" noChangeArrowheads="1" noChangeShapeType="1" noTextEdit="1"/>
              </p:cNvSpPr>
              <p:nvPr/>
            </p:nvSpPr>
            <p:spPr>
              <a:xfrm>
                <a:off x="594360" y="4095190"/>
                <a:ext cx="7955280" cy="685800"/>
              </a:xfrm>
              <a:prstGeom prst="rect">
                <a:avLst/>
              </a:prstGeom>
              <a:blipFill>
                <a:blip r:embed="rId3"/>
                <a:stretch>
                  <a:fillRect b="-10909"/>
                </a:stretch>
              </a:blipFill>
              <a:ln/>
            </p:spPr>
            <p:txBody>
              <a:bodyPr/>
              <a:lstStyle/>
              <a:p>
                <a:r>
                  <a:rPr lang="ja-JP" altLang="en-US">
                    <a:noFill/>
                  </a:rPr>
                  <a:t> </a:t>
                </a:r>
              </a:p>
            </p:txBody>
          </p:sp>
        </mc:Fallback>
      </mc:AlternateContent>
      <p:sp>
        <p:nvSpPr>
          <p:cNvPr id="8" name="Text 6">
            <a:extLst>
              <a:ext uri="{FF2B5EF4-FFF2-40B4-BE49-F238E27FC236}">
                <a16:creationId xmlns:a16="http://schemas.microsoft.com/office/drawing/2014/main" id="{A5DBAB16-8C12-0204-79F9-15405D7E02D3}"/>
              </a:ext>
            </a:extLst>
          </p:cNvPr>
          <p:cNvSpPr/>
          <p:nvPr/>
        </p:nvSpPr>
        <p:spPr>
          <a:xfrm>
            <a:off x="457200" y="1248156"/>
            <a:ext cx="8229600" cy="320040"/>
          </a:xfrm>
          <a:prstGeom prst="rect">
            <a:avLst/>
          </a:prstGeom>
          <a:noFill/>
          <a:ln/>
        </p:spPr>
        <p:txBody>
          <a:bodyPr wrap="square" lIns="0" tIns="0" rIns="0" bIns="0" rtlCol="0" anchor="ctr"/>
          <a:lstStyle/>
          <a:p>
            <a:r>
              <a:rPr lang="en-US" sz="1300" dirty="0">
                <a:solidFill>
                  <a:srgbClr val="333333"/>
                </a:solidFill>
                <a:latin typeface="Yu Gothic" pitchFamily="34" charset="0"/>
                <a:ea typeface="Yu Gothic" pitchFamily="34" charset="-122"/>
                <a:cs typeface="Yu Gothic" pitchFamily="34" charset="-120"/>
              </a:rPr>
              <a:t>(*)</a:t>
            </a:r>
            <a:r>
              <a:rPr lang="en-US" sz="1300" dirty="0" err="1">
                <a:solidFill>
                  <a:srgbClr val="333333"/>
                </a:solidFill>
                <a:latin typeface="Yu Gothic" pitchFamily="34" charset="0"/>
                <a:ea typeface="Yu Gothic" pitchFamily="34" charset="-122"/>
                <a:cs typeface="Yu Gothic" pitchFamily="34" charset="-120"/>
              </a:rPr>
              <a:t>と</a:t>
            </a:r>
            <a:r>
              <a:rPr lang="en-US" altLang="ja-JP" sz="1300" dirty="0">
                <a:solidFill>
                  <a:srgbClr val="333333"/>
                </a:solidFill>
                <a:latin typeface="Yu Gothic" pitchFamily="34" charset="0"/>
                <a:ea typeface="Yu Gothic" pitchFamily="34" charset="-122"/>
                <a:cs typeface="Yu Gothic" pitchFamily="34" charset="-120"/>
              </a:rPr>
              <a:t>①〜③</a:t>
            </a:r>
            <a:r>
              <a:rPr lang="en-US" altLang="ja-JP" sz="1300" dirty="0" err="1">
                <a:solidFill>
                  <a:srgbClr val="333333"/>
                </a:solidFill>
                <a:latin typeface="Yu Gothic" pitchFamily="34" charset="0"/>
                <a:ea typeface="Yu Gothic" pitchFamily="34" charset="-122"/>
                <a:cs typeface="Yu Gothic" pitchFamily="34" charset="-120"/>
              </a:rPr>
              <a:t>で得た右辺を</a:t>
            </a:r>
            <a:r>
              <a:rPr lang="ja-JP" altLang="en-US" sz="1300">
                <a:solidFill>
                  <a:srgbClr val="333333"/>
                </a:solidFill>
                <a:latin typeface="Yu Gothic" pitchFamily="34" charset="0"/>
                <a:ea typeface="Yu Gothic" pitchFamily="34" charset="-122"/>
                <a:cs typeface="Yu Gothic" pitchFamily="34" charset="-120"/>
              </a:rPr>
              <a:t>代入すると</a:t>
            </a:r>
            <a:r>
              <a:rPr lang="en-US" altLang="ja-JP" sz="1300" dirty="0">
                <a:solidFill>
                  <a:srgbClr val="333333"/>
                </a:solidFill>
                <a:latin typeface="Yu Gothic" pitchFamily="34" charset="0"/>
                <a:ea typeface="Yu Gothic" pitchFamily="34" charset="-122"/>
                <a:cs typeface="Yu Gothic" pitchFamily="34" charset="-120"/>
              </a:rPr>
              <a:t>：</a:t>
            </a:r>
            <a:endParaRPr lang="en-US" altLang="ja-JP" sz="1300" dirty="0"/>
          </a:p>
        </p:txBody>
      </p:sp>
      <p:sp>
        <p:nvSpPr>
          <p:cNvPr id="9" name="Shape 7">
            <a:extLst>
              <a:ext uri="{FF2B5EF4-FFF2-40B4-BE49-F238E27FC236}">
                <a16:creationId xmlns:a16="http://schemas.microsoft.com/office/drawing/2014/main" id="{9348AE10-5C9F-D203-87FB-A6E05925ADCB}"/>
              </a:ext>
            </a:extLst>
          </p:cNvPr>
          <p:cNvSpPr/>
          <p:nvPr/>
        </p:nvSpPr>
        <p:spPr>
          <a:xfrm>
            <a:off x="457200" y="1613916"/>
            <a:ext cx="8229600" cy="777240"/>
          </a:xfrm>
          <a:prstGeom prst="rect">
            <a:avLst/>
          </a:prstGeom>
          <a:solidFill>
            <a:srgbClr val="FFFFFF"/>
          </a:solidFill>
          <a:ln w="12700">
            <a:solidFill>
              <a:srgbClr val="996633"/>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10" name="Text 8">
                <a:extLst>
                  <a:ext uri="{FF2B5EF4-FFF2-40B4-BE49-F238E27FC236}">
                    <a16:creationId xmlns:a16="http://schemas.microsoft.com/office/drawing/2014/main" id="{1A44634B-B07F-D618-5ED4-B78A20176A41}"/>
                  </a:ext>
                </a:extLst>
              </p:cNvPr>
              <p:cNvSpPr/>
              <p:nvPr/>
            </p:nvSpPr>
            <p:spPr>
              <a:xfrm>
                <a:off x="594360" y="1613916"/>
                <a:ext cx="7955280" cy="7772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f>
                        <m:fPr>
                          <m:ctrlPr>
                            <a:rPr lang="en-US" altLang="ja-JP" sz="2000" b="1" i="1">
                              <a:solidFill>
                                <a:srgbClr val="996633"/>
                              </a:solidFill>
                              <a:latin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cs typeface="Consolas" pitchFamily="34" charset="-120"/>
                            </a:rPr>
                            <m:t>XP</m:t>
                          </m:r>
                        </m:num>
                        <m:den>
                          <m:r>
                            <m:rPr>
                              <m:sty m:val="p"/>
                            </m:rPr>
                            <a:rPr lang="en-US" altLang="ja-JP" sz="2000" b="1" i="1">
                              <a:solidFill>
                                <a:srgbClr val="996633"/>
                              </a:solidFill>
                              <a:latin typeface="Cambria Math" panose="02040503050406030204" pitchFamily="18" charset="0"/>
                              <a:cs typeface="Consolas" pitchFamily="34" charset="-120"/>
                            </a:rPr>
                            <m:t>PZ</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QY</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RX</m:t>
                          </m:r>
                        </m:den>
                      </m:f>
                      <m:r>
                        <a:rPr lang="en-US" altLang="ja-JP" sz="2000" b="1" i="1">
                          <a:solidFill>
                            <a:srgbClr val="996633"/>
                          </a:solidFill>
                          <a:latin typeface="Cambria Math" panose="02040503050406030204" pitchFamily="18" charset="0"/>
                          <a:ea typeface="Cambria Math" panose="02040503050406030204" pitchFamily="18" charset="0"/>
                          <a:cs typeface="Consolas" pitchFamily="34" charset="-120"/>
                        </a:rPr>
                        <m:t>=</m:t>
                      </m:r>
                    </m:oMath>
                  </m:oMathPara>
                </a14:m>
                <a:endParaRPr lang="en-US" altLang="ja-JP" sz="2000" dirty="0">
                  <a:solidFill>
                    <a:schemeClr val="accent2"/>
                  </a:solidFill>
                </a:endParaRPr>
              </a:p>
            </p:txBody>
          </p:sp>
        </mc:Choice>
        <mc:Fallback>
          <p:sp>
            <p:nvSpPr>
              <p:cNvPr id="10" name="Text 8">
                <a:extLst>
                  <a:ext uri="{FF2B5EF4-FFF2-40B4-BE49-F238E27FC236}">
                    <a16:creationId xmlns:a16="http://schemas.microsoft.com/office/drawing/2014/main" id="{1A44634B-B07F-D618-5ED4-B78A20176A41}"/>
                  </a:ext>
                </a:extLst>
              </p:cNvPr>
              <p:cNvSpPr>
                <a:spLocks noRot="1" noChangeAspect="1" noMove="1" noResize="1" noEditPoints="1" noAdjustHandles="1" noChangeArrowheads="1" noChangeShapeType="1" noTextEdit="1"/>
              </p:cNvSpPr>
              <p:nvPr/>
            </p:nvSpPr>
            <p:spPr>
              <a:xfrm>
                <a:off x="594360" y="1613916"/>
                <a:ext cx="7955280" cy="777240"/>
              </a:xfrm>
              <a:prstGeom prst="rect">
                <a:avLst/>
              </a:prstGeom>
              <a:blipFill>
                <a:blip r:embed="rId4"/>
                <a:stretch>
                  <a:fillRect b="-3226"/>
                </a:stretch>
              </a:blipFill>
              <a:ln/>
            </p:spPr>
            <p:txBody>
              <a:bodyPr/>
              <a:lstStyle/>
              <a:p>
                <a:r>
                  <a:rPr lang="ja-JP" altLang="en-US">
                    <a:noFill/>
                  </a:rPr>
                  <a:t> </a:t>
                </a:r>
              </a:p>
            </p:txBody>
          </p:sp>
        </mc:Fallback>
      </mc:AlternateContent>
      <p:sp>
        <p:nvSpPr>
          <p:cNvPr id="11" name="Shape 9">
            <a:extLst>
              <a:ext uri="{FF2B5EF4-FFF2-40B4-BE49-F238E27FC236}">
                <a16:creationId xmlns:a16="http://schemas.microsoft.com/office/drawing/2014/main" id="{571E611D-DAFF-7B7A-0A50-1BB773F9E7A1}"/>
              </a:ext>
            </a:extLst>
          </p:cNvPr>
          <p:cNvSpPr/>
          <p:nvPr/>
        </p:nvSpPr>
        <p:spPr>
          <a:xfrm>
            <a:off x="457200" y="2562909"/>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2" name="Shape 10">
            <a:extLst>
              <a:ext uri="{FF2B5EF4-FFF2-40B4-BE49-F238E27FC236}">
                <a16:creationId xmlns:a16="http://schemas.microsoft.com/office/drawing/2014/main" id="{44000E6D-BB7A-28E5-ECDE-1968C765ED5C}"/>
              </a:ext>
            </a:extLst>
          </p:cNvPr>
          <p:cNvSpPr/>
          <p:nvPr/>
        </p:nvSpPr>
        <p:spPr>
          <a:xfrm>
            <a:off x="457200" y="2562909"/>
            <a:ext cx="2606040" cy="54864"/>
          </a:xfrm>
          <a:prstGeom prst="rect">
            <a:avLst/>
          </a:prstGeom>
          <a:solidFill>
            <a:schemeClr val="accent2"/>
          </a:solidFill>
          <a:ln/>
        </p:spPr>
        <p:txBody>
          <a:bodyPr/>
          <a:lstStyle/>
          <a:p>
            <a:endParaRPr lang="ja-JP" altLang="en-US"/>
          </a:p>
        </p:txBody>
      </p:sp>
      <p:sp>
        <p:nvSpPr>
          <p:cNvPr id="13" name="Text 11">
            <a:extLst>
              <a:ext uri="{FF2B5EF4-FFF2-40B4-BE49-F238E27FC236}">
                <a16:creationId xmlns:a16="http://schemas.microsoft.com/office/drawing/2014/main" id="{00DE416B-2F4E-C51A-2B8D-C18F6243F99F}"/>
              </a:ext>
            </a:extLst>
          </p:cNvPr>
          <p:cNvSpPr/>
          <p:nvPr/>
        </p:nvSpPr>
        <p:spPr>
          <a:xfrm>
            <a:off x="594360" y="2672637"/>
            <a:ext cx="2377440" cy="274320"/>
          </a:xfrm>
          <a:prstGeom prst="rect">
            <a:avLst/>
          </a:prstGeom>
          <a:noFill/>
          <a:ln/>
        </p:spPr>
        <p:txBody>
          <a:bodyPr wrap="square" lIns="0" tIns="0" rIns="0" bIns="0" rtlCol="0" anchor="ctr"/>
          <a:lstStyle/>
          <a:p>
            <a:pPr marL="0" indent="0">
              <a:buNone/>
            </a:pPr>
            <a:r>
              <a:rPr lang="en-US" sz="1100" b="1" dirty="0" err="1">
                <a:solidFill>
                  <a:schemeClr val="accent2"/>
                </a:solidFill>
                <a:latin typeface="Yu Gothic" pitchFamily="34" charset="0"/>
                <a:ea typeface="Yu Gothic" pitchFamily="34" charset="-122"/>
                <a:cs typeface="Yu Gothic" pitchFamily="34" charset="-120"/>
              </a:rPr>
              <a:t>直線DEP</a:t>
            </a:r>
            <a:r>
              <a:rPr lang="en-US" sz="1100" b="1" dirty="0">
                <a:solidFill>
                  <a:schemeClr val="accent2"/>
                </a:solidFill>
                <a:latin typeface="Yu Gothic" pitchFamily="34" charset="0"/>
                <a:ea typeface="Yu Gothic" pitchFamily="34" charset="-122"/>
                <a:cs typeface="Yu Gothic" pitchFamily="34" charset="-120"/>
              </a:rPr>
              <a:t> のカタマリ</a:t>
            </a:r>
            <a:endParaRPr lang="en-US" sz="1100" dirty="0">
              <a:solidFill>
                <a:schemeClr val="accent2"/>
              </a:solidFill>
            </a:endParaRPr>
          </a:p>
        </p:txBody>
      </p:sp>
      <mc:AlternateContent xmlns:mc="http://schemas.openxmlformats.org/markup-compatibility/2006">
        <mc:Choice xmlns:a14="http://schemas.microsoft.com/office/drawing/2010/main" Requires="a14">
          <p:sp>
            <p:nvSpPr>
              <p:cNvPr id="14" name="Text 12">
                <a:extLst>
                  <a:ext uri="{FF2B5EF4-FFF2-40B4-BE49-F238E27FC236}">
                    <a16:creationId xmlns:a16="http://schemas.microsoft.com/office/drawing/2014/main" id="{771F5FEB-8DCE-F4F6-B4B8-37838995055D}"/>
                  </a:ext>
                </a:extLst>
              </p:cNvPr>
              <p:cNvSpPr/>
              <p:nvPr/>
            </p:nvSpPr>
            <p:spPr>
              <a:xfrm>
                <a:off x="594360" y="2974389"/>
                <a:ext cx="2377440" cy="50292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f>
                        <m:fPr>
                          <m:ctrlPr>
                            <a:rPr lang="en-US" altLang="ja-JP" sz="1600" i="1" smtClean="0">
                              <a:solidFill>
                                <a:schemeClr val="accent2"/>
                              </a:solidFill>
                              <a:latin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cs typeface="Consolas" pitchFamily="34" charset="-120"/>
                            </a:rPr>
                            <m:t>XP</m:t>
                          </m:r>
                        </m:num>
                        <m:den>
                          <m:r>
                            <m:rPr>
                              <m:sty m:val="p"/>
                            </m:rPr>
                            <a:rPr lang="en-US" altLang="ja-JP" sz="1600" i="1">
                              <a:solidFill>
                                <a:schemeClr val="accent2"/>
                              </a:solidFill>
                              <a:latin typeface="Cambria Math" panose="02040503050406030204" pitchFamily="18" charset="0"/>
                              <a:cs typeface="Consolas" pitchFamily="34" charset="-120"/>
                            </a:rPr>
                            <m:t>PZ</m:t>
                          </m:r>
                        </m:den>
                      </m:f>
                      <m:r>
                        <a:rPr lang="en-US" altLang="ja-JP" sz="1600" i="1">
                          <a:solidFill>
                            <a:schemeClr val="accent2"/>
                          </a:solidFill>
                          <a:latin typeface="Cambria Math" panose="02040503050406030204" pitchFamily="18" charset="0"/>
                          <a:cs typeface="Consolas" pitchFamily="34" charset="-120"/>
                        </a:rPr>
                        <m:t>=</m:t>
                      </m:r>
                      <m:f>
                        <m:fPr>
                          <m:ctrl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ZE</m:t>
                          </m:r>
                        </m:den>
                      </m:f>
                      <m: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sz="1600" i="1">
                              <a:solidFill>
                                <a:schemeClr val="accent2"/>
                              </a:solidFill>
                              <a:latin typeface="Cambria Math" panose="02040503050406030204" pitchFamily="18" charset="0"/>
                              <a:ea typeface="Cambria Math" panose="02040503050406030204" pitchFamily="18" charset="0"/>
                              <a:cs typeface="Consolas" pitchFamily="34" charset="-120"/>
                            </a:rPr>
                            <m:t>YD</m:t>
                          </m:r>
                        </m:den>
                      </m:f>
                    </m:oMath>
                  </m:oMathPara>
                </a14:m>
                <a:endParaRPr lang="en-US" altLang="ja-JP" sz="1600" dirty="0">
                  <a:solidFill>
                    <a:schemeClr val="accent2"/>
                  </a:solidFill>
                </a:endParaRPr>
              </a:p>
            </p:txBody>
          </p:sp>
        </mc:Choice>
        <mc:Fallback>
          <p:sp>
            <p:nvSpPr>
              <p:cNvPr id="14" name="Text 12">
                <a:extLst>
                  <a:ext uri="{FF2B5EF4-FFF2-40B4-BE49-F238E27FC236}">
                    <a16:creationId xmlns:a16="http://schemas.microsoft.com/office/drawing/2014/main" id="{771F5FEB-8DCE-F4F6-B4B8-37838995055D}"/>
                  </a:ext>
                </a:extLst>
              </p:cNvPr>
              <p:cNvSpPr>
                <a:spLocks noRot="1" noChangeAspect="1" noMove="1" noResize="1" noEditPoints="1" noAdjustHandles="1" noChangeArrowheads="1" noChangeShapeType="1" noTextEdit="1"/>
              </p:cNvSpPr>
              <p:nvPr/>
            </p:nvSpPr>
            <p:spPr>
              <a:xfrm>
                <a:off x="594360" y="2974389"/>
                <a:ext cx="2377440" cy="502920"/>
              </a:xfrm>
              <a:prstGeom prst="rect">
                <a:avLst/>
              </a:prstGeom>
              <a:blipFill>
                <a:blip r:embed="rId5"/>
                <a:stretch>
                  <a:fillRect b="-7500"/>
                </a:stretch>
              </a:blipFill>
              <a:ln/>
            </p:spPr>
            <p:txBody>
              <a:bodyPr/>
              <a:lstStyle/>
              <a:p>
                <a:r>
                  <a:rPr lang="ja-JP" altLang="en-US">
                    <a:noFill/>
                  </a:rPr>
                  <a:t> </a:t>
                </a:r>
              </a:p>
            </p:txBody>
          </p:sp>
        </mc:Fallback>
      </mc:AlternateContent>
      <p:sp>
        <p:nvSpPr>
          <p:cNvPr id="15" name="Shape 13">
            <a:extLst>
              <a:ext uri="{FF2B5EF4-FFF2-40B4-BE49-F238E27FC236}">
                <a16:creationId xmlns:a16="http://schemas.microsoft.com/office/drawing/2014/main" id="{3A1D8DDD-AE6D-F2E7-BFE9-9EEB4187C3C9}"/>
              </a:ext>
            </a:extLst>
          </p:cNvPr>
          <p:cNvSpPr/>
          <p:nvPr/>
        </p:nvSpPr>
        <p:spPr>
          <a:xfrm>
            <a:off x="3246120" y="2562909"/>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6" name="Shape 14">
            <a:extLst>
              <a:ext uri="{FF2B5EF4-FFF2-40B4-BE49-F238E27FC236}">
                <a16:creationId xmlns:a16="http://schemas.microsoft.com/office/drawing/2014/main" id="{1DAC133B-A8CF-407E-A081-437F16C2928C}"/>
              </a:ext>
            </a:extLst>
          </p:cNvPr>
          <p:cNvSpPr/>
          <p:nvPr/>
        </p:nvSpPr>
        <p:spPr>
          <a:xfrm>
            <a:off x="3246120" y="2562909"/>
            <a:ext cx="2606040" cy="54864"/>
          </a:xfrm>
          <a:prstGeom prst="rect">
            <a:avLst/>
          </a:prstGeom>
          <a:solidFill>
            <a:srgbClr val="336699"/>
          </a:solidFill>
          <a:ln/>
        </p:spPr>
        <p:txBody>
          <a:bodyPr/>
          <a:lstStyle/>
          <a:p>
            <a:endParaRPr lang="ja-JP" altLang="en-US"/>
          </a:p>
        </p:txBody>
      </p:sp>
      <p:sp>
        <p:nvSpPr>
          <p:cNvPr id="17" name="Text 15">
            <a:extLst>
              <a:ext uri="{FF2B5EF4-FFF2-40B4-BE49-F238E27FC236}">
                <a16:creationId xmlns:a16="http://schemas.microsoft.com/office/drawing/2014/main" id="{20C065E3-B789-3D5B-8555-01547922E594}"/>
              </a:ext>
            </a:extLst>
          </p:cNvPr>
          <p:cNvSpPr/>
          <p:nvPr/>
        </p:nvSpPr>
        <p:spPr>
          <a:xfrm>
            <a:off x="3383280" y="2672637"/>
            <a:ext cx="2377440" cy="274320"/>
          </a:xfrm>
          <a:prstGeom prst="rect">
            <a:avLst/>
          </a:prstGeom>
          <a:noFill/>
          <a:ln/>
        </p:spPr>
        <p:txBody>
          <a:bodyPr wrap="square" lIns="0" tIns="0" rIns="0" bIns="0" rtlCol="0" anchor="ctr"/>
          <a:lstStyle/>
          <a:p>
            <a:r>
              <a:rPr lang="en-US" altLang="ja-JP" sz="1100" b="1" dirty="0" err="1">
                <a:solidFill>
                  <a:schemeClr val="accent1"/>
                </a:solidFill>
                <a:latin typeface="Yu Gothic" pitchFamily="34" charset="0"/>
                <a:ea typeface="Yu Gothic" pitchFamily="34" charset="-122"/>
                <a:cs typeface="Yu Gothic" pitchFamily="34" charset="-120"/>
              </a:rPr>
              <a:t>直線BCQ</a:t>
            </a:r>
            <a:r>
              <a:rPr lang="en-US" altLang="ja-JP" sz="1100" b="1" dirty="0">
                <a:solidFill>
                  <a:schemeClr val="accent1"/>
                </a:solidFill>
                <a:latin typeface="Yu Gothic" pitchFamily="34" charset="0"/>
                <a:ea typeface="Yu Gothic" pitchFamily="34" charset="-122"/>
                <a:cs typeface="Yu Gothic" pitchFamily="34" charset="-120"/>
              </a:rPr>
              <a:t> </a:t>
            </a:r>
            <a:r>
              <a:rPr lang="en-US" altLang="ja-JP" sz="1100" b="1" dirty="0" err="1">
                <a:solidFill>
                  <a:schemeClr val="accent1"/>
                </a:solidFill>
                <a:latin typeface="Yu Gothic" pitchFamily="34" charset="0"/>
                <a:ea typeface="Yu Gothic" pitchFamily="34" charset="-122"/>
                <a:cs typeface="Yu Gothic" pitchFamily="34" charset="-120"/>
              </a:rPr>
              <a:t>のカタマリ</a:t>
            </a:r>
            <a:endParaRPr lang="en-US" altLang="ja-JP" sz="1100" dirty="0">
              <a:solidFill>
                <a:schemeClr val="accent1"/>
              </a:solidFill>
            </a:endParaRPr>
          </a:p>
        </p:txBody>
      </p:sp>
      <mc:AlternateContent xmlns:mc="http://schemas.openxmlformats.org/markup-compatibility/2006">
        <mc:Choice xmlns:a14="http://schemas.microsoft.com/office/drawing/2010/main" Requires="a14">
          <p:sp>
            <p:nvSpPr>
              <p:cNvPr id="18" name="Text 16">
                <a:extLst>
                  <a:ext uri="{FF2B5EF4-FFF2-40B4-BE49-F238E27FC236}">
                    <a16:creationId xmlns:a16="http://schemas.microsoft.com/office/drawing/2014/main" id="{FBD7663C-2F27-7C00-6B4F-360B4EA03554}"/>
                  </a:ext>
                </a:extLst>
              </p:cNvPr>
              <p:cNvSpPr/>
              <p:nvPr/>
            </p:nvSpPr>
            <p:spPr>
              <a:xfrm>
                <a:off x="3383280" y="2974389"/>
                <a:ext cx="2377440" cy="502920"/>
              </a:xfrm>
              <a:prstGeom prst="rect">
                <a:avLst/>
              </a:prstGeom>
              <a:noFill/>
              <a:ln/>
            </p:spPr>
            <p:txBody>
              <a:bodyPr wrap="square" lIns="0" tIns="0" rIns="0" bIns="0" rtlCol="0" anchor="ctr"/>
              <a:lstStyle/>
              <a:p>
                <a:pPr/>
                <a14:m>
                  <m:oMathPara xmlns:m="http://schemas.openxmlformats.org/officeDocument/2006/math">
                    <m:oMathParaPr>
                      <m:jc m:val="center"/>
                    </m:oMathParaPr>
                    <m:oMath xmlns:m="http://schemas.openxmlformats.org/officeDocument/2006/math">
                      <m:f>
                        <m:fPr>
                          <m:ctrlPr>
                            <a:rPr lang="en-US" altLang="ja-JP" sz="1600" i="1">
                              <a:solidFill>
                                <a:schemeClr val="accent1"/>
                              </a:solidFill>
                              <a:latin typeface="Cambria Math" panose="02040503050406030204" pitchFamily="18" charset="0"/>
                              <a:cs typeface="Consolas" pitchFamily="34" charset="-120"/>
                            </a:rPr>
                          </m:ctrlPr>
                        </m:fPr>
                        <m:num>
                          <m:r>
                            <m:rPr>
                              <m:sty m:val="p"/>
                            </m:rPr>
                            <a:rPr lang="en-US" altLang="ja-JP" sz="1600" i="1">
                              <a:solidFill>
                                <a:schemeClr val="accent1"/>
                              </a:solidFill>
                              <a:latin typeface="Cambria Math" panose="02040503050406030204" pitchFamily="18" charset="0"/>
                              <a:cs typeface="Consolas" pitchFamily="34" charset="-120"/>
                            </a:rPr>
                            <m:t>ZQ</m:t>
                          </m:r>
                        </m:num>
                        <m:den>
                          <m:r>
                            <m:rPr>
                              <m:sty m:val="p"/>
                            </m:rPr>
                            <a:rPr lang="en-US" altLang="ja-JP" sz="1600" i="1">
                              <a:solidFill>
                                <a:schemeClr val="accent1"/>
                              </a:solidFill>
                              <a:latin typeface="Cambria Math" panose="02040503050406030204" pitchFamily="18" charset="0"/>
                              <a:cs typeface="Consolas" pitchFamily="34" charset="-120"/>
                            </a:rPr>
                            <m:t>QY</m:t>
                          </m:r>
                        </m:den>
                      </m:f>
                      <m:r>
                        <a:rPr lang="en-US" altLang="ja-JP" sz="1600" i="1">
                          <a:solidFill>
                            <a:schemeClr val="accent1"/>
                          </a:solidFill>
                          <a:latin typeface="Cambria Math" panose="02040503050406030204" pitchFamily="18" charset="0"/>
                          <a:cs typeface="Consolas" pitchFamily="34" charset="-120"/>
                        </a:rPr>
                        <m:t>=</m:t>
                      </m:r>
                      <m:f>
                        <m:fPr>
                          <m:ctrl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sz="1600" i="1">
                              <a:solidFill>
                                <a:schemeClr val="accent1"/>
                              </a:solidFill>
                              <a:latin typeface="Cambria Math" panose="02040503050406030204" pitchFamily="18" charset="0"/>
                              <a:ea typeface="Cambria Math" panose="02040503050406030204" pitchFamily="18" charset="0"/>
                              <a:cs typeface="Consolas" pitchFamily="34" charset="-120"/>
                            </a:rPr>
                            <m:t>XB</m:t>
                          </m:r>
                        </m:den>
                      </m:f>
                    </m:oMath>
                  </m:oMathPara>
                </a14:m>
                <a:endParaRPr lang="en-US" altLang="ja-JP" sz="1600" dirty="0">
                  <a:solidFill>
                    <a:schemeClr val="accent1"/>
                  </a:solidFill>
                </a:endParaRPr>
              </a:p>
            </p:txBody>
          </p:sp>
        </mc:Choice>
        <mc:Fallback>
          <p:sp>
            <p:nvSpPr>
              <p:cNvPr id="18" name="Text 16">
                <a:extLst>
                  <a:ext uri="{FF2B5EF4-FFF2-40B4-BE49-F238E27FC236}">
                    <a16:creationId xmlns:a16="http://schemas.microsoft.com/office/drawing/2014/main" id="{FBD7663C-2F27-7C00-6B4F-360B4EA03554}"/>
                  </a:ext>
                </a:extLst>
              </p:cNvPr>
              <p:cNvSpPr>
                <a:spLocks noRot="1" noChangeAspect="1" noMove="1" noResize="1" noEditPoints="1" noAdjustHandles="1" noChangeArrowheads="1" noChangeShapeType="1" noTextEdit="1"/>
              </p:cNvSpPr>
              <p:nvPr/>
            </p:nvSpPr>
            <p:spPr>
              <a:xfrm>
                <a:off x="3383280" y="2974389"/>
                <a:ext cx="2377440" cy="502920"/>
              </a:xfrm>
              <a:prstGeom prst="rect">
                <a:avLst/>
              </a:prstGeom>
              <a:blipFill>
                <a:blip r:embed="rId6"/>
                <a:stretch>
                  <a:fillRect t="-5000" b="-15000"/>
                </a:stretch>
              </a:blipFill>
              <a:ln/>
            </p:spPr>
            <p:txBody>
              <a:bodyPr/>
              <a:lstStyle/>
              <a:p>
                <a:r>
                  <a:rPr lang="ja-JP" altLang="en-US">
                    <a:noFill/>
                  </a:rPr>
                  <a:t> </a:t>
                </a:r>
              </a:p>
            </p:txBody>
          </p:sp>
        </mc:Fallback>
      </mc:AlternateContent>
      <p:sp>
        <p:nvSpPr>
          <p:cNvPr id="19" name="Shape 17">
            <a:extLst>
              <a:ext uri="{FF2B5EF4-FFF2-40B4-BE49-F238E27FC236}">
                <a16:creationId xmlns:a16="http://schemas.microsoft.com/office/drawing/2014/main" id="{B6C7A853-3431-4B68-DC38-08783D070E24}"/>
              </a:ext>
            </a:extLst>
          </p:cNvPr>
          <p:cNvSpPr/>
          <p:nvPr/>
        </p:nvSpPr>
        <p:spPr>
          <a:xfrm>
            <a:off x="6035040" y="2562909"/>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20" name="Shape 18">
            <a:extLst>
              <a:ext uri="{FF2B5EF4-FFF2-40B4-BE49-F238E27FC236}">
                <a16:creationId xmlns:a16="http://schemas.microsoft.com/office/drawing/2014/main" id="{9ABCDF12-6BE6-A0B3-FE9B-3E72B648879E}"/>
              </a:ext>
            </a:extLst>
          </p:cNvPr>
          <p:cNvSpPr/>
          <p:nvPr/>
        </p:nvSpPr>
        <p:spPr>
          <a:xfrm>
            <a:off x="6035040" y="2562909"/>
            <a:ext cx="2606040" cy="54864"/>
          </a:xfrm>
          <a:prstGeom prst="rect">
            <a:avLst/>
          </a:prstGeom>
          <a:solidFill>
            <a:srgbClr val="339933"/>
          </a:solidFill>
          <a:ln/>
        </p:spPr>
        <p:txBody>
          <a:bodyPr/>
          <a:lstStyle/>
          <a:p>
            <a:endParaRPr lang="ja-JP" altLang="en-US"/>
          </a:p>
        </p:txBody>
      </p:sp>
      <p:sp>
        <p:nvSpPr>
          <p:cNvPr id="21" name="Text 19">
            <a:extLst>
              <a:ext uri="{FF2B5EF4-FFF2-40B4-BE49-F238E27FC236}">
                <a16:creationId xmlns:a16="http://schemas.microsoft.com/office/drawing/2014/main" id="{6533767A-2CAA-335D-65AD-8D1CC0BE3BE1}"/>
              </a:ext>
            </a:extLst>
          </p:cNvPr>
          <p:cNvSpPr/>
          <p:nvPr/>
        </p:nvSpPr>
        <p:spPr>
          <a:xfrm>
            <a:off x="6172200" y="2672637"/>
            <a:ext cx="2377440" cy="274320"/>
          </a:xfrm>
          <a:prstGeom prst="rect">
            <a:avLst/>
          </a:prstGeom>
          <a:noFill/>
          <a:ln/>
        </p:spPr>
        <p:txBody>
          <a:bodyPr wrap="square" lIns="0" tIns="0" rIns="0" bIns="0" rtlCol="0" anchor="ctr"/>
          <a:lstStyle/>
          <a:p>
            <a:pPr marL="0" indent="0">
              <a:buNone/>
            </a:pPr>
            <a:r>
              <a:rPr lang="en-US" sz="1100" b="1" dirty="0" err="1">
                <a:solidFill>
                  <a:srgbClr val="339933"/>
                </a:solidFill>
                <a:latin typeface="Yu Gothic" pitchFamily="34" charset="0"/>
                <a:ea typeface="Yu Gothic" pitchFamily="34" charset="-122"/>
                <a:cs typeface="Yu Gothic" pitchFamily="34" charset="-120"/>
              </a:rPr>
              <a:t>直線FARのカタマリ</a:t>
            </a:r>
            <a:endParaRPr lang="en-US" sz="1100" dirty="0"/>
          </a:p>
        </p:txBody>
      </p:sp>
      <mc:AlternateContent xmlns:mc="http://schemas.openxmlformats.org/markup-compatibility/2006">
        <mc:Choice xmlns:a14="http://schemas.microsoft.com/office/drawing/2010/main" Requires="a14">
          <p:sp>
            <p:nvSpPr>
              <p:cNvPr id="22" name="Text 20">
                <a:extLst>
                  <a:ext uri="{FF2B5EF4-FFF2-40B4-BE49-F238E27FC236}">
                    <a16:creationId xmlns:a16="http://schemas.microsoft.com/office/drawing/2014/main" id="{AA25358B-5DD0-3BBC-70E8-2F59F4D43CF2}"/>
                  </a:ext>
                </a:extLst>
              </p:cNvPr>
              <p:cNvSpPr/>
              <p:nvPr/>
            </p:nvSpPr>
            <p:spPr>
              <a:xfrm>
                <a:off x="6172200" y="2974389"/>
                <a:ext cx="2377440" cy="50292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f>
                        <m:fPr>
                          <m:ctrlPr>
                            <a:rPr lang="en-US" altLang="ja-JP" sz="1600" i="1">
                              <a:solidFill>
                                <a:schemeClr val="accent6"/>
                              </a:solidFill>
                              <a:latin typeface="Cambria Math" panose="02040503050406030204" pitchFamily="18" charset="0"/>
                              <a:cs typeface="Consolas" pitchFamily="34" charset="-120"/>
                            </a:rPr>
                          </m:ctrlPr>
                        </m:fPr>
                        <m:num>
                          <m:r>
                            <m:rPr>
                              <m:sty m:val="p"/>
                            </m:rPr>
                            <a:rPr lang="en-US" altLang="ja-JP" sz="1600" i="1">
                              <a:solidFill>
                                <a:schemeClr val="accent6"/>
                              </a:solidFill>
                              <a:latin typeface="Cambria Math" panose="02040503050406030204" pitchFamily="18" charset="0"/>
                              <a:cs typeface="Consolas" pitchFamily="34" charset="-120"/>
                            </a:rPr>
                            <m:t>YR</m:t>
                          </m:r>
                        </m:num>
                        <m:den>
                          <m:r>
                            <m:rPr>
                              <m:sty m:val="p"/>
                            </m:rPr>
                            <a:rPr lang="en-US" altLang="ja-JP" sz="1600" i="1">
                              <a:solidFill>
                                <a:schemeClr val="accent6"/>
                              </a:solidFill>
                              <a:latin typeface="Cambria Math" panose="02040503050406030204" pitchFamily="18" charset="0"/>
                              <a:cs typeface="Consolas" pitchFamily="34" charset="-120"/>
                            </a:rPr>
                            <m:t>RX</m:t>
                          </m:r>
                        </m:den>
                      </m:f>
                      <m:r>
                        <a:rPr lang="en-US" altLang="ja-JP" sz="1600" i="1">
                          <a:solidFill>
                            <a:schemeClr val="accent6"/>
                          </a:solidFill>
                          <a:latin typeface="Cambria Math" panose="02040503050406030204" pitchFamily="18" charset="0"/>
                          <a:cs typeface="Consolas" pitchFamily="34" charset="-120"/>
                        </a:rPr>
                        <m:t>=</m:t>
                      </m:r>
                      <m:f>
                        <m:fPr>
                          <m:ctrl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XA</m:t>
                          </m:r>
                        </m:den>
                      </m:f>
                      <m: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sz="1600" i="1">
                              <a:solidFill>
                                <a:schemeClr val="accent6"/>
                              </a:solidFill>
                              <a:latin typeface="Cambria Math" panose="02040503050406030204" pitchFamily="18" charset="0"/>
                              <a:ea typeface="Cambria Math" panose="02040503050406030204" pitchFamily="18" charset="0"/>
                              <a:cs typeface="Consolas" pitchFamily="34" charset="-120"/>
                            </a:rPr>
                            <m:t>ZF</m:t>
                          </m:r>
                        </m:den>
                      </m:f>
                    </m:oMath>
                  </m:oMathPara>
                </a14:m>
                <a:endParaRPr lang="en-US" altLang="ja-JP" sz="1600" dirty="0">
                  <a:solidFill>
                    <a:schemeClr val="accent6"/>
                  </a:solidFill>
                </a:endParaRPr>
              </a:p>
            </p:txBody>
          </p:sp>
        </mc:Choice>
        <mc:Fallback>
          <p:sp>
            <p:nvSpPr>
              <p:cNvPr id="22" name="Text 20">
                <a:extLst>
                  <a:ext uri="{FF2B5EF4-FFF2-40B4-BE49-F238E27FC236}">
                    <a16:creationId xmlns:a16="http://schemas.microsoft.com/office/drawing/2014/main" id="{AA25358B-5DD0-3BBC-70E8-2F59F4D43CF2}"/>
                  </a:ext>
                </a:extLst>
              </p:cNvPr>
              <p:cNvSpPr>
                <a:spLocks noRot="1" noChangeAspect="1" noMove="1" noResize="1" noEditPoints="1" noAdjustHandles="1" noChangeArrowheads="1" noChangeShapeType="1" noTextEdit="1"/>
              </p:cNvSpPr>
              <p:nvPr/>
            </p:nvSpPr>
            <p:spPr>
              <a:xfrm>
                <a:off x="6172200" y="2974389"/>
                <a:ext cx="2377440" cy="502920"/>
              </a:xfrm>
              <a:prstGeom prst="rect">
                <a:avLst/>
              </a:prstGeom>
              <a:blipFill>
                <a:blip r:embed="rId7"/>
                <a:stretch>
                  <a:fillRect b="-7500"/>
                </a:stretch>
              </a:blipFill>
              <a:ln/>
            </p:spPr>
            <p:txBody>
              <a:bodyPr/>
              <a:lstStyle/>
              <a:p>
                <a:r>
                  <a:rPr lang="ja-JP" altLang="en-US">
                    <a:noFill/>
                  </a:rPr>
                  <a:t> </a:t>
                </a:r>
              </a:p>
            </p:txBody>
          </p:sp>
        </mc:Fallback>
      </mc:AlternateContent>
      <p:sp>
        <p:nvSpPr>
          <p:cNvPr id="23" name="Text 21">
            <a:extLst>
              <a:ext uri="{FF2B5EF4-FFF2-40B4-BE49-F238E27FC236}">
                <a16:creationId xmlns:a16="http://schemas.microsoft.com/office/drawing/2014/main" id="{AAF888BC-7CB6-E567-9074-3979B40FAAAE}"/>
              </a:ext>
            </a:extLst>
          </p:cNvPr>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4" name="Text 22">
            <a:extLst>
              <a:ext uri="{FF2B5EF4-FFF2-40B4-BE49-F238E27FC236}">
                <a16:creationId xmlns:a16="http://schemas.microsoft.com/office/drawing/2014/main" id="{C5930620-A6CC-2565-605B-29B93B69325B}"/>
              </a:ext>
            </a:extLst>
          </p:cNvPr>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10</a:t>
            </a:r>
            <a:endParaRPr lang="en-US" sz="1000" dirty="0"/>
          </a:p>
        </p:txBody>
      </p:sp>
    </p:spTree>
    <p:extLst>
      <p:ext uri="{BB962C8B-B14F-4D97-AF65-F5344CB8AC3E}">
        <p14:creationId xmlns:p14="http://schemas.microsoft.com/office/powerpoint/2010/main" val="162130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966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996633"/>
                </a:solidFill>
                <a:latin typeface="Yu Gothic" pitchFamily="34" charset="0"/>
                <a:ea typeface="Yu Gothic" pitchFamily="34" charset="-122"/>
                <a:cs typeface="Yu Gothic" pitchFamily="34" charset="-120"/>
              </a:rPr>
              <a:t>STEP 2 · COMBINE</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３式の積をとり，頂点ごとに整理する</a:t>
            </a:r>
            <a:endParaRPr lang="en-US" sz="3000" dirty="0"/>
          </a:p>
        </p:txBody>
      </p:sp>
      <p:sp>
        <p:nvSpPr>
          <p:cNvPr id="5" name="Text 3"/>
          <p:cNvSpPr/>
          <p:nvPr/>
        </p:nvSpPr>
        <p:spPr>
          <a:xfrm>
            <a:off x="457200" y="1280160"/>
            <a:ext cx="8229600" cy="320040"/>
          </a:xfrm>
          <a:prstGeom prst="rect">
            <a:avLst/>
          </a:prstGeom>
          <a:noFill/>
          <a:ln/>
        </p:spPr>
        <p:txBody>
          <a:bodyPr wrap="square" lIns="0" tIns="0" rIns="0" bIns="0" rtlCol="0" anchor="ctr"/>
          <a:lstStyle/>
          <a:p>
            <a:pPr marL="0" indent="0">
              <a:buNone/>
            </a:pPr>
            <a:r>
              <a:rPr lang="en-US" sz="1300" dirty="0" err="1">
                <a:solidFill>
                  <a:srgbClr val="333333"/>
                </a:solidFill>
                <a:latin typeface="Yu Gothic" pitchFamily="34" charset="0"/>
                <a:ea typeface="Yu Gothic" pitchFamily="34" charset="-122"/>
                <a:cs typeface="Yu Gothic" pitchFamily="34" charset="-120"/>
              </a:rPr>
              <a:t>先より</a:t>
            </a:r>
            <a:r>
              <a:rPr lang="en-US" sz="1300" dirty="0">
                <a:solidFill>
                  <a:srgbClr val="333333"/>
                </a:solidFill>
                <a:latin typeface="Yu Gothic" pitchFamily="34" charset="0"/>
                <a:ea typeface="Yu Gothic" pitchFamily="34" charset="-122"/>
                <a:cs typeface="Yu Gothic" pitchFamily="34" charset="-120"/>
              </a:rPr>
              <a:t>、</a:t>
            </a:r>
            <a:endParaRPr lang="en-US" sz="1300" dirty="0"/>
          </a:p>
        </p:txBody>
      </p:sp>
      <p:sp>
        <p:nvSpPr>
          <p:cNvPr id="6" name="Shape 4"/>
          <p:cNvSpPr/>
          <p:nvPr/>
        </p:nvSpPr>
        <p:spPr>
          <a:xfrm>
            <a:off x="457200" y="1645920"/>
            <a:ext cx="8229600" cy="685800"/>
          </a:xfrm>
          <a:prstGeom prst="rect">
            <a:avLst/>
          </a:prstGeom>
          <a:solidFill>
            <a:srgbClr val="FFFFFF"/>
          </a:solidFill>
          <a:ln w="9525">
            <a:solidFill>
              <a:srgbClr val="999999"/>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p:cNvSpPr/>
              <p:nvPr/>
            </p:nvSpPr>
            <p:spPr>
              <a:xfrm>
                <a:off x="594360" y="1645920"/>
                <a:ext cx="7955280" cy="6858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f>
                        <m:fPr>
                          <m:ctrlPr>
                            <a:rPr lang="en-US" altLang="ja-JP" b="1" i="1" smtClean="0">
                              <a:solidFill>
                                <a:schemeClr val="tx1">
                                  <a:lumMod val="75000"/>
                                  <a:lumOff val="25000"/>
                                </a:schemeClr>
                              </a:solidFill>
                              <a:latin typeface="Cambria Math" panose="02040503050406030204" pitchFamily="18" charset="0"/>
                              <a:cs typeface="Consolas" pitchFamily="34" charset="-120"/>
                            </a:rPr>
                          </m:ctrlPr>
                        </m:fPr>
                        <m:num>
                          <m:r>
                            <m:rPr>
                              <m:sty m:val="p"/>
                            </m:rPr>
                            <a:rPr lang="en-US" altLang="ja-JP" b="1" i="1">
                              <a:solidFill>
                                <a:schemeClr val="tx1">
                                  <a:lumMod val="75000"/>
                                  <a:lumOff val="25000"/>
                                </a:schemeClr>
                              </a:solidFill>
                              <a:latin typeface="Cambria Math" panose="02040503050406030204" pitchFamily="18" charset="0"/>
                              <a:cs typeface="Consolas" pitchFamily="34" charset="-120"/>
                            </a:rPr>
                            <m:t>XP</m:t>
                          </m:r>
                        </m:num>
                        <m:den>
                          <m:r>
                            <m:rPr>
                              <m:sty m:val="p"/>
                            </m:rPr>
                            <a:rPr lang="en-US" altLang="ja-JP" b="1" i="1">
                              <a:solidFill>
                                <a:schemeClr val="tx1">
                                  <a:lumMod val="75000"/>
                                  <a:lumOff val="25000"/>
                                </a:schemeClr>
                              </a:solidFill>
                              <a:latin typeface="Cambria Math" panose="02040503050406030204" pitchFamily="18" charset="0"/>
                              <a:cs typeface="Consolas" pitchFamily="34" charset="-120"/>
                            </a:rPr>
                            <m:t>PZ</m:t>
                          </m:r>
                        </m:den>
                      </m:f>
                      <m: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QY</m:t>
                          </m:r>
                        </m:den>
                      </m:f>
                      <m: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RX</m:t>
                          </m:r>
                        </m:den>
                      </m:f>
                      <m:r>
                        <a:rPr lang="en-US" altLang="ja-JP" b="1"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ZE</m:t>
                          </m:r>
                        </m:den>
                      </m:f>
                      <m: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YD</m:t>
                          </m:r>
                        </m:den>
                      </m:f>
                      <m: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YC</m:t>
                          </m:r>
                        </m:den>
                      </m:f>
                      <m: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XB</m:t>
                          </m:r>
                        </m:den>
                      </m:f>
                      <m: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XA</m:t>
                          </m:r>
                        </m:den>
                      </m:f>
                      <m: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i="1">
                              <a:solidFill>
                                <a:schemeClr val="tx1">
                                  <a:lumMod val="75000"/>
                                  <a:lumOff val="25000"/>
                                </a:schemeClr>
                              </a:solidFill>
                              <a:latin typeface="Cambria Math" panose="02040503050406030204" pitchFamily="18" charset="0"/>
                              <a:ea typeface="Cambria Math" panose="02040503050406030204" pitchFamily="18" charset="0"/>
                              <a:cs typeface="Consolas" pitchFamily="34" charset="-120"/>
                            </a:rPr>
                            <m:t>ZF</m:t>
                          </m:r>
                        </m:den>
                      </m:f>
                    </m:oMath>
                  </m:oMathPara>
                </a14:m>
                <a:endParaRPr lang="en-US" altLang="ja-JP" dirty="0">
                  <a:solidFill>
                    <a:schemeClr val="tx1">
                      <a:lumMod val="75000"/>
                      <a:lumOff val="25000"/>
                    </a:schemeClr>
                  </a:solidFill>
                </a:endParaRPr>
              </a:p>
            </p:txBody>
          </p:sp>
        </mc:Choice>
        <mc:Fallback>
          <p:sp>
            <p:nvSpPr>
              <p:cNvPr id="7" name="Text 5"/>
              <p:cNvSpPr>
                <a:spLocks noRot="1" noChangeAspect="1" noMove="1" noResize="1" noEditPoints="1" noAdjustHandles="1" noChangeArrowheads="1" noChangeShapeType="1" noTextEdit="1"/>
              </p:cNvSpPr>
              <p:nvPr/>
            </p:nvSpPr>
            <p:spPr>
              <a:xfrm>
                <a:off x="594360" y="1645920"/>
                <a:ext cx="7955280" cy="685800"/>
              </a:xfrm>
              <a:prstGeom prst="rect">
                <a:avLst/>
              </a:prstGeom>
              <a:blipFill>
                <a:blip r:embed="rId3"/>
                <a:stretch>
                  <a:fillRect b="-3636"/>
                </a:stretch>
              </a:blipFill>
              <a:ln/>
            </p:spPr>
            <p:txBody>
              <a:bodyPr/>
              <a:lstStyle/>
              <a:p>
                <a:r>
                  <a:rPr lang="ja-JP" altLang="en-US">
                    <a:noFill/>
                  </a:rPr>
                  <a:t> </a:t>
                </a:r>
              </a:p>
            </p:txBody>
          </p:sp>
        </mc:Fallback>
      </mc:AlternateContent>
      <p:sp>
        <p:nvSpPr>
          <p:cNvPr id="8" name="Text 6"/>
          <p:cNvSpPr/>
          <p:nvPr/>
        </p:nvSpPr>
        <p:spPr>
          <a:xfrm>
            <a:off x="457200" y="3575304"/>
            <a:ext cx="8229600" cy="32004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右辺の６つの分数を，頂点 X，Y，Z ごとの「カタマリ」に並び替えると：</a:t>
            </a:r>
            <a:endParaRPr lang="en-US" sz="1300" dirty="0"/>
          </a:p>
        </p:txBody>
      </p:sp>
      <p:sp>
        <p:nvSpPr>
          <p:cNvPr id="9" name="Shape 7"/>
          <p:cNvSpPr/>
          <p:nvPr/>
        </p:nvSpPr>
        <p:spPr>
          <a:xfrm>
            <a:off x="457200" y="3941064"/>
            <a:ext cx="8229600" cy="777240"/>
          </a:xfrm>
          <a:prstGeom prst="rect">
            <a:avLst/>
          </a:prstGeom>
          <a:solidFill>
            <a:srgbClr val="FFFFFF"/>
          </a:solidFill>
          <a:ln w="12700">
            <a:solidFill>
              <a:srgbClr val="996633"/>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10" name="Text 8"/>
              <p:cNvSpPr/>
              <p:nvPr/>
            </p:nvSpPr>
            <p:spPr>
              <a:xfrm>
                <a:off x="594360" y="3941064"/>
                <a:ext cx="7955280" cy="777240"/>
              </a:xfrm>
              <a:prstGeom prst="rect">
                <a:avLst/>
              </a:prstGeom>
              <a:noFill/>
              <a:ln/>
            </p:spPr>
            <p:txBody>
              <a:bodyPr wrap="square" lIns="0" tIns="0" rIns="0" bIns="0" rtlCol="0" anchor="ctr"/>
              <a:lstStyle/>
              <a:p>
                <a:pPr algn="ctr"/>
                <a14:m>
                  <m:oMath xmlns:m="http://schemas.openxmlformats.org/officeDocument/2006/math">
                    <m:f>
                      <m:fPr>
                        <m:ctrlPr>
                          <a:rPr lang="en-US" altLang="ja-JP" sz="2400" b="1" i="1">
                            <a:solidFill>
                              <a:srgbClr val="996633"/>
                            </a:solidFill>
                            <a:latin typeface="Cambria Math" panose="02040503050406030204" pitchFamily="18" charset="0"/>
                            <a:cs typeface="Consolas" pitchFamily="34" charset="-120"/>
                          </a:rPr>
                        </m:ctrlPr>
                      </m:fPr>
                      <m:num>
                        <m:r>
                          <m:rPr>
                            <m:sty m:val="p"/>
                          </m:rPr>
                          <a:rPr lang="en-US" altLang="ja-JP" sz="2400" b="1" i="1">
                            <a:solidFill>
                              <a:srgbClr val="996633"/>
                            </a:solidFill>
                            <a:latin typeface="Cambria Math" panose="02040503050406030204" pitchFamily="18" charset="0"/>
                            <a:cs typeface="Consolas" pitchFamily="34" charset="-120"/>
                          </a:rPr>
                          <m:t>XP</m:t>
                        </m:r>
                      </m:num>
                      <m:den>
                        <m:r>
                          <m:rPr>
                            <m:sty m:val="p"/>
                          </m:rPr>
                          <a:rPr lang="en-US" altLang="ja-JP" sz="2400" b="1" i="1">
                            <a:solidFill>
                              <a:srgbClr val="996633"/>
                            </a:solidFill>
                            <a:latin typeface="Cambria Math" panose="02040503050406030204" pitchFamily="18" charset="0"/>
                            <a:cs typeface="Consolas" pitchFamily="34" charset="-120"/>
                          </a:rPr>
                          <m:t>PZ</m:t>
                        </m:r>
                      </m:den>
                    </m:f>
                    <m: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QY</m:t>
                        </m:r>
                      </m:den>
                    </m:f>
                    <m: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RX</m:t>
                        </m:r>
                      </m:den>
                    </m:f>
                    <m:r>
                      <a:rPr lang="en-US" altLang="ja-JP" sz="2400" b="1" i="1">
                        <a:solidFill>
                          <a:srgbClr val="996633"/>
                        </a:solidFill>
                        <a:latin typeface="Cambria Math" panose="02040503050406030204" pitchFamily="18" charset="0"/>
                        <a:ea typeface="Cambria Math" panose="02040503050406030204" pitchFamily="18" charset="0"/>
                        <a:cs typeface="Consolas" pitchFamily="34" charset="-120"/>
                      </a:rPr>
                      <m:t>=</m:t>
                    </m:r>
                    <m:f>
                      <m:fPr>
                        <m:ctrlPr>
                          <a:rPr lang="en-US" altLang="ja-JP" sz="2400" i="1" smtClean="0">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sz="2400" b="0" i="1" smtClean="0">
                            <a:solidFill>
                              <a:schemeClr val="accent2"/>
                            </a:solidFill>
                            <a:latin typeface="Cambria Math" panose="02040503050406030204" pitchFamily="18" charset="0"/>
                            <a:ea typeface="Cambria Math" panose="02040503050406030204" pitchFamily="18" charset="0"/>
                            <a:cs typeface="Consolas" pitchFamily="34" charset="-120"/>
                          </a:rPr>
                          <m:t>XB</m:t>
                        </m:r>
                      </m:den>
                    </m:f>
                    <m:r>
                      <a:rPr lang="en-US" altLang="ja-JP" sz="24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4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2"/>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sz="2400" b="0" i="1" smtClean="0">
                            <a:solidFill>
                              <a:schemeClr val="accent2"/>
                            </a:solidFill>
                            <a:latin typeface="Cambria Math" panose="02040503050406030204" pitchFamily="18" charset="0"/>
                            <a:ea typeface="Cambria Math" panose="02040503050406030204" pitchFamily="18" charset="0"/>
                            <a:cs typeface="Consolas" pitchFamily="34" charset="-120"/>
                          </a:rPr>
                          <m:t>XA</m:t>
                        </m:r>
                      </m:den>
                    </m:f>
                    <m:r>
                      <a:rPr lang="en-US" altLang="ja-JP" sz="24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4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1"/>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sz="2400" b="0" i="1" smtClean="0">
                            <a:solidFill>
                              <a:schemeClr val="accent1"/>
                            </a:solidFill>
                            <a:latin typeface="Cambria Math" panose="02040503050406030204" pitchFamily="18" charset="0"/>
                            <a:ea typeface="Cambria Math" panose="02040503050406030204" pitchFamily="18" charset="0"/>
                            <a:cs typeface="Consolas" pitchFamily="34" charset="-120"/>
                          </a:rPr>
                          <m:t>YD</m:t>
                        </m:r>
                      </m:den>
                    </m:f>
                    <m:r>
                      <a:rPr lang="en-US" altLang="ja-JP" sz="24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24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1"/>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sz="2400" b="0" i="1" smtClean="0">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sz="24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24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6"/>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sz="2400" b="0" i="1" smtClean="0">
                            <a:solidFill>
                              <a:schemeClr val="accent6"/>
                            </a:solidFill>
                            <a:latin typeface="Cambria Math" panose="02040503050406030204" pitchFamily="18" charset="0"/>
                            <a:ea typeface="Cambria Math" panose="02040503050406030204" pitchFamily="18" charset="0"/>
                            <a:cs typeface="Consolas" pitchFamily="34" charset="-120"/>
                          </a:rPr>
                          <m:t>ZE</m:t>
                        </m:r>
                      </m:den>
                    </m:f>
                    <m:r>
                      <a:rPr lang="en-US" altLang="ja-JP" sz="2400"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sz="24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400" b="0" i="1" smtClean="0">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sz="2400" b="0" i="1" smtClean="0">
                            <a:solidFill>
                              <a:schemeClr val="accent6"/>
                            </a:solidFill>
                            <a:latin typeface="Cambria Math" panose="02040503050406030204" pitchFamily="18" charset="0"/>
                            <a:ea typeface="Cambria Math" panose="02040503050406030204" pitchFamily="18" charset="0"/>
                            <a:cs typeface="Consolas" pitchFamily="34" charset="-120"/>
                          </a:rPr>
                          <m:t>ZF</m:t>
                        </m:r>
                      </m:den>
                    </m:f>
                  </m:oMath>
                </a14:m>
                <a:r>
                  <a:rPr lang="en-US" altLang="ja-JP" sz="2400" dirty="0">
                    <a:solidFill>
                      <a:schemeClr val="accent2"/>
                    </a:solidFill>
                  </a:rPr>
                  <a:t>  </a:t>
                </a:r>
                <a:r>
                  <a:rPr lang="en-US" altLang="ja-JP" sz="1600" dirty="0">
                    <a:solidFill>
                      <a:schemeClr val="accent2">
                        <a:lumMod val="75000"/>
                      </a:schemeClr>
                    </a:solidFill>
                  </a:rPr>
                  <a:t>‥(</a:t>
                </a:r>
                <a:r>
                  <a:rPr lang="en-US" altLang="ja-JP" sz="1600" dirty="0">
                    <a:solidFill>
                      <a:schemeClr val="accent2">
                        <a:lumMod val="75000"/>
                      </a:schemeClr>
                    </a:solidFill>
                    <a:latin typeface="Yu Gothic" pitchFamily="34" charset="0"/>
                    <a:ea typeface="Yu Gothic" pitchFamily="34" charset="-122"/>
                    <a:cs typeface="Yu Gothic" pitchFamily="34" charset="-120"/>
                  </a:rPr>
                  <a:t>★</a:t>
                </a:r>
                <a:r>
                  <a:rPr lang="en-US" altLang="ja-JP" sz="1600" dirty="0">
                    <a:solidFill>
                      <a:schemeClr val="accent2">
                        <a:lumMod val="75000"/>
                      </a:schemeClr>
                    </a:solidFill>
                  </a:rPr>
                  <a:t>)</a:t>
                </a:r>
                <a:endParaRPr lang="en-US" altLang="ja-JP" sz="2000" dirty="0">
                  <a:solidFill>
                    <a:schemeClr val="accent2">
                      <a:lumMod val="75000"/>
                    </a:schemeClr>
                  </a:solidFill>
                </a:endParaRPr>
              </a:p>
            </p:txBody>
          </p:sp>
        </mc:Choice>
        <mc:Fallback>
          <p:sp>
            <p:nvSpPr>
              <p:cNvPr id="10" name="Text 8"/>
              <p:cNvSpPr>
                <a:spLocks noRot="1" noChangeAspect="1" noMove="1" noResize="1" noEditPoints="1" noAdjustHandles="1" noChangeArrowheads="1" noChangeShapeType="1" noTextEdit="1"/>
              </p:cNvSpPr>
              <p:nvPr/>
            </p:nvSpPr>
            <p:spPr>
              <a:xfrm>
                <a:off x="594360" y="3941064"/>
                <a:ext cx="7955280" cy="777240"/>
              </a:xfrm>
              <a:prstGeom prst="rect">
                <a:avLst/>
              </a:prstGeom>
              <a:blipFill>
                <a:blip r:embed="rId4"/>
                <a:stretch>
                  <a:fillRect/>
                </a:stretch>
              </a:blipFill>
              <a:ln/>
            </p:spPr>
            <p:txBody>
              <a:bodyPr/>
              <a:lstStyle/>
              <a:p>
                <a:r>
                  <a:rPr lang="ja-JP" altLang="en-US">
                    <a:noFill/>
                  </a:rPr>
                  <a:t> </a:t>
                </a:r>
              </a:p>
            </p:txBody>
          </p:sp>
        </mc:Fallback>
      </mc:AlternateContent>
      <p:sp>
        <p:nvSpPr>
          <p:cNvPr id="11" name="Shape 9"/>
          <p:cNvSpPr/>
          <p:nvPr/>
        </p:nvSpPr>
        <p:spPr>
          <a:xfrm>
            <a:off x="457200" y="2478024"/>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2" name="Shape 10"/>
          <p:cNvSpPr/>
          <p:nvPr/>
        </p:nvSpPr>
        <p:spPr>
          <a:xfrm>
            <a:off x="457200" y="2478024"/>
            <a:ext cx="2606040" cy="54864"/>
          </a:xfrm>
          <a:prstGeom prst="rect">
            <a:avLst/>
          </a:prstGeom>
          <a:solidFill>
            <a:schemeClr val="accent2"/>
          </a:solidFill>
          <a:ln/>
        </p:spPr>
        <p:txBody>
          <a:bodyPr/>
          <a:lstStyle/>
          <a:p>
            <a:endParaRPr lang="ja-JP" altLang="en-US"/>
          </a:p>
        </p:txBody>
      </p:sp>
      <p:sp>
        <p:nvSpPr>
          <p:cNvPr id="13" name="Text 11"/>
          <p:cNvSpPr/>
          <p:nvPr/>
        </p:nvSpPr>
        <p:spPr>
          <a:xfrm>
            <a:off x="594360" y="2587752"/>
            <a:ext cx="2377440" cy="274320"/>
          </a:xfrm>
          <a:prstGeom prst="rect">
            <a:avLst/>
          </a:prstGeom>
          <a:noFill/>
          <a:ln/>
        </p:spPr>
        <p:txBody>
          <a:bodyPr wrap="square" lIns="0" tIns="0" rIns="0" bIns="0" rtlCol="0" anchor="ctr"/>
          <a:lstStyle/>
          <a:p>
            <a:pPr marL="0" indent="0">
              <a:buNone/>
            </a:pPr>
            <a:r>
              <a:rPr lang="en-US" sz="1100" b="1" dirty="0">
                <a:solidFill>
                  <a:schemeClr val="accent2"/>
                </a:solidFill>
                <a:latin typeface="Yu Gothic" pitchFamily="34" charset="0"/>
                <a:ea typeface="Yu Gothic" pitchFamily="34" charset="-122"/>
                <a:cs typeface="Yu Gothic" pitchFamily="34" charset="-120"/>
              </a:rPr>
              <a:t>頂点 X のカタマリ</a:t>
            </a:r>
            <a:endParaRPr lang="en-US" sz="1100" dirty="0">
              <a:solidFill>
                <a:schemeClr val="accent2"/>
              </a:solidFill>
            </a:endParaRPr>
          </a:p>
        </p:txBody>
      </p:sp>
      <mc:AlternateContent xmlns:mc="http://schemas.openxmlformats.org/markup-compatibility/2006">
        <mc:Choice xmlns:a14="http://schemas.microsoft.com/office/drawing/2010/main" Requires="a14">
          <p:sp>
            <p:nvSpPr>
              <p:cNvPr id="14" name="Text 12"/>
              <p:cNvSpPr/>
              <p:nvPr/>
            </p:nvSpPr>
            <p:spPr>
              <a:xfrm>
                <a:off x="594360" y="2889504"/>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XB</m:t>
                          </m:r>
                        </m:den>
                      </m:f>
                      <m: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XA</m:t>
                          </m:r>
                        </m:den>
                      </m:f>
                    </m:oMath>
                  </m:oMathPara>
                </a14:m>
                <a:endParaRPr lang="en-US" dirty="0"/>
              </a:p>
            </p:txBody>
          </p:sp>
        </mc:Choice>
        <mc:Fallback>
          <p:sp>
            <p:nvSpPr>
              <p:cNvPr id="14" name="Text 12"/>
              <p:cNvSpPr>
                <a:spLocks noRot="1" noChangeAspect="1" noMove="1" noResize="1" noEditPoints="1" noAdjustHandles="1" noChangeArrowheads="1" noChangeShapeType="1" noTextEdit="1"/>
              </p:cNvSpPr>
              <p:nvPr/>
            </p:nvSpPr>
            <p:spPr>
              <a:xfrm>
                <a:off x="594360" y="2889504"/>
                <a:ext cx="2377440" cy="502920"/>
              </a:xfrm>
              <a:prstGeom prst="rect">
                <a:avLst/>
              </a:prstGeom>
              <a:blipFill>
                <a:blip r:embed="rId5"/>
                <a:stretch>
                  <a:fillRect t="-4878" b="-14634"/>
                </a:stretch>
              </a:blipFill>
              <a:ln/>
            </p:spPr>
            <p:txBody>
              <a:bodyPr/>
              <a:lstStyle/>
              <a:p>
                <a:r>
                  <a:rPr lang="ja-JP" altLang="en-US">
                    <a:noFill/>
                  </a:rPr>
                  <a:t> </a:t>
                </a:r>
              </a:p>
            </p:txBody>
          </p:sp>
        </mc:Fallback>
      </mc:AlternateContent>
      <p:sp>
        <p:nvSpPr>
          <p:cNvPr id="15" name="Shape 13"/>
          <p:cNvSpPr/>
          <p:nvPr/>
        </p:nvSpPr>
        <p:spPr>
          <a:xfrm>
            <a:off x="3246120" y="2478024"/>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6" name="Shape 14"/>
          <p:cNvSpPr/>
          <p:nvPr/>
        </p:nvSpPr>
        <p:spPr>
          <a:xfrm>
            <a:off x="3246120" y="2478024"/>
            <a:ext cx="2606040" cy="54864"/>
          </a:xfrm>
          <a:prstGeom prst="rect">
            <a:avLst/>
          </a:prstGeom>
          <a:solidFill>
            <a:srgbClr val="336699"/>
          </a:solidFill>
          <a:ln/>
        </p:spPr>
        <p:txBody>
          <a:bodyPr/>
          <a:lstStyle/>
          <a:p>
            <a:endParaRPr lang="ja-JP" altLang="en-US"/>
          </a:p>
        </p:txBody>
      </p:sp>
      <p:sp>
        <p:nvSpPr>
          <p:cNvPr id="17" name="Text 15"/>
          <p:cNvSpPr/>
          <p:nvPr/>
        </p:nvSpPr>
        <p:spPr>
          <a:xfrm>
            <a:off x="3383280" y="2587752"/>
            <a:ext cx="2377440" cy="274320"/>
          </a:xfrm>
          <a:prstGeom prst="rect">
            <a:avLst/>
          </a:prstGeom>
          <a:noFill/>
          <a:ln/>
        </p:spPr>
        <p:txBody>
          <a:bodyPr wrap="square" lIns="0" tIns="0" rIns="0" bIns="0" rtlCol="0" anchor="ctr"/>
          <a:lstStyle/>
          <a:p>
            <a:pPr marL="0" indent="0">
              <a:buNone/>
            </a:pPr>
            <a:r>
              <a:rPr lang="en-US" sz="1100" b="1" dirty="0">
                <a:solidFill>
                  <a:srgbClr val="336699"/>
                </a:solidFill>
                <a:latin typeface="Yu Gothic" pitchFamily="34" charset="0"/>
                <a:ea typeface="Yu Gothic" pitchFamily="34" charset="-122"/>
                <a:cs typeface="Yu Gothic" pitchFamily="34" charset="-120"/>
              </a:rPr>
              <a:t>頂点 Y のカタマリ</a:t>
            </a:r>
            <a:endParaRPr lang="en-US" sz="1100" dirty="0"/>
          </a:p>
        </p:txBody>
      </p:sp>
      <mc:AlternateContent xmlns:mc="http://schemas.openxmlformats.org/markup-compatibility/2006">
        <mc:Choice xmlns:a14="http://schemas.microsoft.com/office/drawing/2010/main" Requires="a14">
          <p:sp>
            <p:nvSpPr>
              <p:cNvPr id="18" name="Text 16"/>
              <p:cNvSpPr/>
              <p:nvPr/>
            </p:nvSpPr>
            <p:spPr>
              <a:xfrm>
                <a:off x="3383280" y="2889504"/>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YD</m:t>
                          </m:r>
                        </m:den>
                      </m:f>
                      <m: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YC</m:t>
                          </m:r>
                        </m:den>
                      </m:f>
                    </m:oMath>
                  </m:oMathPara>
                </a14:m>
                <a:endParaRPr lang="en-US" dirty="0"/>
              </a:p>
            </p:txBody>
          </p:sp>
        </mc:Choice>
        <mc:Fallback>
          <p:sp>
            <p:nvSpPr>
              <p:cNvPr id="18" name="Text 16"/>
              <p:cNvSpPr>
                <a:spLocks noRot="1" noChangeAspect="1" noMove="1" noResize="1" noEditPoints="1" noAdjustHandles="1" noChangeArrowheads="1" noChangeShapeType="1" noTextEdit="1"/>
              </p:cNvSpPr>
              <p:nvPr/>
            </p:nvSpPr>
            <p:spPr>
              <a:xfrm>
                <a:off x="3383280" y="2889504"/>
                <a:ext cx="2377440" cy="502920"/>
              </a:xfrm>
              <a:prstGeom prst="rect">
                <a:avLst/>
              </a:prstGeom>
              <a:blipFill>
                <a:blip r:embed="rId6"/>
                <a:stretch>
                  <a:fillRect t="-2439" b="-14634"/>
                </a:stretch>
              </a:blipFill>
              <a:ln/>
            </p:spPr>
            <p:txBody>
              <a:bodyPr/>
              <a:lstStyle/>
              <a:p>
                <a:r>
                  <a:rPr lang="ja-JP" altLang="en-US">
                    <a:noFill/>
                  </a:rPr>
                  <a:t> </a:t>
                </a:r>
              </a:p>
            </p:txBody>
          </p:sp>
        </mc:Fallback>
      </mc:AlternateContent>
      <p:sp>
        <p:nvSpPr>
          <p:cNvPr id="19" name="Shape 17"/>
          <p:cNvSpPr/>
          <p:nvPr/>
        </p:nvSpPr>
        <p:spPr>
          <a:xfrm>
            <a:off x="6035040" y="2478024"/>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20" name="Shape 18"/>
          <p:cNvSpPr/>
          <p:nvPr/>
        </p:nvSpPr>
        <p:spPr>
          <a:xfrm>
            <a:off x="6035040" y="2478024"/>
            <a:ext cx="2606040" cy="54864"/>
          </a:xfrm>
          <a:prstGeom prst="rect">
            <a:avLst/>
          </a:prstGeom>
          <a:solidFill>
            <a:srgbClr val="339933"/>
          </a:solidFill>
          <a:ln/>
        </p:spPr>
        <p:txBody>
          <a:bodyPr/>
          <a:lstStyle/>
          <a:p>
            <a:endParaRPr lang="ja-JP" altLang="en-US"/>
          </a:p>
        </p:txBody>
      </p:sp>
      <p:sp>
        <p:nvSpPr>
          <p:cNvPr id="21" name="Text 19"/>
          <p:cNvSpPr/>
          <p:nvPr/>
        </p:nvSpPr>
        <p:spPr>
          <a:xfrm>
            <a:off x="6172200" y="2587752"/>
            <a:ext cx="2377440" cy="274320"/>
          </a:xfrm>
          <a:prstGeom prst="rect">
            <a:avLst/>
          </a:prstGeom>
          <a:noFill/>
          <a:ln/>
        </p:spPr>
        <p:txBody>
          <a:bodyPr wrap="square" lIns="0" tIns="0" rIns="0" bIns="0" rtlCol="0" anchor="ctr"/>
          <a:lstStyle/>
          <a:p>
            <a:pPr marL="0" indent="0">
              <a:buNone/>
            </a:pPr>
            <a:r>
              <a:rPr lang="en-US" sz="1100" b="1" dirty="0">
                <a:solidFill>
                  <a:srgbClr val="339933"/>
                </a:solidFill>
                <a:latin typeface="Yu Gothic" pitchFamily="34" charset="0"/>
                <a:ea typeface="Yu Gothic" pitchFamily="34" charset="-122"/>
                <a:cs typeface="Yu Gothic" pitchFamily="34" charset="-120"/>
              </a:rPr>
              <a:t>頂点 Z のカタマリ</a:t>
            </a:r>
            <a:endParaRPr lang="en-US" sz="1100" dirty="0"/>
          </a:p>
        </p:txBody>
      </p:sp>
      <mc:AlternateContent xmlns:mc="http://schemas.openxmlformats.org/markup-compatibility/2006">
        <mc:Choice xmlns:a14="http://schemas.microsoft.com/office/drawing/2010/main" Requires="a14">
          <p:sp>
            <p:nvSpPr>
              <p:cNvPr id="22" name="Text 20"/>
              <p:cNvSpPr/>
              <p:nvPr/>
            </p:nvSpPr>
            <p:spPr>
              <a:xfrm>
                <a:off x="6172200" y="2889504"/>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ZE</m:t>
                          </m:r>
                        </m:den>
                      </m:f>
                      <m: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ZF</m:t>
                          </m:r>
                        </m:den>
                      </m:f>
                    </m:oMath>
                  </m:oMathPara>
                </a14:m>
                <a:endParaRPr lang="en-US" dirty="0"/>
              </a:p>
            </p:txBody>
          </p:sp>
        </mc:Choice>
        <mc:Fallback>
          <p:sp>
            <p:nvSpPr>
              <p:cNvPr id="22" name="Text 20"/>
              <p:cNvSpPr>
                <a:spLocks noRot="1" noChangeAspect="1" noMove="1" noResize="1" noEditPoints="1" noAdjustHandles="1" noChangeArrowheads="1" noChangeShapeType="1" noTextEdit="1"/>
              </p:cNvSpPr>
              <p:nvPr/>
            </p:nvSpPr>
            <p:spPr>
              <a:xfrm>
                <a:off x="6172200" y="2889504"/>
                <a:ext cx="2377440" cy="502920"/>
              </a:xfrm>
              <a:prstGeom prst="rect">
                <a:avLst/>
              </a:prstGeom>
              <a:blipFill>
                <a:blip r:embed="rId7"/>
                <a:stretch>
                  <a:fillRect t="-4878" b="-14634"/>
                </a:stretch>
              </a:blipFill>
              <a:ln/>
            </p:spPr>
            <p:txBody>
              <a:bodyPr/>
              <a:lstStyle/>
              <a:p>
                <a:r>
                  <a:rPr lang="ja-JP" altLang="en-US">
                    <a:noFill/>
                  </a:rPr>
                  <a:t> </a:t>
                </a:r>
              </a:p>
            </p:txBody>
          </p:sp>
        </mc:Fallback>
      </mc:AlternateContent>
      <p:sp>
        <p:nvSpPr>
          <p:cNvPr id="23" name="Text 21"/>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4" name="Text 22"/>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99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9933"/>
                </a:solidFill>
                <a:latin typeface="Yu Gothic" pitchFamily="34" charset="0"/>
                <a:ea typeface="Yu Gothic" pitchFamily="34" charset="-122"/>
                <a:cs typeface="Yu Gothic" pitchFamily="34" charset="-120"/>
              </a:rPr>
              <a:t>STEP 3 · POWER OF A POINT</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方べきの定理で各カタマリを相殺する</a:t>
            </a:r>
            <a:endParaRPr lang="en-US" sz="3000" dirty="0"/>
          </a:p>
        </p:txBody>
      </p:sp>
      <p:sp>
        <p:nvSpPr>
          <p:cNvPr id="5" name="Text 3"/>
          <p:cNvSpPr/>
          <p:nvPr/>
        </p:nvSpPr>
        <p:spPr>
          <a:xfrm>
            <a:off x="457200" y="1280160"/>
            <a:ext cx="5120640" cy="502920"/>
          </a:xfrm>
          <a:prstGeom prst="rect">
            <a:avLst/>
          </a:prstGeom>
          <a:noFill/>
          <a:ln/>
        </p:spPr>
        <p:txBody>
          <a:bodyPr wrap="square" lIns="0" tIns="0" rIns="0" bIns="0" rtlCol="0" anchor="ctr"/>
          <a:lstStyle/>
          <a:p>
            <a:pPr marL="0" indent="0">
              <a:lnSpc>
                <a:spcPct val="130000"/>
              </a:lnSpc>
              <a:buNone/>
            </a:pPr>
            <a:r>
              <a:rPr lang="en-US" sz="1250" dirty="0">
                <a:solidFill>
                  <a:srgbClr val="333333"/>
                </a:solidFill>
                <a:latin typeface="Yu Gothic" pitchFamily="34" charset="0"/>
                <a:ea typeface="Yu Gothic" pitchFamily="34" charset="-122"/>
                <a:cs typeface="Yu Gothic" pitchFamily="34" charset="-120"/>
              </a:rPr>
              <a:t>六角形が円に内接しているため，各頂点から２本の割線が引け，方べきの定理が使える。</a:t>
            </a:r>
            <a:endParaRPr lang="en-US" sz="1250" dirty="0"/>
          </a:p>
        </p:txBody>
      </p:sp>
      <p:sp>
        <p:nvSpPr>
          <p:cNvPr id="6" name="Shape 4"/>
          <p:cNvSpPr/>
          <p:nvPr/>
        </p:nvSpPr>
        <p:spPr>
          <a:xfrm>
            <a:off x="457200" y="1874520"/>
            <a:ext cx="411480" cy="411480"/>
          </a:xfrm>
          <a:prstGeom prst="ellipse">
            <a:avLst/>
          </a:prstGeom>
          <a:solidFill>
            <a:srgbClr val="FFFFFF"/>
          </a:solidFill>
          <a:ln w="16510">
            <a:solidFill>
              <a:srgbClr val="993300"/>
            </a:solidFill>
            <a:prstDash val="solid"/>
          </a:ln>
        </p:spPr>
        <p:txBody>
          <a:bodyPr/>
          <a:lstStyle/>
          <a:p>
            <a:endParaRPr lang="ja-JP" altLang="en-US"/>
          </a:p>
        </p:txBody>
      </p:sp>
      <p:sp>
        <p:nvSpPr>
          <p:cNvPr id="7" name="Text 5"/>
          <p:cNvSpPr/>
          <p:nvPr/>
        </p:nvSpPr>
        <p:spPr>
          <a:xfrm>
            <a:off x="457200" y="1874520"/>
            <a:ext cx="411480" cy="411480"/>
          </a:xfrm>
          <a:prstGeom prst="rect">
            <a:avLst/>
          </a:prstGeom>
          <a:noFill/>
          <a:ln>
            <a:solidFill>
              <a:schemeClr val="accent2"/>
            </a:solidFill>
          </a:ln>
        </p:spPr>
        <p:txBody>
          <a:bodyPr wrap="square" lIns="0" tIns="0" rIns="0" bIns="0" rtlCol="0" anchor="ctr"/>
          <a:lstStyle/>
          <a:p>
            <a:pPr marL="0" indent="0" algn="ctr">
              <a:buNone/>
            </a:pPr>
            <a:r>
              <a:rPr lang="en-US" sz="1400" b="1" dirty="0">
                <a:solidFill>
                  <a:schemeClr val="accent2"/>
                </a:solidFill>
                <a:latin typeface="Yu Mincho" pitchFamily="34" charset="0"/>
                <a:ea typeface="Yu Mincho" pitchFamily="34" charset="-122"/>
                <a:cs typeface="Yu Mincho" pitchFamily="34" charset="-120"/>
              </a:rPr>
              <a:t>X</a:t>
            </a:r>
            <a:endParaRPr lang="en-US" sz="1400" dirty="0">
              <a:solidFill>
                <a:schemeClr val="accent2"/>
              </a:solidFill>
            </a:endParaRPr>
          </a:p>
        </p:txBody>
      </p:sp>
      <p:sp>
        <p:nvSpPr>
          <p:cNvPr id="8" name="Text 6"/>
          <p:cNvSpPr/>
          <p:nvPr/>
        </p:nvSpPr>
        <p:spPr>
          <a:xfrm>
            <a:off x="1005840" y="1874520"/>
            <a:ext cx="4480560" cy="411480"/>
          </a:xfrm>
          <a:prstGeom prst="rect">
            <a:avLst/>
          </a:prstGeom>
          <a:noFill/>
          <a:ln/>
        </p:spPr>
        <p:txBody>
          <a:bodyPr wrap="square" lIns="0" tIns="0" rIns="0" bIns="0" rtlCol="0" anchor="ctr"/>
          <a:lstStyle/>
          <a:p>
            <a:pPr marL="0" indent="0">
              <a:buNone/>
            </a:pPr>
            <a:r>
              <a:rPr lang="en-US" sz="1250" dirty="0">
                <a:solidFill>
                  <a:srgbClr val="000000"/>
                </a:solidFill>
                <a:latin typeface="Consolas" pitchFamily="34" charset="0"/>
                <a:ea typeface="Consolas" pitchFamily="34" charset="-122"/>
                <a:cs typeface="Consolas" pitchFamily="34" charset="-120"/>
              </a:rPr>
              <a:t>頂点 X </a:t>
            </a:r>
            <a:r>
              <a:rPr lang="en-US" sz="1250" dirty="0" err="1">
                <a:solidFill>
                  <a:srgbClr val="000000"/>
                </a:solidFill>
                <a:latin typeface="Consolas" pitchFamily="34" charset="0"/>
                <a:ea typeface="Consolas" pitchFamily="34" charset="-122"/>
                <a:cs typeface="Consolas" pitchFamily="34" charset="-120"/>
              </a:rPr>
              <a:t>から：XA</a:t>
            </a:r>
            <a:r>
              <a:rPr lang="en-US" sz="1250" dirty="0">
                <a:solidFill>
                  <a:srgbClr val="000000"/>
                </a:solidFill>
                <a:latin typeface="Consolas" pitchFamily="34" charset="0"/>
                <a:ea typeface="Consolas" pitchFamily="34" charset="-122"/>
                <a:cs typeface="Consolas" pitchFamily="34" charset="-120"/>
              </a:rPr>
              <a:t> · XB = DX · CX</a:t>
            </a:r>
            <a:endParaRPr lang="en-US" sz="1250" dirty="0"/>
          </a:p>
        </p:txBody>
      </p:sp>
      <mc:AlternateContent xmlns:mc="http://schemas.openxmlformats.org/markup-compatibility/2006">
        <mc:Choice xmlns:a14="http://schemas.microsoft.com/office/drawing/2010/main" Requires="a14">
          <p:sp>
            <p:nvSpPr>
              <p:cNvPr id="9" name="Text 7"/>
              <p:cNvSpPr/>
              <p:nvPr/>
            </p:nvSpPr>
            <p:spPr>
              <a:xfrm>
                <a:off x="1005840" y="2258568"/>
                <a:ext cx="4480560" cy="320040"/>
              </a:xfrm>
              <a:prstGeom prst="rect">
                <a:avLst/>
              </a:prstGeom>
              <a:noFill/>
              <a:ln/>
            </p:spPr>
            <p:txBody>
              <a:bodyPr wrap="square" lIns="0" tIns="0" rIns="0" bIns="0" rtlCol="0" anchor="ctr"/>
              <a:lstStyle/>
              <a:p>
                <a:r>
                  <a:rPr lang="en-US" sz="1150" b="1" dirty="0">
                    <a:solidFill>
                      <a:srgbClr val="993300"/>
                    </a:solidFill>
                    <a:latin typeface="Consolas" pitchFamily="34" charset="0"/>
                    <a:ea typeface="Consolas" pitchFamily="34" charset="-122"/>
                    <a:cs typeface="Consolas" pitchFamily="34" charset="-120"/>
                  </a:rPr>
                  <a:t>⇒ </a:t>
                </a:r>
                <a14:m>
                  <m:oMath xmlns:m="http://schemas.openxmlformats.org/officeDocument/2006/math">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XB</m:t>
                        </m:r>
                      </m:den>
                    </m:f>
                    <m: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XA</m:t>
                        </m:r>
                      </m:den>
                    </m:f>
                    <m: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 </m:t>
                    </m:r>
                  </m:oMath>
                </a14:m>
                <a:r>
                  <a:rPr lang="en-US" sz="1150" b="1" dirty="0">
                    <a:solidFill>
                      <a:srgbClr val="993300"/>
                    </a:solidFill>
                    <a:latin typeface="Consolas" pitchFamily="34" charset="0"/>
                    <a:ea typeface="Consolas" pitchFamily="34" charset="-122"/>
                    <a:cs typeface="Consolas" pitchFamily="34" charset="-120"/>
                  </a:rPr>
                  <a:t>= 1</a:t>
                </a:r>
                <a:endParaRPr lang="en-US" sz="1150" dirty="0"/>
              </a:p>
            </p:txBody>
          </p:sp>
        </mc:Choice>
        <mc:Fallback>
          <p:sp>
            <p:nvSpPr>
              <p:cNvPr id="9" name="Text 7"/>
              <p:cNvSpPr>
                <a:spLocks noRot="1" noChangeAspect="1" noMove="1" noResize="1" noEditPoints="1" noAdjustHandles="1" noChangeArrowheads="1" noChangeShapeType="1" noTextEdit="1"/>
              </p:cNvSpPr>
              <p:nvPr/>
            </p:nvSpPr>
            <p:spPr>
              <a:xfrm>
                <a:off x="1005840" y="2258568"/>
                <a:ext cx="4480560" cy="320040"/>
              </a:xfrm>
              <a:prstGeom prst="rect">
                <a:avLst/>
              </a:prstGeom>
              <a:blipFill>
                <a:blip r:embed="rId3"/>
                <a:stretch>
                  <a:fillRect l="-1977" t="-15385" b="-26923"/>
                </a:stretch>
              </a:blipFill>
              <a:ln/>
            </p:spPr>
            <p:txBody>
              <a:bodyPr/>
              <a:lstStyle/>
              <a:p>
                <a:r>
                  <a:rPr lang="ja-JP" altLang="en-US">
                    <a:noFill/>
                  </a:rPr>
                  <a:t> </a:t>
                </a:r>
              </a:p>
            </p:txBody>
          </p:sp>
        </mc:Fallback>
      </mc:AlternateContent>
      <p:sp>
        <p:nvSpPr>
          <p:cNvPr id="10" name="Shape 8"/>
          <p:cNvSpPr/>
          <p:nvPr/>
        </p:nvSpPr>
        <p:spPr>
          <a:xfrm>
            <a:off x="457200" y="2651760"/>
            <a:ext cx="411480" cy="411480"/>
          </a:xfrm>
          <a:prstGeom prst="ellipse">
            <a:avLst/>
          </a:prstGeom>
          <a:solidFill>
            <a:srgbClr val="FFFFFF"/>
          </a:solidFill>
          <a:ln w="16510">
            <a:solidFill>
              <a:srgbClr val="336699"/>
            </a:solidFill>
            <a:prstDash val="solid"/>
          </a:ln>
        </p:spPr>
        <p:txBody>
          <a:bodyPr/>
          <a:lstStyle/>
          <a:p>
            <a:endParaRPr lang="ja-JP" altLang="en-US"/>
          </a:p>
        </p:txBody>
      </p:sp>
      <p:sp>
        <p:nvSpPr>
          <p:cNvPr id="11" name="Text 9"/>
          <p:cNvSpPr/>
          <p:nvPr/>
        </p:nvSpPr>
        <p:spPr>
          <a:xfrm>
            <a:off x="457200" y="2651760"/>
            <a:ext cx="411480" cy="411480"/>
          </a:xfrm>
          <a:prstGeom prst="rect">
            <a:avLst/>
          </a:prstGeom>
          <a:noFill/>
          <a:ln/>
        </p:spPr>
        <p:txBody>
          <a:bodyPr wrap="square" lIns="0" tIns="0" rIns="0" bIns="0" rtlCol="0" anchor="ctr"/>
          <a:lstStyle/>
          <a:p>
            <a:pPr marL="0" indent="0" algn="ctr">
              <a:buNone/>
            </a:pPr>
            <a:r>
              <a:rPr lang="en-US" sz="1400" b="1" dirty="0">
                <a:solidFill>
                  <a:srgbClr val="336699"/>
                </a:solidFill>
                <a:latin typeface="Yu Mincho" pitchFamily="34" charset="0"/>
                <a:ea typeface="Yu Mincho" pitchFamily="34" charset="-122"/>
                <a:cs typeface="Yu Mincho" pitchFamily="34" charset="-120"/>
              </a:rPr>
              <a:t>Y</a:t>
            </a:r>
            <a:endParaRPr lang="en-US" sz="1400" dirty="0"/>
          </a:p>
        </p:txBody>
      </p:sp>
      <p:sp>
        <p:nvSpPr>
          <p:cNvPr id="12" name="Text 10"/>
          <p:cNvSpPr/>
          <p:nvPr/>
        </p:nvSpPr>
        <p:spPr>
          <a:xfrm>
            <a:off x="1005840" y="2651760"/>
            <a:ext cx="4480560" cy="411480"/>
          </a:xfrm>
          <a:prstGeom prst="rect">
            <a:avLst/>
          </a:prstGeom>
          <a:noFill/>
          <a:ln/>
        </p:spPr>
        <p:txBody>
          <a:bodyPr wrap="square" lIns="0" tIns="0" rIns="0" bIns="0" rtlCol="0" anchor="ctr"/>
          <a:lstStyle/>
          <a:p>
            <a:pPr marL="0" indent="0">
              <a:buNone/>
            </a:pPr>
            <a:r>
              <a:rPr lang="en-US" sz="1250" dirty="0">
                <a:solidFill>
                  <a:srgbClr val="000000"/>
                </a:solidFill>
                <a:latin typeface="Consolas" pitchFamily="34" charset="0"/>
                <a:ea typeface="Consolas" pitchFamily="34" charset="-122"/>
                <a:cs typeface="Consolas" pitchFamily="34" charset="-120"/>
              </a:rPr>
              <a:t>頂点 Y から：YC · YD = EY · FY</a:t>
            </a:r>
            <a:endParaRPr lang="en-US" sz="1250" dirty="0"/>
          </a:p>
        </p:txBody>
      </p:sp>
      <mc:AlternateContent xmlns:mc="http://schemas.openxmlformats.org/markup-compatibility/2006">
        <mc:Choice xmlns:a14="http://schemas.microsoft.com/office/drawing/2010/main" Requires="a14">
          <p:sp>
            <p:nvSpPr>
              <p:cNvPr id="13" name="Text 11"/>
              <p:cNvSpPr/>
              <p:nvPr/>
            </p:nvSpPr>
            <p:spPr>
              <a:xfrm>
                <a:off x="1005840" y="3035808"/>
                <a:ext cx="4480560" cy="320040"/>
              </a:xfrm>
              <a:prstGeom prst="rect">
                <a:avLst/>
              </a:prstGeom>
              <a:noFill/>
              <a:ln/>
            </p:spPr>
            <p:txBody>
              <a:bodyPr wrap="square" lIns="0" tIns="0" rIns="0" bIns="0" rtlCol="0" anchor="ctr"/>
              <a:lstStyle/>
              <a:p>
                <a:r>
                  <a:rPr lang="en-US" sz="1150" b="1" dirty="0">
                    <a:solidFill>
                      <a:srgbClr val="336699"/>
                    </a:solidFill>
                    <a:latin typeface="Consolas" pitchFamily="34" charset="0"/>
                    <a:ea typeface="Consolas" pitchFamily="34" charset="-122"/>
                    <a:cs typeface="Consolas" pitchFamily="34" charset="-120"/>
                  </a:rPr>
                  <a:t>⇒ </a:t>
                </a:r>
                <a14:m>
                  <m:oMath xmlns:m="http://schemas.openxmlformats.org/officeDocument/2006/math">
                    <m:f>
                      <m:fPr>
                        <m:ctrlPr>
                          <a:rPr lang="en-US" altLang="ja-JP" i="1" smtClean="0">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YD</m:t>
                        </m:r>
                      </m:den>
                    </m:f>
                    <m: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 </m:t>
                    </m:r>
                  </m:oMath>
                </a14:m>
                <a:r>
                  <a:rPr lang="en-US" sz="1150" b="1" dirty="0">
                    <a:solidFill>
                      <a:srgbClr val="336699"/>
                    </a:solidFill>
                    <a:latin typeface="Consolas" pitchFamily="34" charset="0"/>
                    <a:ea typeface="Consolas" pitchFamily="34" charset="-122"/>
                    <a:cs typeface="Consolas" pitchFamily="34" charset="-120"/>
                  </a:rPr>
                  <a:t>= 1</a:t>
                </a:r>
                <a:endParaRPr lang="en-US" sz="1150" dirty="0"/>
              </a:p>
            </p:txBody>
          </p:sp>
        </mc:Choice>
        <mc:Fallback>
          <p:sp>
            <p:nvSpPr>
              <p:cNvPr id="13" name="Text 11"/>
              <p:cNvSpPr>
                <a:spLocks noRot="1" noChangeAspect="1" noMove="1" noResize="1" noEditPoints="1" noAdjustHandles="1" noChangeArrowheads="1" noChangeShapeType="1" noTextEdit="1"/>
              </p:cNvSpPr>
              <p:nvPr/>
            </p:nvSpPr>
            <p:spPr>
              <a:xfrm>
                <a:off x="1005840" y="3035808"/>
                <a:ext cx="4480560" cy="320040"/>
              </a:xfrm>
              <a:prstGeom prst="rect">
                <a:avLst/>
              </a:prstGeom>
              <a:blipFill>
                <a:blip r:embed="rId4"/>
                <a:stretch>
                  <a:fillRect l="-1977" t="-11538" b="-26923"/>
                </a:stretch>
              </a:blipFill>
              <a:ln/>
            </p:spPr>
            <p:txBody>
              <a:bodyPr/>
              <a:lstStyle/>
              <a:p>
                <a:r>
                  <a:rPr lang="ja-JP" altLang="en-US">
                    <a:noFill/>
                  </a:rPr>
                  <a:t> </a:t>
                </a:r>
              </a:p>
            </p:txBody>
          </p:sp>
        </mc:Fallback>
      </mc:AlternateContent>
      <p:sp>
        <p:nvSpPr>
          <p:cNvPr id="14" name="Shape 12"/>
          <p:cNvSpPr/>
          <p:nvPr/>
        </p:nvSpPr>
        <p:spPr>
          <a:xfrm>
            <a:off x="457200" y="3429000"/>
            <a:ext cx="411480" cy="411480"/>
          </a:xfrm>
          <a:prstGeom prst="ellipse">
            <a:avLst/>
          </a:prstGeom>
          <a:solidFill>
            <a:srgbClr val="FFFFFF"/>
          </a:solidFill>
          <a:ln w="16510">
            <a:solidFill>
              <a:srgbClr val="339933"/>
            </a:solidFill>
            <a:prstDash val="solid"/>
          </a:ln>
        </p:spPr>
        <p:txBody>
          <a:bodyPr/>
          <a:lstStyle/>
          <a:p>
            <a:endParaRPr lang="ja-JP" altLang="en-US"/>
          </a:p>
        </p:txBody>
      </p:sp>
      <p:sp>
        <p:nvSpPr>
          <p:cNvPr id="15" name="Text 13"/>
          <p:cNvSpPr/>
          <p:nvPr/>
        </p:nvSpPr>
        <p:spPr>
          <a:xfrm>
            <a:off x="457200" y="3429000"/>
            <a:ext cx="411480" cy="411480"/>
          </a:xfrm>
          <a:prstGeom prst="rect">
            <a:avLst/>
          </a:prstGeom>
          <a:noFill/>
          <a:ln/>
        </p:spPr>
        <p:txBody>
          <a:bodyPr wrap="square" lIns="0" tIns="0" rIns="0" bIns="0" rtlCol="0" anchor="ctr"/>
          <a:lstStyle/>
          <a:p>
            <a:pPr marL="0" indent="0" algn="ctr">
              <a:buNone/>
            </a:pPr>
            <a:r>
              <a:rPr lang="en-US" sz="1400" b="1" dirty="0">
                <a:solidFill>
                  <a:srgbClr val="339933"/>
                </a:solidFill>
                <a:latin typeface="Yu Mincho" pitchFamily="34" charset="0"/>
                <a:ea typeface="Yu Mincho" pitchFamily="34" charset="-122"/>
                <a:cs typeface="Yu Mincho" pitchFamily="34" charset="-120"/>
              </a:rPr>
              <a:t>Z</a:t>
            </a:r>
            <a:endParaRPr lang="en-US" sz="1400" dirty="0"/>
          </a:p>
        </p:txBody>
      </p:sp>
      <p:sp>
        <p:nvSpPr>
          <p:cNvPr id="16" name="Text 14"/>
          <p:cNvSpPr/>
          <p:nvPr/>
        </p:nvSpPr>
        <p:spPr>
          <a:xfrm>
            <a:off x="1005840" y="3429000"/>
            <a:ext cx="4480560" cy="411480"/>
          </a:xfrm>
          <a:prstGeom prst="rect">
            <a:avLst/>
          </a:prstGeom>
          <a:noFill/>
          <a:ln/>
        </p:spPr>
        <p:txBody>
          <a:bodyPr wrap="square" lIns="0" tIns="0" rIns="0" bIns="0" rtlCol="0" anchor="ctr"/>
          <a:lstStyle/>
          <a:p>
            <a:pPr marL="0" indent="0">
              <a:buNone/>
            </a:pPr>
            <a:r>
              <a:rPr lang="en-US" sz="1250" dirty="0">
                <a:solidFill>
                  <a:srgbClr val="000000"/>
                </a:solidFill>
                <a:latin typeface="Consolas" pitchFamily="34" charset="0"/>
                <a:ea typeface="Consolas" pitchFamily="34" charset="-122"/>
                <a:cs typeface="Consolas" pitchFamily="34" charset="-120"/>
              </a:rPr>
              <a:t>頂点 Z から：ZE · ZF = BZ · AZ</a:t>
            </a:r>
            <a:endParaRPr lang="en-US" sz="1250" dirty="0"/>
          </a:p>
        </p:txBody>
      </p:sp>
      <mc:AlternateContent xmlns:mc="http://schemas.openxmlformats.org/markup-compatibility/2006">
        <mc:Choice xmlns:a14="http://schemas.microsoft.com/office/drawing/2010/main" Requires="a14">
          <p:sp>
            <p:nvSpPr>
              <p:cNvPr id="17" name="Text 15"/>
              <p:cNvSpPr/>
              <p:nvPr/>
            </p:nvSpPr>
            <p:spPr>
              <a:xfrm>
                <a:off x="1005840" y="3813048"/>
                <a:ext cx="4480560" cy="320040"/>
              </a:xfrm>
              <a:prstGeom prst="rect">
                <a:avLst/>
              </a:prstGeom>
              <a:noFill/>
              <a:ln/>
            </p:spPr>
            <p:txBody>
              <a:bodyPr wrap="square" lIns="0" tIns="0" rIns="0" bIns="0" rtlCol="0" anchor="ctr"/>
              <a:lstStyle/>
              <a:p>
                <a:r>
                  <a:rPr lang="en-US" sz="1150" b="1" dirty="0">
                    <a:solidFill>
                      <a:srgbClr val="339933"/>
                    </a:solidFill>
                    <a:latin typeface="Consolas" pitchFamily="34" charset="0"/>
                    <a:ea typeface="Consolas" pitchFamily="34" charset="-122"/>
                    <a:cs typeface="Consolas" pitchFamily="34" charset="-120"/>
                  </a:rPr>
                  <a:t>⇒ </a:t>
                </a:r>
                <a14:m>
                  <m:oMath xmlns:m="http://schemas.openxmlformats.org/officeDocument/2006/math">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ZE</m:t>
                        </m:r>
                      </m:den>
                    </m:f>
                    <m: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ZF</m:t>
                        </m:r>
                      </m:den>
                    </m:f>
                    <m: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 </m:t>
                    </m:r>
                  </m:oMath>
                </a14:m>
                <a:r>
                  <a:rPr lang="en-US" sz="1150" b="1" dirty="0">
                    <a:solidFill>
                      <a:srgbClr val="339933"/>
                    </a:solidFill>
                    <a:latin typeface="Consolas" pitchFamily="34" charset="0"/>
                    <a:ea typeface="Consolas" pitchFamily="34" charset="-122"/>
                    <a:cs typeface="Consolas" pitchFamily="34" charset="-120"/>
                  </a:rPr>
                  <a:t>= 1</a:t>
                </a:r>
                <a:endParaRPr lang="en-US" sz="1150" dirty="0"/>
              </a:p>
            </p:txBody>
          </p:sp>
        </mc:Choice>
        <mc:Fallback>
          <p:sp>
            <p:nvSpPr>
              <p:cNvPr id="17" name="Text 15"/>
              <p:cNvSpPr>
                <a:spLocks noRot="1" noChangeAspect="1" noMove="1" noResize="1" noEditPoints="1" noAdjustHandles="1" noChangeArrowheads="1" noChangeShapeType="1" noTextEdit="1"/>
              </p:cNvSpPr>
              <p:nvPr/>
            </p:nvSpPr>
            <p:spPr>
              <a:xfrm>
                <a:off x="1005840" y="3813048"/>
                <a:ext cx="4480560" cy="320040"/>
              </a:xfrm>
              <a:prstGeom prst="rect">
                <a:avLst/>
              </a:prstGeom>
              <a:blipFill>
                <a:blip r:embed="rId5"/>
                <a:stretch>
                  <a:fillRect l="-1977" t="-11538" b="-30769"/>
                </a:stretch>
              </a:blipFill>
              <a:ln/>
            </p:spPr>
            <p:txBody>
              <a:bodyPr/>
              <a:lstStyle/>
              <a:p>
                <a:r>
                  <a:rPr lang="ja-JP" altLang="en-US">
                    <a:noFill/>
                  </a:rPr>
                  <a:t> </a:t>
                </a:r>
              </a:p>
            </p:txBody>
          </p:sp>
        </mc:Fallback>
      </mc:AlternateContent>
      <p:sp>
        <p:nvSpPr>
          <p:cNvPr id="18" name="Shape 16"/>
          <p:cNvSpPr/>
          <p:nvPr/>
        </p:nvSpPr>
        <p:spPr>
          <a:xfrm>
            <a:off x="5577840" y="1097280"/>
            <a:ext cx="3200400" cy="3200400"/>
          </a:xfrm>
          <a:prstGeom prst="rect">
            <a:avLst/>
          </a:prstGeom>
          <a:solidFill>
            <a:srgbClr val="FFFFFF"/>
          </a:solidFill>
          <a:ln w="9525">
            <a:solidFill>
              <a:srgbClr val="999999"/>
            </a:solidFill>
            <a:prstDash val="solid"/>
          </a:ln>
        </p:spPr>
        <p:txBody>
          <a:bodyPr/>
          <a:lstStyle/>
          <a:p>
            <a:endParaRPr lang="ja-JP" altLang="en-US"/>
          </a:p>
        </p:txBody>
      </p:sp>
      <p:sp>
        <p:nvSpPr>
          <p:cNvPr id="20" name="Text 17"/>
          <p:cNvSpPr/>
          <p:nvPr/>
        </p:nvSpPr>
        <p:spPr>
          <a:xfrm>
            <a:off x="5669280" y="4407408"/>
            <a:ext cx="301752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Yu Gothic" pitchFamily="34" charset="0"/>
                <a:ea typeface="Yu Gothic" pitchFamily="34" charset="-122"/>
                <a:cs typeface="Yu Gothic" pitchFamily="34" charset="-120"/>
              </a:rPr>
              <a:t>頂点 X の方べき：2本の割線の積が等しい</a:t>
            </a:r>
            <a:endParaRPr lang="en-US" sz="1000" dirty="0"/>
          </a:p>
        </p:txBody>
      </p:sp>
      <p:sp>
        <p:nvSpPr>
          <p:cNvPr id="21" name="Text 18"/>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2" name="Text 19"/>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11</a:t>
            </a:r>
            <a:endParaRPr lang="en-US" sz="1000" dirty="0"/>
          </a:p>
        </p:txBody>
      </p:sp>
      <p:grpSp>
        <p:nvGrpSpPr>
          <p:cNvPr id="42" name="グループ化 41">
            <a:extLst>
              <a:ext uri="{FF2B5EF4-FFF2-40B4-BE49-F238E27FC236}">
                <a16:creationId xmlns:a16="http://schemas.microsoft.com/office/drawing/2014/main" id="{A27B5294-C5EC-7336-6FB5-1030EAD1FE81}"/>
              </a:ext>
            </a:extLst>
          </p:cNvPr>
          <p:cNvGrpSpPr/>
          <p:nvPr/>
        </p:nvGrpSpPr>
        <p:grpSpPr>
          <a:xfrm>
            <a:off x="5606287" y="1581912"/>
            <a:ext cx="3159211" cy="2249347"/>
            <a:chOff x="2585011" y="-154951"/>
            <a:chExt cx="7625424" cy="5429267"/>
          </a:xfrm>
        </p:grpSpPr>
        <p:cxnSp>
          <p:nvCxnSpPr>
            <p:cNvPr id="43" name="直線コネクタ 42">
              <a:extLst>
                <a:ext uri="{FF2B5EF4-FFF2-40B4-BE49-F238E27FC236}">
                  <a16:creationId xmlns:a16="http://schemas.microsoft.com/office/drawing/2014/main" id="{478B7FC6-E286-2541-B61C-C48821252E29}"/>
                </a:ext>
              </a:extLst>
            </p:cNvPr>
            <p:cNvCxnSpPr>
              <a:cxnSpLocks/>
            </p:cNvCxnSpPr>
            <p:nvPr/>
          </p:nvCxnSpPr>
          <p:spPr>
            <a:xfrm flipV="1">
              <a:off x="5962891" y="2685797"/>
              <a:ext cx="1767364" cy="2511943"/>
            </a:xfrm>
            <a:prstGeom prst="line">
              <a:avLst/>
            </a:prstGeom>
            <a:ln w="317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09306F3D-8C51-C40E-99FA-9C1C654EDE2A}"/>
                </a:ext>
              </a:extLst>
            </p:cNvPr>
            <p:cNvCxnSpPr>
              <a:cxnSpLocks/>
            </p:cNvCxnSpPr>
            <p:nvPr/>
          </p:nvCxnSpPr>
          <p:spPr>
            <a:xfrm flipV="1">
              <a:off x="2585012" y="3091527"/>
              <a:ext cx="5720404" cy="2022229"/>
            </a:xfrm>
            <a:prstGeom prst="line">
              <a:avLst/>
            </a:prstGeom>
            <a:ln w="317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9D0F941B-5EDE-4E29-5EAA-532FD9C22E7C}"/>
                </a:ext>
              </a:extLst>
            </p:cNvPr>
            <p:cNvCxnSpPr>
              <a:cxnSpLocks/>
            </p:cNvCxnSpPr>
            <p:nvPr/>
          </p:nvCxnSpPr>
          <p:spPr>
            <a:xfrm flipH="1" flipV="1">
              <a:off x="4237936" y="2959416"/>
              <a:ext cx="5908665" cy="2154341"/>
            </a:xfrm>
            <a:prstGeom prst="line">
              <a:avLst/>
            </a:prstGeom>
            <a:ln w="317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5DE1605A-AAA4-DC80-D871-40CE1C7266D9}"/>
                </a:ext>
              </a:extLst>
            </p:cNvPr>
            <p:cNvCxnSpPr>
              <a:cxnSpLocks/>
            </p:cNvCxnSpPr>
            <p:nvPr/>
          </p:nvCxnSpPr>
          <p:spPr>
            <a:xfrm flipH="1" flipV="1">
              <a:off x="4456951" y="-105658"/>
              <a:ext cx="1719231" cy="5314027"/>
            </a:xfrm>
            <a:prstGeom prst="line">
              <a:avLst/>
            </a:prstGeom>
            <a:ln w="317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DF679B1D-6DE1-2D0A-ECEE-1E9AD8079786}"/>
                </a:ext>
              </a:extLst>
            </p:cNvPr>
            <p:cNvCxnSpPr>
              <a:cxnSpLocks/>
            </p:cNvCxnSpPr>
            <p:nvPr/>
          </p:nvCxnSpPr>
          <p:spPr>
            <a:xfrm flipV="1">
              <a:off x="2585013" y="505654"/>
              <a:ext cx="4154397" cy="4768662"/>
            </a:xfrm>
            <a:prstGeom prst="line">
              <a:avLst/>
            </a:prstGeom>
            <a:ln w="317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B3B2DC66-1B84-0B47-C671-78E74052F2D1}"/>
                </a:ext>
              </a:extLst>
            </p:cNvPr>
            <p:cNvCxnSpPr>
              <a:cxnSpLocks/>
            </p:cNvCxnSpPr>
            <p:nvPr/>
          </p:nvCxnSpPr>
          <p:spPr>
            <a:xfrm>
              <a:off x="4266375" y="-154951"/>
              <a:ext cx="5717852" cy="5344363"/>
            </a:xfrm>
            <a:prstGeom prst="line">
              <a:avLst/>
            </a:prstGeom>
            <a:ln w="31750">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49" name="Shape 0">
              <a:extLst>
                <a:ext uri="{FF2B5EF4-FFF2-40B4-BE49-F238E27FC236}">
                  <a16:creationId xmlns:a16="http://schemas.microsoft.com/office/drawing/2014/main" id="{19C51C3A-AF30-B969-E25B-B945D1C6C0B4}"/>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50" name="Shape 1">
              <a:extLst>
                <a:ext uri="{FF2B5EF4-FFF2-40B4-BE49-F238E27FC236}">
                  <a16:creationId xmlns:a16="http://schemas.microsoft.com/office/drawing/2014/main" id="{332B9D51-85B7-2D26-FC40-D3B6A3829B9F}"/>
                </a:ext>
              </a:extLst>
            </p:cNvPr>
            <p:cNvSpPr/>
            <p:nvPr/>
          </p:nvSpPr>
          <p:spPr>
            <a:xfrm>
              <a:off x="5184679" y="2228069"/>
              <a:ext cx="72838" cy="72838"/>
            </a:xfrm>
            <a:prstGeom prst="ellipse">
              <a:avLst/>
            </a:prstGeom>
            <a:solidFill>
              <a:schemeClr val="tx1"/>
            </a:solidFill>
            <a:ln/>
          </p:spPr>
          <p:txBody>
            <a:bodyPr/>
            <a:lstStyle/>
            <a:p>
              <a:r>
                <a:rPr lang="en-US" altLang="ja-JP" dirty="0"/>
                <a:t>F</a:t>
              </a:r>
              <a:endParaRPr lang="ja-JP" altLang="en-US"/>
            </a:p>
          </p:txBody>
        </p:sp>
        <p:sp>
          <p:nvSpPr>
            <p:cNvPr id="51" name="Shape 2">
              <a:extLst>
                <a:ext uri="{FF2B5EF4-FFF2-40B4-BE49-F238E27FC236}">
                  <a16:creationId xmlns:a16="http://schemas.microsoft.com/office/drawing/2014/main" id="{0E7B1FF6-380B-BA58-EB22-8C89BB717C21}"/>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52" name="Shape 3">
              <a:extLst>
                <a:ext uri="{FF2B5EF4-FFF2-40B4-BE49-F238E27FC236}">
                  <a16:creationId xmlns:a16="http://schemas.microsoft.com/office/drawing/2014/main" id="{AC6E1F10-2C45-F88B-00C3-0F50E589DE0D}"/>
                </a:ext>
              </a:extLst>
            </p:cNvPr>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53" name="Shape 4">
              <a:extLst>
                <a:ext uri="{FF2B5EF4-FFF2-40B4-BE49-F238E27FC236}">
                  <a16:creationId xmlns:a16="http://schemas.microsoft.com/office/drawing/2014/main" id="{19C209F4-A3B9-AA6A-E2BD-12798315B3E8}"/>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54" name="Shape 5">
              <a:extLst>
                <a:ext uri="{FF2B5EF4-FFF2-40B4-BE49-F238E27FC236}">
                  <a16:creationId xmlns:a16="http://schemas.microsoft.com/office/drawing/2014/main" id="{C03F430F-6602-EF15-DD96-C1C362833DEA}"/>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55" name="Shape 6">
              <a:extLst>
                <a:ext uri="{FF2B5EF4-FFF2-40B4-BE49-F238E27FC236}">
                  <a16:creationId xmlns:a16="http://schemas.microsoft.com/office/drawing/2014/main" id="{95B1938F-4517-0AF6-6A4F-45C295FA8FBC}"/>
                </a:ext>
              </a:extLst>
            </p:cNvPr>
            <p:cNvSpPr/>
            <p:nvPr/>
          </p:nvSpPr>
          <p:spPr>
            <a:xfrm>
              <a:off x="5908211" y="1382815"/>
              <a:ext cx="72838" cy="72838"/>
            </a:xfrm>
            <a:prstGeom prst="ellipse">
              <a:avLst/>
            </a:prstGeom>
            <a:solidFill>
              <a:schemeClr val="tx1"/>
            </a:solidFill>
            <a:ln/>
          </p:spPr>
          <p:txBody>
            <a:bodyPr>
              <a:noAutofit/>
            </a:bodyPr>
            <a:lstStyle/>
            <a:p>
              <a:r>
                <a:rPr lang="en-US" altLang="ja-JP" dirty="0"/>
                <a:t>A</a:t>
              </a:r>
              <a:endParaRPr lang="ja-JP" altLang="en-US"/>
            </a:p>
          </p:txBody>
        </p:sp>
        <p:cxnSp>
          <p:nvCxnSpPr>
            <p:cNvPr id="56" name="直線コネクタ 55">
              <a:extLst>
                <a:ext uri="{FF2B5EF4-FFF2-40B4-BE49-F238E27FC236}">
                  <a16:creationId xmlns:a16="http://schemas.microsoft.com/office/drawing/2014/main" id="{3A1A776B-33B1-9F11-FFA0-3A2B820C4E05}"/>
                </a:ext>
              </a:extLst>
            </p:cNvPr>
            <p:cNvCxnSpPr>
              <a:cxnSpLocks/>
            </p:cNvCxnSpPr>
            <p:nvPr/>
          </p:nvCxnSpPr>
          <p:spPr>
            <a:xfrm flipV="1">
              <a:off x="2585011" y="4909832"/>
              <a:ext cx="7625424" cy="105230"/>
            </a:xfrm>
            <a:prstGeom prst="line">
              <a:avLst/>
            </a:prstGeom>
            <a:ln w="25400" cmpd="sng">
              <a:solidFill>
                <a:schemeClr val="tx1">
                  <a:alpha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7" name="Shape 5">
              <a:extLst>
                <a:ext uri="{FF2B5EF4-FFF2-40B4-BE49-F238E27FC236}">
                  <a16:creationId xmlns:a16="http://schemas.microsoft.com/office/drawing/2014/main" id="{F8542579-EDC5-E055-07AE-ED5FF5F39947}"/>
                </a:ext>
              </a:extLst>
            </p:cNvPr>
            <p:cNvSpPr/>
            <p:nvPr/>
          </p:nvSpPr>
          <p:spPr>
            <a:xfrm>
              <a:off x="2778143" y="4986687"/>
              <a:ext cx="72838" cy="72838"/>
            </a:xfrm>
            <a:prstGeom prst="ellipse">
              <a:avLst/>
            </a:prstGeom>
            <a:solidFill>
              <a:schemeClr val="tx1"/>
            </a:solidFill>
            <a:ln/>
          </p:spPr>
          <p:txBody>
            <a:bodyPr/>
            <a:lstStyle/>
            <a:p>
              <a:r>
                <a:rPr lang="en-US" altLang="ja-JP" dirty="0"/>
                <a:t>R</a:t>
              </a:r>
              <a:endParaRPr lang="ja-JP" altLang="en-US"/>
            </a:p>
          </p:txBody>
        </p:sp>
        <p:sp>
          <p:nvSpPr>
            <p:cNvPr id="58" name="Shape 4">
              <a:extLst>
                <a:ext uri="{FF2B5EF4-FFF2-40B4-BE49-F238E27FC236}">
                  <a16:creationId xmlns:a16="http://schemas.microsoft.com/office/drawing/2014/main" id="{665B42F9-6DDF-243C-88C1-42AAC1552640}"/>
                </a:ext>
              </a:extLst>
            </p:cNvPr>
            <p:cNvSpPr/>
            <p:nvPr/>
          </p:nvSpPr>
          <p:spPr>
            <a:xfrm>
              <a:off x="6082434" y="4965888"/>
              <a:ext cx="72838" cy="72838"/>
            </a:xfrm>
            <a:prstGeom prst="ellipse">
              <a:avLst/>
            </a:prstGeom>
            <a:solidFill>
              <a:schemeClr val="tx1"/>
            </a:solidFill>
            <a:ln/>
          </p:spPr>
          <p:txBody>
            <a:bodyPr/>
            <a:lstStyle/>
            <a:p>
              <a:r>
                <a:rPr lang="en-US" altLang="ja-JP" dirty="0"/>
                <a:t>Q</a:t>
              </a:r>
              <a:endParaRPr lang="ja-JP" altLang="en-US"/>
            </a:p>
          </p:txBody>
        </p:sp>
        <p:sp>
          <p:nvSpPr>
            <p:cNvPr id="59" name="Shape 2">
              <a:extLst>
                <a:ext uri="{FF2B5EF4-FFF2-40B4-BE49-F238E27FC236}">
                  <a16:creationId xmlns:a16="http://schemas.microsoft.com/office/drawing/2014/main" id="{45E080E9-4151-9A06-FE33-F402BAEE6EF3}"/>
                </a:ext>
              </a:extLst>
            </p:cNvPr>
            <p:cNvSpPr/>
            <p:nvPr/>
          </p:nvSpPr>
          <p:spPr>
            <a:xfrm>
              <a:off x="9655954" y="4890875"/>
              <a:ext cx="72838" cy="72838"/>
            </a:xfrm>
            <a:prstGeom prst="ellipse">
              <a:avLst/>
            </a:prstGeom>
            <a:solidFill>
              <a:schemeClr val="tx1"/>
            </a:solidFill>
            <a:ln/>
          </p:spPr>
          <p:txBody>
            <a:bodyPr/>
            <a:lstStyle/>
            <a:p>
              <a:r>
                <a:rPr lang="en-US" altLang="ja-JP" dirty="0"/>
                <a:t>P</a:t>
              </a:r>
              <a:endParaRPr lang="ja-JP" altLang="en-US"/>
            </a:p>
          </p:txBody>
        </p:sp>
        <p:sp>
          <p:nvSpPr>
            <p:cNvPr id="60" name="Shape 6">
              <a:extLst>
                <a:ext uri="{FF2B5EF4-FFF2-40B4-BE49-F238E27FC236}">
                  <a16:creationId xmlns:a16="http://schemas.microsoft.com/office/drawing/2014/main" id="{D87EC02B-6C40-EE05-E403-6012F430F6E7}"/>
                </a:ext>
              </a:extLst>
            </p:cNvPr>
            <p:cNvSpPr/>
            <p:nvPr/>
          </p:nvSpPr>
          <p:spPr>
            <a:xfrm>
              <a:off x="4470997" y="29053"/>
              <a:ext cx="72838" cy="72838"/>
            </a:xfrm>
            <a:prstGeom prst="ellipse">
              <a:avLst/>
            </a:prstGeom>
            <a:solidFill>
              <a:schemeClr val="tx1"/>
            </a:solidFill>
            <a:ln/>
          </p:spPr>
          <p:txBody>
            <a:bodyPr>
              <a:noAutofit/>
            </a:bodyPr>
            <a:lstStyle/>
            <a:p>
              <a:r>
                <a:rPr lang="en-US" altLang="ja-JP" dirty="0"/>
                <a:t>Z</a:t>
              </a:r>
              <a:endParaRPr lang="ja-JP" altLang="en-US"/>
            </a:p>
          </p:txBody>
        </p:sp>
        <p:sp>
          <p:nvSpPr>
            <p:cNvPr id="61" name="Shape 3">
              <a:extLst>
                <a:ext uri="{FF2B5EF4-FFF2-40B4-BE49-F238E27FC236}">
                  <a16:creationId xmlns:a16="http://schemas.microsoft.com/office/drawing/2014/main" id="{09742D66-2918-864A-42A9-DEC2D7109E9A}"/>
                </a:ext>
              </a:extLst>
            </p:cNvPr>
            <p:cNvSpPr/>
            <p:nvPr/>
          </p:nvSpPr>
          <p:spPr>
            <a:xfrm>
              <a:off x="7868930" y="3192564"/>
              <a:ext cx="72838" cy="72838"/>
            </a:xfrm>
            <a:prstGeom prst="ellipse">
              <a:avLst/>
            </a:prstGeom>
            <a:solidFill>
              <a:schemeClr val="tx1"/>
            </a:solidFill>
            <a:ln/>
          </p:spPr>
          <p:txBody>
            <a:bodyPr/>
            <a:lstStyle/>
            <a:p>
              <a:r>
                <a:rPr lang="en-US" altLang="ja-JP" dirty="0"/>
                <a:t>X</a:t>
              </a:r>
              <a:endParaRPr lang="ja-JP" altLang="en-US"/>
            </a:p>
          </p:txBody>
        </p:sp>
        <p:sp>
          <p:nvSpPr>
            <p:cNvPr id="62" name="Shape 4">
              <a:extLst>
                <a:ext uri="{FF2B5EF4-FFF2-40B4-BE49-F238E27FC236}">
                  <a16:creationId xmlns:a16="http://schemas.microsoft.com/office/drawing/2014/main" id="{EAF31406-2D5D-2E5F-03EB-87B7E9BAF0E0}"/>
                </a:ext>
              </a:extLst>
            </p:cNvPr>
            <p:cNvSpPr/>
            <p:nvPr/>
          </p:nvSpPr>
          <p:spPr>
            <a:xfrm>
              <a:off x="5752405" y="3936597"/>
              <a:ext cx="72838" cy="72838"/>
            </a:xfrm>
            <a:prstGeom prst="ellipse">
              <a:avLst/>
            </a:prstGeom>
            <a:solidFill>
              <a:schemeClr val="tx1"/>
            </a:solidFill>
            <a:ln/>
          </p:spPr>
          <p:txBody>
            <a:bodyPr/>
            <a:lstStyle/>
            <a:p>
              <a:r>
                <a:rPr lang="en-US" altLang="ja-JP" dirty="0"/>
                <a:t>Y</a:t>
              </a:r>
              <a:endParaRPr lang="ja-JP" altLang="en-US"/>
            </a:p>
          </p:txBody>
        </p:sp>
      </p:grpSp>
      <p:cxnSp>
        <p:nvCxnSpPr>
          <p:cNvPr id="63" name="直線コネクタ 62">
            <a:extLst>
              <a:ext uri="{FF2B5EF4-FFF2-40B4-BE49-F238E27FC236}">
                <a16:creationId xmlns:a16="http://schemas.microsoft.com/office/drawing/2014/main" id="{56BB0D4B-EC31-674B-F62F-F53CDCFD64B7}"/>
              </a:ext>
            </a:extLst>
          </p:cNvPr>
          <p:cNvCxnSpPr>
            <a:cxnSpLocks/>
          </p:cNvCxnSpPr>
          <p:nvPr/>
        </p:nvCxnSpPr>
        <p:spPr>
          <a:xfrm flipH="1" flipV="1">
            <a:off x="6284808" y="2872195"/>
            <a:ext cx="2447959" cy="892544"/>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110C96D7-8405-7498-A295-2B075DAB78A4}"/>
              </a:ext>
            </a:extLst>
          </p:cNvPr>
          <p:cNvCxnSpPr>
            <a:cxnSpLocks/>
          </p:cNvCxnSpPr>
          <p:nvPr/>
        </p:nvCxnSpPr>
        <p:spPr>
          <a:xfrm>
            <a:off x="6296590" y="1581912"/>
            <a:ext cx="2368905" cy="2214171"/>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D42C661A-0A42-03D7-336A-18BC662C6761}"/>
              </a:ext>
            </a:extLst>
          </p:cNvPr>
          <p:cNvCxnSpPr>
            <a:cxnSpLocks/>
          </p:cNvCxnSpPr>
          <p:nvPr/>
        </p:nvCxnSpPr>
        <p:spPr>
          <a:xfrm flipV="1">
            <a:off x="6999456" y="2747532"/>
            <a:ext cx="732219" cy="104069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F0D33659-EA02-B965-3AF8-97B168A0F634}"/>
              </a:ext>
            </a:extLst>
          </p:cNvPr>
          <p:cNvCxnSpPr>
            <a:cxnSpLocks/>
          </p:cNvCxnSpPr>
          <p:nvPr/>
        </p:nvCxnSpPr>
        <p:spPr>
          <a:xfrm flipH="1" flipV="1">
            <a:off x="6375546" y="1591031"/>
            <a:ext cx="712277" cy="2201603"/>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8D9F24C6-C8B7-8F68-A515-3C7F8E0E8E4D}"/>
              </a:ext>
            </a:extLst>
          </p:cNvPr>
          <p:cNvCxnSpPr>
            <a:cxnSpLocks/>
          </p:cNvCxnSpPr>
          <p:nvPr/>
        </p:nvCxnSpPr>
        <p:spPr>
          <a:xfrm flipV="1">
            <a:off x="5577840" y="2930391"/>
            <a:ext cx="2398410" cy="834348"/>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564CDA00-D7B5-9BC4-82AE-1FBFD03279F6}"/>
              </a:ext>
            </a:extLst>
          </p:cNvPr>
          <p:cNvCxnSpPr>
            <a:cxnSpLocks/>
          </p:cNvCxnSpPr>
          <p:nvPr/>
        </p:nvCxnSpPr>
        <p:spPr>
          <a:xfrm flipV="1">
            <a:off x="5606288" y="1859063"/>
            <a:ext cx="1721166" cy="1975658"/>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down)">
                                      <p:cBhvr>
                                        <p:cTn id="7" dur="500"/>
                                        <p:tgtEl>
                                          <p:spTgt spid="64"/>
                                        </p:tgtEl>
                                      </p:cBhvr>
                                    </p:animEffect>
                                  </p:childTnLst>
                                  <p:subTnLst>
                                    <p:set>
                                      <p:cBhvr override="childStyle">
                                        <p:cTn dur="1" fill="hold" display="0" masterRel="nextClick" afterEffect="1"/>
                                        <p:tgtEl>
                                          <p:spTgt spid="64"/>
                                        </p:tgtEl>
                                        <p:attrNameLst>
                                          <p:attrName>style.visibility</p:attrName>
                                        </p:attrNameLst>
                                      </p:cBhvr>
                                      <p:to>
                                        <p:strVal val="hidden"/>
                                      </p:to>
                                    </p:set>
                                  </p:subTnLst>
                                </p:cTn>
                              </p:par>
                              <p:par>
                                <p:cTn id="8" presetID="22" presetClass="entr" presetSubtype="4" fill="hold"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wipe(down)">
                                      <p:cBhvr>
                                        <p:cTn id="10" dur="500"/>
                                        <p:tgtEl>
                                          <p:spTgt spid="63"/>
                                        </p:tgtEl>
                                      </p:cBhvr>
                                    </p:animEffect>
                                  </p:childTnLst>
                                  <p:subTnLst>
                                    <p:set>
                                      <p:cBhvr override="childStyle">
                                        <p:cTn dur="1" fill="hold" display="0" masterRel="nextClick" afterEffect="1"/>
                                        <p:tgtEl>
                                          <p:spTgt spid="6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p:tgtEl>
                                          <p:spTgt spid="9"/>
                                        </p:tgtEl>
                                        <p:attrNameLst>
                                          <p:attrName>ppt_y</p:attrName>
                                        </p:attrNameLst>
                                      </p:cBhvr>
                                      <p:tavLst>
                                        <p:tav tm="0">
                                          <p:val>
                                            <p:strVal val="#ppt_y+#ppt_h*1.125000"/>
                                          </p:val>
                                        </p:tav>
                                        <p:tav tm="100000">
                                          <p:val>
                                            <p:strVal val="#ppt_y"/>
                                          </p:val>
                                        </p:tav>
                                      </p:tavLst>
                                    </p:anim>
                                    <p:animEffect transition="in" filter="wipe(up)">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wipe(down)">
                                      <p:cBhvr>
                                        <p:cTn id="21" dur="500"/>
                                        <p:tgtEl>
                                          <p:spTgt spid="65"/>
                                        </p:tgtEl>
                                      </p:cBhvr>
                                    </p:animEffect>
                                  </p:childTnLst>
                                  <p:subTnLst>
                                    <p:set>
                                      <p:cBhvr override="childStyle">
                                        <p:cTn dur="1" fill="hold" display="0" masterRel="nextClick" afterEffect="1"/>
                                        <p:tgtEl>
                                          <p:spTgt spid="65"/>
                                        </p:tgtEl>
                                        <p:attrNameLst>
                                          <p:attrName>style.visibility</p:attrName>
                                        </p:attrNameLst>
                                      </p:cBhvr>
                                      <p:to>
                                        <p:strVal val="hidden"/>
                                      </p:to>
                                    </p:set>
                                  </p:subTnLst>
                                </p:cTn>
                              </p:par>
                              <p:par>
                                <p:cTn id="22" presetID="22" presetClass="entr" presetSubtype="4" fill="hold"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wipe(down)">
                                      <p:cBhvr>
                                        <p:cTn id="24" dur="500"/>
                                        <p:tgtEl>
                                          <p:spTgt spid="66"/>
                                        </p:tgtEl>
                                      </p:cBhvr>
                                    </p:animEffect>
                                  </p:childTnLst>
                                  <p:subTnLst>
                                    <p:set>
                                      <p:cBhvr override="childStyle">
                                        <p:cTn dur="1" fill="hold" display="0" masterRel="nextClick" afterEffect="1"/>
                                        <p:tgtEl>
                                          <p:spTgt spid="66"/>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p:tgtEl>
                                          <p:spTgt spid="13"/>
                                        </p:tgtEl>
                                        <p:attrNameLst>
                                          <p:attrName>ppt_y</p:attrName>
                                        </p:attrNameLst>
                                      </p:cBhvr>
                                      <p:tavLst>
                                        <p:tav tm="0">
                                          <p:val>
                                            <p:strVal val="#ppt_y+#ppt_h*1.125000"/>
                                          </p:val>
                                        </p:tav>
                                        <p:tav tm="100000">
                                          <p:val>
                                            <p:strVal val="#ppt_y"/>
                                          </p:val>
                                        </p:tav>
                                      </p:tavLst>
                                    </p:anim>
                                    <p:animEffect transition="in" filter="wipe(up)">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wipe(down)">
                                      <p:cBhvr>
                                        <p:cTn id="35"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subTnLst>
                                </p:cTn>
                              </p:par>
                              <p:par>
                                <p:cTn id="36" presetID="22" presetClass="entr" presetSubtype="4" fill="hold" nodeType="with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wipe(down)">
                                      <p:cBhvr>
                                        <p:cTn id="38" dur="500"/>
                                        <p:tgtEl>
                                          <p:spTgt spid="68"/>
                                        </p:tgtEl>
                                      </p:cBhvr>
                                    </p:animEffect>
                                  </p:childTnLst>
                                  <p:subTnLst>
                                    <p:set>
                                      <p:cBhvr override="childStyle">
                                        <p:cTn dur="1" fill="hold" display="0" masterRel="nextClick" afterEffect="1"/>
                                        <p:tgtEl>
                                          <p:spTgt spid="68"/>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p:tgtEl>
                                          <p:spTgt spid="17"/>
                                        </p:tgtEl>
                                        <p:attrNameLst>
                                          <p:attrName>ppt_y</p:attrName>
                                        </p:attrNameLst>
                                      </p:cBhvr>
                                      <p:tavLst>
                                        <p:tav tm="0">
                                          <p:val>
                                            <p:strVal val="#ppt_y+#ppt_h*1.125000"/>
                                          </p:val>
                                        </p:tav>
                                        <p:tav tm="100000">
                                          <p:val>
                                            <p:strVal val="#ppt_y"/>
                                          </p:val>
                                        </p:tav>
                                      </p:tavLst>
                                    </p:anim>
                                    <p:animEffect transition="in" filter="wipe(up)">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303D2-CB08-5311-8C8A-8E189EB4B2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6040A6-2CB9-6073-C7B6-43D5585F1DB0}"/>
              </a:ext>
            </a:extLst>
          </p:cNvPr>
          <p:cNvSpPr/>
          <p:nvPr/>
        </p:nvSpPr>
        <p:spPr>
          <a:xfrm>
            <a:off x="0" y="0"/>
            <a:ext cx="109728" cy="5143500"/>
          </a:xfrm>
          <a:prstGeom prst="rect">
            <a:avLst/>
          </a:prstGeom>
          <a:solidFill>
            <a:srgbClr val="CC6600"/>
          </a:solidFill>
          <a:ln/>
        </p:spPr>
        <p:txBody>
          <a:bodyPr/>
          <a:lstStyle/>
          <a:p>
            <a:endParaRPr lang="ja-JP" altLang="en-US"/>
          </a:p>
        </p:txBody>
      </p:sp>
      <p:sp>
        <p:nvSpPr>
          <p:cNvPr id="3" name="Text 1">
            <a:extLst>
              <a:ext uri="{FF2B5EF4-FFF2-40B4-BE49-F238E27FC236}">
                <a16:creationId xmlns:a16="http://schemas.microsoft.com/office/drawing/2014/main" id="{2A9FCD0F-1CFD-0A86-FC6B-C89BEEEC0271}"/>
              </a:ext>
            </a:extLst>
          </p:cNvPr>
          <p:cNvSpPr/>
          <p:nvPr/>
        </p:nvSpPr>
        <p:spPr>
          <a:xfrm>
            <a:off x="502920" y="292608"/>
            <a:ext cx="5486400" cy="274320"/>
          </a:xfrm>
          <a:prstGeom prst="rect">
            <a:avLst/>
          </a:prstGeom>
          <a:noFill/>
          <a:ln/>
        </p:spPr>
        <p:txBody>
          <a:bodyPr wrap="square" rtlCol="0" anchor="ctr"/>
          <a:lstStyle/>
          <a:p>
            <a:r>
              <a:rPr lang="en-US" altLang="ja-JP" sz="1200" b="1" kern="0" spc="200" dirty="0">
                <a:solidFill>
                  <a:srgbClr val="339933"/>
                </a:solidFill>
                <a:latin typeface="Yu Gothic" pitchFamily="34" charset="0"/>
                <a:ea typeface="Yu Gothic" pitchFamily="34" charset="-122"/>
                <a:cs typeface="Yu Gothic" pitchFamily="34" charset="-120"/>
              </a:rPr>
              <a:t>STEP 4 ·COMBINE </a:t>
            </a:r>
            <a:endParaRPr lang="en-US" altLang="ja-JP" sz="1200" dirty="0"/>
          </a:p>
        </p:txBody>
      </p:sp>
      <p:sp>
        <p:nvSpPr>
          <p:cNvPr id="4" name="Text 2">
            <a:extLst>
              <a:ext uri="{FF2B5EF4-FFF2-40B4-BE49-F238E27FC236}">
                <a16:creationId xmlns:a16="http://schemas.microsoft.com/office/drawing/2014/main" id="{34044B76-513D-9E5C-1DF2-A1A7E1A13F6E}"/>
              </a:ext>
            </a:extLst>
          </p:cNvPr>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err="1">
                <a:solidFill>
                  <a:srgbClr val="000000"/>
                </a:solidFill>
                <a:latin typeface="Yu Mincho" pitchFamily="34" charset="0"/>
                <a:ea typeface="Yu Mincho" pitchFamily="34" charset="-122"/>
              </a:rPr>
              <a:t>統合</a:t>
            </a:r>
            <a:endParaRPr lang="en-US" sz="3000" dirty="0"/>
          </a:p>
        </p:txBody>
      </p:sp>
      <p:sp>
        <p:nvSpPr>
          <p:cNvPr id="5" name="Text 3">
            <a:extLst>
              <a:ext uri="{FF2B5EF4-FFF2-40B4-BE49-F238E27FC236}">
                <a16:creationId xmlns:a16="http://schemas.microsoft.com/office/drawing/2014/main" id="{A5BE2D98-3467-07DA-E1F8-892B2ECF262D}"/>
              </a:ext>
            </a:extLst>
          </p:cNvPr>
          <p:cNvSpPr/>
          <p:nvPr/>
        </p:nvSpPr>
        <p:spPr>
          <a:xfrm>
            <a:off x="457200" y="1325880"/>
            <a:ext cx="8229600" cy="32004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 に方べきの結果を代入すると：</a:t>
            </a:r>
            <a:endParaRPr lang="en-US" sz="1300" dirty="0"/>
          </a:p>
        </p:txBody>
      </p:sp>
      <p:sp>
        <p:nvSpPr>
          <p:cNvPr id="6" name="Shape 4">
            <a:extLst>
              <a:ext uri="{FF2B5EF4-FFF2-40B4-BE49-F238E27FC236}">
                <a16:creationId xmlns:a16="http://schemas.microsoft.com/office/drawing/2014/main" id="{81919499-4F3E-D729-EBBA-B6709047B7B6}"/>
              </a:ext>
            </a:extLst>
          </p:cNvPr>
          <p:cNvSpPr/>
          <p:nvPr/>
        </p:nvSpPr>
        <p:spPr>
          <a:xfrm>
            <a:off x="457200" y="1737360"/>
            <a:ext cx="8229600" cy="868680"/>
          </a:xfrm>
          <a:prstGeom prst="rect">
            <a:avLst/>
          </a:prstGeom>
          <a:solidFill>
            <a:srgbClr val="FFFFFF"/>
          </a:solidFill>
          <a:ln w="16510">
            <a:solidFill>
              <a:srgbClr val="CC6600"/>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a:extLst>
                  <a:ext uri="{FF2B5EF4-FFF2-40B4-BE49-F238E27FC236}">
                    <a16:creationId xmlns:a16="http://schemas.microsoft.com/office/drawing/2014/main" id="{FE341AF2-F4EA-5A87-3E31-77BF0AA15FF2}"/>
                  </a:ext>
                </a:extLst>
              </p:cNvPr>
              <p:cNvSpPr/>
              <p:nvPr/>
            </p:nvSpPr>
            <p:spPr>
              <a:xfrm>
                <a:off x="457200" y="1737360"/>
                <a:ext cx="8229600" cy="868680"/>
              </a:xfrm>
              <a:prstGeom prst="rect">
                <a:avLst/>
              </a:prstGeom>
              <a:noFill/>
              <a:ln/>
            </p:spPr>
            <p:txBody>
              <a:bodyPr wrap="square" lIns="0" tIns="0" rIns="0" bIns="0" rtlCol="0" anchor="ctr"/>
              <a:lstStyle/>
              <a:p>
                <a:pPr algn="ctr"/>
                <a14:m>
                  <m:oMath xmlns:m="http://schemas.openxmlformats.org/officeDocument/2006/math">
                    <m:f>
                      <m:fPr>
                        <m:ctrl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XB</m:t>
                        </m:r>
                      </m:den>
                    </m:f>
                    <m: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XA</m:t>
                        </m:r>
                      </m:den>
                    </m:f>
                    <m:r>
                      <a:rPr lang="en-US" altLang="ja-JP" sz="2000" i="1" smtClean="0">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YD</m:t>
                        </m:r>
                      </m:den>
                    </m:f>
                    <m: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sz="2000" i="1">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sz="2000"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ZE</m:t>
                        </m:r>
                      </m:den>
                    </m:f>
                    <m: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sz="2000" i="1">
                            <a:solidFill>
                              <a:schemeClr val="accent6"/>
                            </a:solidFill>
                            <a:latin typeface="Cambria Math" panose="02040503050406030204" pitchFamily="18" charset="0"/>
                            <a:ea typeface="Cambria Math" panose="02040503050406030204" pitchFamily="18" charset="0"/>
                            <a:cs typeface="Consolas" pitchFamily="34" charset="-120"/>
                          </a:rPr>
                          <m:t>ZF</m:t>
                        </m:r>
                      </m:den>
                    </m:f>
                  </m:oMath>
                </a14:m>
                <a:r>
                  <a:rPr lang="en-US" sz="2200" b="1" dirty="0">
                    <a:solidFill>
                      <a:srgbClr val="CC6600"/>
                    </a:solidFill>
                    <a:latin typeface="Consolas" pitchFamily="34" charset="0"/>
                    <a:ea typeface="Consolas" pitchFamily="34" charset="-122"/>
                    <a:cs typeface="Consolas" pitchFamily="34" charset="-120"/>
                  </a:rPr>
                  <a:t> =  1 · 1 · 1  =  1</a:t>
                </a:r>
                <a:endParaRPr lang="en-US" sz="2200" dirty="0"/>
              </a:p>
            </p:txBody>
          </p:sp>
        </mc:Choice>
        <mc:Fallback>
          <p:sp>
            <p:nvSpPr>
              <p:cNvPr id="7" name="Text 5">
                <a:extLst>
                  <a:ext uri="{FF2B5EF4-FFF2-40B4-BE49-F238E27FC236}">
                    <a16:creationId xmlns:a16="http://schemas.microsoft.com/office/drawing/2014/main" id="{FE341AF2-F4EA-5A87-3E31-77BF0AA15FF2}"/>
                  </a:ext>
                </a:extLst>
              </p:cNvPr>
              <p:cNvSpPr>
                <a:spLocks noRot="1" noChangeAspect="1" noMove="1" noResize="1" noEditPoints="1" noAdjustHandles="1" noChangeArrowheads="1" noChangeShapeType="1" noTextEdit="1"/>
              </p:cNvSpPr>
              <p:nvPr/>
            </p:nvSpPr>
            <p:spPr>
              <a:xfrm>
                <a:off x="457200" y="1737360"/>
                <a:ext cx="8229600" cy="868680"/>
              </a:xfrm>
              <a:prstGeom prst="rect">
                <a:avLst/>
              </a:prstGeom>
              <a:blipFill>
                <a:blip r:embed="rId3"/>
                <a:stretch>
                  <a:fillRect/>
                </a:stretch>
              </a:blipFill>
              <a:ln/>
            </p:spPr>
            <p:txBody>
              <a:bodyPr/>
              <a:lstStyle/>
              <a:p>
                <a:r>
                  <a:rPr lang="ja-JP" altLang="en-US">
                    <a:noFill/>
                  </a:rPr>
                  <a:t> </a:t>
                </a:r>
              </a:p>
            </p:txBody>
          </p:sp>
        </mc:Fallback>
      </mc:AlternateContent>
      <p:sp>
        <p:nvSpPr>
          <p:cNvPr id="12" name="Text 10">
            <a:extLst>
              <a:ext uri="{FF2B5EF4-FFF2-40B4-BE49-F238E27FC236}">
                <a16:creationId xmlns:a16="http://schemas.microsoft.com/office/drawing/2014/main" id="{7E942E72-8051-8D7B-7AB1-F6D2C8C57BFB}"/>
              </a:ext>
            </a:extLst>
          </p:cNvPr>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3" name="Text 11">
            <a:extLst>
              <a:ext uri="{FF2B5EF4-FFF2-40B4-BE49-F238E27FC236}">
                <a16:creationId xmlns:a16="http://schemas.microsoft.com/office/drawing/2014/main" id="{42D7A3DD-7BEE-A749-1C6E-C595EC95722F}"/>
              </a:ext>
            </a:extLst>
          </p:cNvPr>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12</a:t>
            </a:r>
            <a:endParaRPr lang="en-US" sz="1000" dirty="0"/>
          </a:p>
        </p:txBody>
      </p:sp>
      <p:sp>
        <p:nvSpPr>
          <p:cNvPr id="14" name="Shape 9">
            <a:extLst>
              <a:ext uri="{FF2B5EF4-FFF2-40B4-BE49-F238E27FC236}">
                <a16:creationId xmlns:a16="http://schemas.microsoft.com/office/drawing/2014/main" id="{7199CBE1-4FF4-B492-495D-F7A1B1D29755}"/>
              </a:ext>
            </a:extLst>
          </p:cNvPr>
          <p:cNvSpPr/>
          <p:nvPr/>
        </p:nvSpPr>
        <p:spPr>
          <a:xfrm>
            <a:off x="457200" y="2970011"/>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5" name="Shape 10">
            <a:extLst>
              <a:ext uri="{FF2B5EF4-FFF2-40B4-BE49-F238E27FC236}">
                <a16:creationId xmlns:a16="http://schemas.microsoft.com/office/drawing/2014/main" id="{89AFC584-0CDB-0F94-891E-DE7FF825BF4A}"/>
              </a:ext>
            </a:extLst>
          </p:cNvPr>
          <p:cNvSpPr/>
          <p:nvPr/>
        </p:nvSpPr>
        <p:spPr>
          <a:xfrm>
            <a:off x="457200" y="2970011"/>
            <a:ext cx="2606040" cy="54864"/>
          </a:xfrm>
          <a:prstGeom prst="rect">
            <a:avLst/>
          </a:prstGeom>
          <a:solidFill>
            <a:schemeClr val="accent2"/>
          </a:solidFill>
          <a:ln/>
        </p:spPr>
        <p:txBody>
          <a:bodyPr/>
          <a:lstStyle/>
          <a:p>
            <a:endParaRPr lang="ja-JP" altLang="en-US"/>
          </a:p>
        </p:txBody>
      </p:sp>
      <p:sp>
        <p:nvSpPr>
          <p:cNvPr id="16" name="Text 11">
            <a:extLst>
              <a:ext uri="{FF2B5EF4-FFF2-40B4-BE49-F238E27FC236}">
                <a16:creationId xmlns:a16="http://schemas.microsoft.com/office/drawing/2014/main" id="{E6AE8622-15BC-91DE-566E-2436E8924DBA}"/>
              </a:ext>
            </a:extLst>
          </p:cNvPr>
          <p:cNvSpPr/>
          <p:nvPr/>
        </p:nvSpPr>
        <p:spPr>
          <a:xfrm>
            <a:off x="594360" y="3079739"/>
            <a:ext cx="2377440" cy="274320"/>
          </a:xfrm>
          <a:prstGeom prst="rect">
            <a:avLst/>
          </a:prstGeom>
          <a:noFill/>
          <a:ln/>
        </p:spPr>
        <p:txBody>
          <a:bodyPr wrap="square" lIns="0" tIns="0" rIns="0" bIns="0" rtlCol="0" anchor="ctr"/>
          <a:lstStyle/>
          <a:p>
            <a:pPr marL="0" indent="0">
              <a:buNone/>
            </a:pPr>
            <a:r>
              <a:rPr lang="en-US" sz="1100" b="1" dirty="0">
                <a:solidFill>
                  <a:schemeClr val="accent2"/>
                </a:solidFill>
                <a:latin typeface="Yu Gothic" pitchFamily="34" charset="0"/>
                <a:ea typeface="Yu Gothic" pitchFamily="34" charset="-122"/>
                <a:cs typeface="Yu Gothic" pitchFamily="34" charset="-120"/>
              </a:rPr>
              <a:t>頂点 X のカタマリ</a:t>
            </a:r>
            <a:endParaRPr lang="en-US" sz="1100" dirty="0">
              <a:solidFill>
                <a:schemeClr val="accent2"/>
              </a:solidFill>
            </a:endParaRPr>
          </a:p>
        </p:txBody>
      </p:sp>
      <mc:AlternateContent xmlns:mc="http://schemas.openxmlformats.org/markup-compatibility/2006">
        <mc:Choice xmlns:a14="http://schemas.microsoft.com/office/drawing/2010/main" Requires="a14">
          <p:sp>
            <p:nvSpPr>
              <p:cNvPr id="17" name="Text 12">
                <a:extLst>
                  <a:ext uri="{FF2B5EF4-FFF2-40B4-BE49-F238E27FC236}">
                    <a16:creationId xmlns:a16="http://schemas.microsoft.com/office/drawing/2014/main" id="{B9E9E29D-DAAF-BCF9-B37F-2155F134FF00}"/>
                  </a:ext>
                </a:extLst>
              </p:cNvPr>
              <p:cNvSpPr/>
              <p:nvPr/>
            </p:nvSpPr>
            <p:spPr>
              <a:xfrm>
                <a:off x="594360" y="3381491"/>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DX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XB</m:t>
                          </m:r>
                        </m:den>
                      </m:f>
                      <m: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CX</m:t>
                          </m:r>
                        </m:num>
                        <m:den>
                          <m:r>
                            <m:rPr>
                              <m:sty m:val="p"/>
                            </m:rPr>
                            <a:rPr lang="en-US" altLang="ja-JP" i="1">
                              <a:solidFill>
                                <a:schemeClr val="accent2"/>
                              </a:solidFill>
                              <a:latin typeface="Cambria Math" panose="02040503050406030204" pitchFamily="18" charset="0"/>
                              <a:ea typeface="Cambria Math" panose="02040503050406030204" pitchFamily="18" charset="0"/>
                              <a:cs typeface="Consolas" pitchFamily="34" charset="-120"/>
                            </a:rPr>
                            <m:t>XA</m:t>
                          </m:r>
                        </m:den>
                      </m:f>
                      <m:r>
                        <a:rPr lang="en-US" altLang="ja-JP" i="1" smtClean="0">
                          <a:solidFill>
                            <a:schemeClr val="accent2"/>
                          </a:solidFill>
                          <a:latin typeface="Cambria Math" panose="02040503050406030204" pitchFamily="18" charset="0"/>
                          <a:ea typeface="Cambria Math" panose="02040503050406030204" pitchFamily="18" charset="0"/>
                          <a:cs typeface="Consolas" pitchFamily="34" charset="-120"/>
                        </a:rPr>
                        <m:t>=1</m:t>
                      </m:r>
                    </m:oMath>
                  </m:oMathPara>
                </a14:m>
                <a:endParaRPr lang="en-US" dirty="0"/>
              </a:p>
            </p:txBody>
          </p:sp>
        </mc:Choice>
        <mc:Fallback>
          <p:sp>
            <p:nvSpPr>
              <p:cNvPr id="17" name="Text 12">
                <a:extLst>
                  <a:ext uri="{FF2B5EF4-FFF2-40B4-BE49-F238E27FC236}">
                    <a16:creationId xmlns:a16="http://schemas.microsoft.com/office/drawing/2014/main" id="{B9E9E29D-DAAF-BCF9-B37F-2155F134FF00}"/>
                  </a:ext>
                </a:extLst>
              </p:cNvPr>
              <p:cNvSpPr>
                <a:spLocks noRot="1" noChangeAspect="1" noMove="1" noResize="1" noEditPoints="1" noAdjustHandles="1" noChangeArrowheads="1" noChangeShapeType="1" noTextEdit="1"/>
              </p:cNvSpPr>
              <p:nvPr/>
            </p:nvSpPr>
            <p:spPr>
              <a:xfrm>
                <a:off x="594360" y="3381491"/>
                <a:ext cx="2377440" cy="502920"/>
              </a:xfrm>
              <a:prstGeom prst="rect">
                <a:avLst/>
              </a:prstGeom>
              <a:blipFill>
                <a:blip r:embed="rId4"/>
                <a:stretch>
                  <a:fillRect t="-7500" b="-15000"/>
                </a:stretch>
              </a:blipFill>
              <a:ln/>
            </p:spPr>
            <p:txBody>
              <a:bodyPr/>
              <a:lstStyle/>
              <a:p>
                <a:r>
                  <a:rPr lang="ja-JP" altLang="en-US">
                    <a:noFill/>
                  </a:rPr>
                  <a:t> </a:t>
                </a:r>
              </a:p>
            </p:txBody>
          </p:sp>
        </mc:Fallback>
      </mc:AlternateContent>
      <p:sp>
        <p:nvSpPr>
          <p:cNvPr id="18" name="Shape 13">
            <a:extLst>
              <a:ext uri="{FF2B5EF4-FFF2-40B4-BE49-F238E27FC236}">
                <a16:creationId xmlns:a16="http://schemas.microsoft.com/office/drawing/2014/main" id="{7072FA21-2480-2530-8900-F9F83404F2E9}"/>
              </a:ext>
            </a:extLst>
          </p:cNvPr>
          <p:cNvSpPr/>
          <p:nvPr/>
        </p:nvSpPr>
        <p:spPr>
          <a:xfrm>
            <a:off x="3246120" y="2970011"/>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19" name="Shape 14">
            <a:extLst>
              <a:ext uri="{FF2B5EF4-FFF2-40B4-BE49-F238E27FC236}">
                <a16:creationId xmlns:a16="http://schemas.microsoft.com/office/drawing/2014/main" id="{1C701838-259F-470A-DD3B-B82C8F17C5AF}"/>
              </a:ext>
            </a:extLst>
          </p:cNvPr>
          <p:cNvSpPr/>
          <p:nvPr/>
        </p:nvSpPr>
        <p:spPr>
          <a:xfrm>
            <a:off x="3246120" y="2970011"/>
            <a:ext cx="2606040" cy="54864"/>
          </a:xfrm>
          <a:prstGeom prst="rect">
            <a:avLst/>
          </a:prstGeom>
          <a:solidFill>
            <a:srgbClr val="336699"/>
          </a:solidFill>
          <a:ln/>
        </p:spPr>
        <p:txBody>
          <a:bodyPr/>
          <a:lstStyle/>
          <a:p>
            <a:endParaRPr lang="ja-JP" altLang="en-US"/>
          </a:p>
        </p:txBody>
      </p:sp>
      <p:sp>
        <p:nvSpPr>
          <p:cNvPr id="20" name="Text 15">
            <a:extLst>
              <a:ext uri="{FF2B5EF4-FFF2-40B4-BE49-F238E27FC236}">
                <a16:creationId xmlns:a16="http://schemas.microsoft.com/office/drawing/2014/main" id="{383DA2A2-57BE-0FC1-57F8-CCABA881EACE}"/>
              </a:ext>
            </a:extLst>
          </p:cNvPr>
          <p:cNvSpPr/>
          <p:nvPr/>
        </p:nvSpPr>
        <p:spPr>
          <a:xfrm>
            <a:off x="3383280" y="3079739"/>
            <a:ext cx="2377440" cy="274320"/>
          </a:xfrm>
          <a:prstGeom prst="rect">
            <a:avLst/>
          </a:prstGeom>
          <a:noFill/>
          <a:ln/>
        </p:spPr>
        <p:txBody>
          <a:bodyPr wrap="square" lIns="0" tIns="0" rIns="0" bIns="0" rtlCol="0" anchor="ctr"/>
          <a:lstStyle/>
          <a:p>
            <a:pPr marL="0" indent="0">
              <a:buNone/>
            </a:pPr>
            <a:r>
              <a:rPr lang="en-US" sz="1100" b="1" dirty="0">
                <a:solidFill>
                  <a:srgbClr val="336699"/>
                </a:solidFill>
                <a:latin typeface="Yu Gothic" pitchFamily="34" charset="0"/>
                <a:ea typeface="Yu Gothic" pitchFamily="34" charset="-122"/>
                <a:cs typeface="Yu Gothic" pitchFamily="34" charset="-120"/>
              </a:rPr>
              <a:t>頂点 Y のカタマリ</a:t>
            </a:r>
            <a:endParaRPr lang="en-US" sz="1100" dirty="0"/>
          </a:p>
        </p:txBody>
      </p:sp>
      <mc:AlternateContent xmlns:mc="http://schemas.openxmlformats.org/markup-compatibility/2006">
        <mc:Choice xmlns:a14="http://schemas.microsoft.com/office/drawing/2010/main" Requires="a14">
          <p:sp>
            <p:nvSpPr>
              <p:cNvPr id="21" name="Text 16">
                <a:extLst>
                  <a:ext uri="{FF2B5EF4-FFF2-40B4-BE49-F238E27FC236}">
                    <a16:creationId xmlns:a16="http://schemas.microsoft.com/office/drawing/2014/main" id="{6AD4725A-5E0F-9705-E0FB-10CFEBF48679}"/>
                  </a:ext>
                </a:extLst>
              </p:cNvPr>
              <p:cNvSpPr/>
              <p:nvPr/>
            </p:nvSpPr>
            <p:spPr>
              <a:xfrm>
                <a:off x="3383280" y="3381491"/>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smtClean="0">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EY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YD</m:t>
                          </m:r>
                        </m:den>
                      </m:f>
                      <m: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FY</m:t>
                          </m:r>
                        </m:num>
                        <m:den>
                          <m:r>
                            <m:rPr>
                              <m:sty m:val="p"/>
                            </m:rPr>
                            <a:rPr lang="en-US" altLang="ja-JP" i="1">
                              <a:solidFill>
                                <a:schemeClr val="accent1"/>
                              </a:solidFill>
                              <a:latin typeface="Cambria Math" panose="02040503050406030204" pitchFamily="18" charset="0"/>
                              <a:ea typeface="Cambria Math" panose="02040503050406030204" pitchFamily="18" charset="0"/>
                              <a:cs typeface="Consolas" pitchFamily="34" charset="-120"/>
                            </a:rPr>
                            <m:t>YC</m:t>
                          </m:r>
                        </m:den>
                      </m:f>
                      <m:r>
                        <a:rPr lang="en-US" altLang="ja-JP" i="1" smtClean="0">
                          <a:solidFill>
                            <a:schemeClr val="accent1"/>
                          </a:solidFill>
                          <a:latin typeface="Cambria Math" panose="02040503050406030204" pitchFamily="18" charset="0"/>
                          <a:ea typeface="Cambria Math" panose="02040503050406030204" pitchFamily="18" charset="0"/>
                          <a:cs typeface="Consolas" pitchFamily="34" charset="-120"/>
                        </a:rPr>
                        <m:t>=1</m:t>
                      </m:r>
                    </m:oMath>
                  </m:oMathPara>
                </a14:m>
                <a:endParaRPr lang="en-US" dirty="0">
                  <a:solidFill>
                    <a:schemeClr val="accent1"/>
                  </a:solidFill>
                </a:endParaRPr>
              </a:p>
            </p:txBody>
          </p:sp>
        </mc:Choice>
        <mc:Fallback>
          <p:sp>
            <p:nvSpPr>
              <p:cNvPr id="21" name="Text 16">
                <a:extLst>
                  <a:ext uri="{FF2B5EF4-FFF2-40B4-BE49-F238E27FC236}">
                    <a16:creationId xmlns:a16="http://schemas.microsoft.com/office/drawing/2014/main" id="{6AD4725A-5E0F-9705-E0FB-10CFEBF48679}"/>
                  </a:ext>
                </a:extLst>
              </p:cNvPr>
              <p:cNvSpPr>
                <a:spLocks noRot="1" noChangeAspect="1" noMove="1" noResize="1" noEditPoints="1" noAdjustHandles="1" noChangeArrowheads="1" noChangeShapeType="1" noTextEdit="1"/>
              </p:cNvSpPr>
              <p:nvPr/>
            </p:nvSpPr>
            <p:spPr>
              <a:xfrm>
                <a:off x="3383280" y="3381491"/>
                <a:ext cx="2377440" cy="502920"/>
              </a:xfrm>
              <a:prstGeom prst="rect">
                <a:avLst/>
              </a:prstGeom>
              <a:blipFill>
                <a:blip r:embed="rId5"/>
                <a:stretch>
                  <a:fillRect t="-5000" b="-15000"/>
                </a:stretch>
              </a:blipFill>
              <a:ln/>
            </p:spPr>
            <p:txBody>
              <a:bodyPr/>
              <a:lstStyle/>
              <a:p>
                <a:r>
                  <a:rPr lang="ja-JP" altLang="en-US">
                    <a:noFill/>
                  </a:rPr>
                  <a:t> </a:t>
                </a:r>
              </a:p>
            </p:txBody>
          </p:sp>
        </mc:Fallback>
      </mc:AlternateContent>
      <p:sp>
        <p:nvSpPr>
          <p:cNvPr id="22" name="Shape 17">
            <a:extLst>
              <a:ext uri="{FF2B5EF4-FFF2-40B4-BE49-F238E27FC236}">
                <a16:creationId xmlns:a16="http://schemas.microsoft.com/office/drawing/2014/main" id="{3CD602E9-1462-8C54-FE58-5EB0430E0FD9}"/>
              </a:ext>
            </a:extLst>
          </p:cNvPr>
          <p:cNvSpPr/>
          <p:nvPr/>
        </p:nvSpPr>
        <p:spPr>
          <a:xfrm>
            <a:off x="6035040" y="2970011"/>
            <a:ext cx="2606040" cy="1005840"/>
          </a:xfrm>
          <a:prstGeom prst="rect">
            <a:avLst/>
          </a:prstGeom>
          <a:solidFill>
            <a:srgbClr val="FFFFFF"/>
          </a:solidFill>
          <a:ln w="9525">
            <a:solidFill>
              <a:srgbClr val="999999"/>
            </a:solidFill>
            <a:prstDash val="solid"/>
          </a:ln>
        </p:spPr>
        <p:txBody>
          <a:bodyPr/>
          <a:lstStyle/>
          <a:p>
            <a:endParaRPr lang="ja-JP" altLang="en-US"/>
          </a:p>
        </p:txBody>
      </p:sp>
      <p:sp>
        <p:nvSpPr>
          <p:cNvPr id="23" name="Shape 18">
            <a:extLst>
              <a:ext uri="{FF2B5EF4-FFF2-40B4-BE49-F238E27FC236}">
                <a16:creationId xmlns:a16="http://schemas.microsoft.com/office/drawing/2014/main" id="{1828110E-6F72-1B8E-E9C3-2AD647AD642C}"/>
              </a:ext>
            </a:extLst>
          </p:cNvPr>
          <p:cNvSpPr/>
          <p:nvPr/>
        </p:nvSpPr>
        <p:spPr>
          <a:xfrm>
            <a:off x="6035040" y="2970011"/>
            <a:ext cx="2606040" cy="54864"/>
          </a:xfrm>
          <a:prstGeom prst="rect">
            <a:avLst/>
          </a:prstGeom>
          <a:solidFill>
            <a:srgbClr val="339933"/>
          </a:solidFill>
          <a:ln/>
        </p:spPr>
        <p:txBody>
          <a:bodyPr/>
          <a:lstStyle/>
          <a:p>
            <a:endParaRPr lang="ja-JP" altLang="en-US"/>
          </a:p>
        </p:txBody>
      </p:sp>
      <p:sp>
        <p:nvSpPr>
          <p:cNvPr id="24" name="Text 19">
            <a:extLst>
              <a:ext uri="{FF2B5EF4-FFF2-40B4-BE49-F238E27FC236}">
                <a16:creationId xmlns:a16="http://schemas.microsoft.com/office/drawing/2014/main" id="{203B6851-048D-3555-D457-7A9251B53835}"/>
              </a:ext>
            </a:extLst>
          </p:cNvPr>
          <p:cNvSpPr/>
          <p:nvPr/>
        </p:nvSpPr>
        <p:spPr>
          <a:xfrm>
            <a:off x="6172200" y="3079739"/>
            <a:ext cx="2377440" cy="274320"/>
          </a:xfrm>
          <a:prstGeom prst="rect">
            <a:avLst/>
          </a:prstGeom>
          <a:noFill/>
          <a:ln/>
        </p:spPr>
        <p:txBody>
          <a:bodyPr wrap="square" lIns="0" tIns="0" rIns="0" bIns="0" rtlCol="0" anchor="ctr"/>
          <a:lstStyle/>
          <a:p>
            <a:pPr marL="0" indent="0">
              <a:buNone/>
            </a:pPr>
            <a:r>
              <a:rPr lang="en-US" sz="1100" b="1" dirty="0">
                <a:solidFill>
                  <a:srgbClr val="339933"/>
                </a:solidFill>
                <a:latin typeface="Yu Gothic" pitchFamily="34" charset="0"/>
                <a:ea typeface="Yu Gothic" pitchFamily="34" charset="-122"/>
                <a:cs typeface="Yu Gothic" pitchFamily="34" charset="-120"/>
              </a:rPr>
              <a:t>頂点 Z のカタマリ</a:t>
            </a:r>
            <a:endParaRPr lang="en-US" sz="1100" dirty="0"/>
          </a:p>
        </p:txBody>
      </p:sp>
      <mc:AlternateContent xmlns:mc="http://schemas.openxmlformats.org/markup-compatibility/2006">
        <mc:Choice xmlns:a14="http://schemas.microsoft.com/office/drawing/2010/main" Requires="a14">
          <p:sp>
            <p:nvSpPr>
              <p:cNvPr id="25" name="Text 20">
                <a:extLst>
                  <a:ext uri="{FF2B5EF4-FFF2-40B4-BE49-F238E27FC236}">
                    <a16:creationId xmlns:a16="http://schemas.microsoft.com/office/drawing/2014/main" id="{501867DC-83E4-4846-3488-86103E69C035}"/>
                  </a:ext>
                </a:extLst>
              </p:cNvPr>
              <p:cNvSpPr/>
              <p:nvPr/>
            </p:nvSpPr>
            <p:spPr>
              <a:xfrm>
                <a:off x="6172200" y="3381491"/>
                <a:ext cx="2377440" cy="502920"/>
              </a:xfrm>
              <a:prstGeom prst="rect">
                <a:avLst/>
              </a:prstGeom>
              <a:noFill/>
              <a:ln/>
            </p:spPr>
            <p:txBody>
              <a:bodyPr wrap="square" lIns="0" tIns="0" rIns="0" bIns="0" rtlCol="0" anchor="ctr"/>
              <a:lstStyle/>
              <a:p>
                <a14:m>
                  <m:oMathPara xmlns:m="http://schemas.openxmlformats.org/officeDocument/2006/math">
                    <m:oMathParaPr>
                      <m:jc m:val="centerGroup"/>
                    </m:oMathParaPr>
                    <m:oMath xmlns:m="http://schemas.openxmlformats.org/officeDocument/2006/math">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BZ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ZE</m:t>
                          </m:r>
                        </m:den>
                      </m:f>
                      <m: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m:t>
                      </m:r>
                      <m:f>
                        <m:fPr>
                          <m:ctrl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AZ</m:t>
                          </m:r>
                        </m:num>
                        <m:den>
                          <m:r>
                            <m:rPr>
                              <m:sty m:val="p"/>
                            </m:rPr>
                            <a:rPr lang="en-US" altLang="ja-JP" i="1">
                              <a:solidFill>
                                <a:schemeClr val="accent6"/>
                              </a:solidFill>
                              <a:latin typeface="Cambria Math" panose="02040503050406030204" pitchFamily="18" charset="0"/>
                              <a:ea typeface="Cambria Math" panose="02040503050406030204" pitchFamily="18" charset="0"/>
                              <a:cs typeface="Consolas" pitchFamily="34" charset="-120"/>
                            </a:rPr>
                            <m:t>ZF</m:t>
                          </m:r>
                        </m:den>
                      </m:f>
                      <m:r>
                        <a:rPr lang="en-US" altLang="ja-JP" i="1" smtClean="0">
                          <a:solidFill>
                            <a:schemeClr val="accent6"/>
                          </a:solidFill>
                          <a:latin typeface="Cambria Math" panose="02040503050406030204" pitchFamily="18" charset="0"/>
                          <a:ea typeface="Cambria Math" panose="02040503050406030204" pitchFamily="18" charset="0"/>
                          <a:cs typeface="Consolas" pitchFamily="34" charset="-120"/>
                        </a:rPr>
                        <m:t>=1</m:t>
                      </m:r>
                    </m:oMath>
                  </m:oMathPara>
                </a14:m>
                <a:endParaRPr lang="en-US" dirty="0"/>
              </a:p>
            </p:txBody>
          </p:sp>
        </mc:Choice>
        <mc:Fallback>
          <p:sp>
            <p:nvSpPr>
              <p:cNvPr id="25" name="Text 20">
                <a:extLst>
                  <a:ext uri="{FF2B5EF4-FFF2-40B4-BE49-F238E27FC236}">
                    <a16:creationId xmlns:a16="http://schemas.microsoft.com/office/drawing/2014/main" id="{501867DC-83E4-4846-3488-86103E69C035}"/>
                  </a:ext>
                </a:extLst>
              </p:cNvPr>
              <p:cNvSpPr>
                <a:spLocks noRot="1" noChangeAspect="1" noMove="1" noResize="1" noEditPoints="1" noAdjustHandles="1" noChangeArrowheads="1" noChangeShapeType="1" noTextEdit="1"/>
              </p:cNvSpPr>
              <p:nvPr/>
            </p:nvSpPr>
            <p:spPr>
              <a:xfrm>
                <a:off x="6172200" y="3381491"/>
                <a:ext cx="2377440" cy="502920"/>
              </a:xfrm>
              <a:prstGeom prst="rect">
                <a:avLst/>
              </a:prstGeom>
              <a:blipFill>
                <a:blip r:embed="rId6"/>
                <a:stretch>
                  <a:fillRect t="-7500" b="-15000"/>
                </a:stretch>
              </a:blipFill>
              <a:ln/>
            </p:spPr>
            <p:txBody>
              <a:bodyPr/>
              <a:lstStyle/>
              <a:p>
                <a:r>
                  <a:rPr lang="ja-JP" altLang="en-US">
                    <a:noFill/>
                  </a:rPr>
                  <a:t> </a:t>
                </a:r>
              </a:p>
            </p:txBody>
          </p:sp>
        </mc:Fallback>
      </mc:AlternateContent>
    </p:spTree>
    <p:extLst>
      <p:ext uri="{BB962C8B-B14F-4D97-AF65-F5344CB8AC3E}">
        <p14:creationId xmlns:p14="http://schemas.microsoft.com/office/powerpoint/2010/main" val="3025114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C6600"/>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CC6600"/>
                </a:solidFill>
                <a:latin typeface="Yu Gothic" pitchFamily="34" charset="0"/>
                <a:ea typeface="Yu Gothic" pitchFamily="34" charset="-122"/>
                <a:cs typeface="Yu Gothic" pitchFamily="34" charset="-120"/>
              </a:rPr>
              <a:t>CONCLUSION</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結論</a:t>
            </a:r>
            <a:endParaRPr lang="en-US" sz="3000" dirty="0"/>
          </a:p>
        </p:txBody>
      </p:sp>
      <p:sp>
        <p:nvSpPr>
          <p:cNvPr id="5" name="Text 3"/>
          <p:cNvSpPr/>
          <p:nvPr/>
        </p:nvSpPr>
        <p:spPr>
          <a:xfrm>
            <a:off x="457200" y="1325880"/>
            <a:ext cx="8229600" cy="32004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 に方べきの結果を代入すると：</a:t>
            </a:r>
            <a:endParaRPr lang="en-US" sz="1300" dirty="0"/>
          </a:p>
        </p:txBody>
      </p:sp>
      <p:sp>
        <p:nvSpPr>
          <p:cNvPr id="6" name="Shape 4"/>
          <p:cNvSpPr/>
          <p:nvPr/>
        </p:nvSpPr>
        <p:spPr>
          <a:xfrm>
            <a:off x="457200" y="1737360"/>
            <a:ext cx="8229600" cy="868680"/>
          </a:xfrm>
          <a:prstGeom prst="rect">
            <a:avLst/>
          </a:prstGeom>
          <a:solidFill>
            <a:srgbClr val="FFFFFF"/>
          </a:solidFill>
          <a:ln w="16510">
            <a:solidFill>
              <a:srgbClr val="CC6600"/>
            </a:solidFill>
            <a:prstDash val="solid"/>
          </a:ln>
        </p:spPr>
        <p:txBody>
          <a:bodyPr/>
          <a:lstStyle/>
          <a:p>
            <a:endParaRPr lang="ja-JP" altLang="en-US"/>
          </a:p>
        </p:txBody>
      </p:sp>
      <mc:AlternateContent xmlns:mc="http://schemas.openxmlformats.org/markup-compatibility/2006">
        <mc:Choice xmlns:a14="http://schemas.microsoft.com/office/drawing/2010/main" Requires="a14">
          <p:sp>
            <p:nvSpPr>
              <p:cNvPr id="7" name="Text 5"/>
              <p:cNvSpPr/>
              <p:nvPr/>
            </p:nvSpPr>
            <p:spPr>
              <a:xfrm>
                <a:off x="457200" y="1737360"/>
                <a:ext cx="8229600" cy="868680"/>
              </a:xfrm>
              <a:prstGeom prst="rect">
                <a:avLst/>
              </a:prstGeom>
              <a:noFill/>
              <a:ln/>
            </p:spPr>
            <p:txBody>
              <a:bodyPr wrap="square" lIns="0" tIns="0" rIns="0" bIns="0" rtlCol="0" anchor="ctr"/>
              <a:lstStyle/>
              <a:p>
                <a:pPr algn="ctr"/>
                <a14:m>
                  <m:oMath xmlns:m="http://schemas.openxmlformats.org/officeDocument/2006/math">
                    <m:f>
                      <m:fPr>
                        <m:ctrlPr>
                          <a:rPr lang="en-US" altLang="ja-JP" sz="2800" b="1" i="1" smtClean="0">
                            <a:solidFill>
                              <a:schemeClr val="accent2">
                                <a:lumMod val="75000"/>
                              </a:schemeClr>
                            </a:solidFill>
                            <a:latin typeface="Cambria Math" panose="02040503050406030204" pitchFamily="18" charset="0"/>
                            <a:cs typeface="Consolas" pitchFamily="34" charset="-120"/>
                          </a:rPr>
                        </m:ctrlPr>
                      </m:fPr>
                      <m:num>
                        <m:r>
                          <m:rPr>
                            <m:sty m:val="p"/>
                          </m:rPr>
                          <a:rPr lang="en-US" altLang="ja-JP" sz="2800" b="1" i="1">
                            <a:solidFill>
                              <a:schemeClr val="accent2">
                                <a:lumMod val="75000"/>
                              </a:schemeClr>
                            </a:solidFill>
                            <a:latin typeface="Cambria Math" panose="02040503050406030204" pitchFamily="18" charset="0"/>
                            <a:cs typeface="Consolas" pitchFamily="34" charset="-120"/>
                          </a:rPr>
                          <m:t>XP</m:t>
                        </m:r>
                      </m:num>
                      <m:den>
                        <m:r>
                          <m:rPr>
                            <m:sty m:val="p"/>
                          </m:rPr>
                          <a:rPr lang="en-US" altLang="ja-JP" sz="2800" b="1" i="1">
                            <a:solidFill>
                              <a:schemeClr val="accent2">
                                <a:lumMod val="75000"/>
                              </a:schemeClr>
                            </a:solidFill>
                            <a:latin typeface="Cambria Math" panose="02040503050406030204" pitchFamily="18" charset="0"/>
                            <a:cs typeface="Consolas" pitchFamily="34" charset="-120"/>
                          </a:rPr>
                          <m:t>PZ</m:t>
                        </m:r>
                      </m:den>
                    </m:f>
                    <m: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ZQ</m:t>
                        </m:r>
                      </m:num>
                      <m:den>
                        <m:r>
                          <m:rPr>
                            <m:sty m:val="p"/>
                          </m:r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QY</m:t>
                        </m:r>
                      </m:den>
                    </m:f>
                    <m: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m:t>
                    </m:r>
                    <m:f>
                      <m:fPr>
                        <m:ctrl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ctrlPr>
                      </m:fPr>
                      <m:num>
                        <m:r>
                          <m:rPr>
                            <m:sty m:val="p"/>
                          </m:r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YR</m:t>
                        </m:r>
                      </m:num>
                      <m:den>
                        <m:r>
                          <m:rPr>
                            <m:sty m:val="p"/>
                          </m:rPr>
                          <a:rPr lang="en-US" altLang="ja-JP" sz="2800" b="1" i="1">
                            <a:solidFill>
                              <a:schemeClr val="accent2">
                                <a:lumMod val="75000"/>
                              </a:schemeClr>
                            </a:solidFill>
                            <a:latin typeface="Cambria Math" panose="02040503050406030204" pitchFamily="18" charset="0"/>
                            <a:ea typeface="Cambria Math" panose="02040503050406030204" pitchFamily="18" charset="0"/>
                            <a:cs typeface="Consolas" pitchFamily="34" charset="-120"/>
                          </a:rPr>
                          <m:t>RX</m:t>
                        </m:r>
                      </m:den>
                    </m:f>
                    <m:r>
                      <a:rPr lang="en-US" altLang="ja-JP" sz="2800" b="1" i="1" smtClean="0">
                        <a:solidFill>
                          <a:schemeClr val="accent2">
                            <a:lumMod val="75000"/>
                          </a:schemeClr>
                        </a:solidFill>
                        <a:latin typeface="Cambria Math" panose="02040503050406030204" pitchFamily="18" charset="0"/>
                        <a:ea typeface="Cambria Math" panose="02040503050406030204" pitchFamily="18" charset="0"/>
                        <a:cs typeface="Consolas" pitchFamily="34" charset="-120"/>
                      </a:rPr>
                      <m:t>  </m:t>
                    </m:r>
                  </m:oMath>
                </a14:m>
                <a:r>
                  <a:rPr lang="en-US" sz="2200" b="1" dirty="0">
                    <a:solidFill>
                      <a:srgbClr val="CC6600"/>
                    </a:solidFill>
                    <a:latin typeface="Consolas" pitchFamily="34" charset="0"/>
                    <a:ea typeface="Consolas" pitchFamily="34" charset="-122"/>
                    <a:cs typeface="Consolas" pitchFamily="34" charset="-120"/>
                  </a:rPr>
                  <a:t>=  1 · 1 · 1  =  1</a:t>
                </a:r>
                <a:endParaRPr lang="en-US" sz="2200" dirty="0"/>
              </a:p>
            </p:txBody>
          </p:sp>
        </mc:Choice>
        <mc:Fallback>
          <p:sp>
            <p:nvSpPr>
              <p:cNvPr id="7" name="Text 5"/>
              <p:cNvSpPr>
                <a:spLocks noRot="1" noChangeAspect="1" noMove="1" noResize="1" noEditPoints="1" noAdjustHandles="1" noChangeArrowheads="1" noChangeShapeType="1" noTextEdit="1"/>
              </p:cNvSpPr>
              <p:nvPr/>
            </p:nvSpPr>
            <p:spPr>
              <a:xfrm>
                <a:off x="457200" y="1737360"/>
                <a:ext cx="8229600" cy="868680"/>
              </a:xfrm>
              <a:prstGeom prst="rect">
                <a:avLst/>
              </a:prstGeom>
              <a:blipFill>
                <a:blip r:embed="rId3"/>
                <a:stretch>
                  <a:fillRect b="-1429"/>
                </a:stretch>
              </a:blipFill>
              <a:ln/>
            </p:spPr>
            <p:txBody>
              <a:bodyPr/>
              <a:lstStyle/>
              <a:p>
                <a:r>
                  <a:rPr lang="ja-JP" altLang="en-US">
                    <a:noFill/>
                  </a:rPr>
                  <a:t> </a:t>
                </a:r>
              </a:p>
            </p:txBody>
          </p:sp>
        </mc:Fallback>
      </mc:AlternateContent>
      <p:sp>
        <p:nvSpPr>
          <p:cNvPr id="8" name="Shape 6"/>
          <p:cNvSpPr/>
          <p:nvPr/>
        </p:nvSpPr>
        <p:spPr>
          <a:xfrm>
            <a:off x="548640" y="2926080"/>
            <a:ext cx="502920" cy="502920"/>
          </a:xfrm>
          <a:prstGeom prst="ellipse">
            <a:avLst/>
          </a:prstGeom>
          <a:solidFill>
            <a:srgbClr val="FFFFFF"/>
          </a:solidFill>
          <a:ln w="19050">
            <a:solidFill>
              <a:srgbClr val="339933"/>
            </a:solidFill>
            <a:prstDash val="solid"/>
          </a:ln>
        </p:spPr>
        <p:txBody>
          <a:bodyPr/>
          <a:lstStyle/>
          <a:p>
            <a:endParaRPr lang="ja-JP" altLang="en-US"/>
          </a:p>
        </p:txBody>
      </p:sp>
      <p:sp>
        <p:nvSpPr>
          <p:cNvPr id="9" name="Text 7"/>
          <p:cNvSpPr/>
          <p:nvPr/>
        </p:nvSpPr>
        <p:spPr>
          <a:xfrm>
            <a:off x="548640" y="2926080"/>
            <a:ext cx="502920" cy="502920"/>
          </a:xfrm>
          <a:prstGeom prst="rect">
            <a:avLst/>
          </a:prstGeom>
          <a:noFill/>
          <a:ln/>
        </p:spPr>
        <p:txBody>
          <a:bodyPr wrap="square" lIns="0" tIns="0" rIns="0" bIns="0" rtlCol="0" anchor="ctr"/>
          <a:lstStyle/>
          <a:p>
            <a:pPr marL="0" indent="0" algn="ctr">
              <a:buNone/>
            </a:pPr>
            <a:r>
              <a:rPr lang="en-US" sz="2200" b="1" dirty="0">
                <a:solidFill>
                  <a:srgbClr val="339933"/>
                </a:solidFill>
                <a:latin typeface="Yu Gothic" pitchFamily="34" charset="0"/>
                <a:ea typeface="Yu Gothic" pitchFamily="34" charset="-122"/>
                <a:cs typeface="Yu Gothic" pitchFamily="34" charset="-120"/>
              </a:rPr>
              <a:t>✓</a:t>
            </a:r>
            <a:endParaRPr lang="en-US" sz="2200" dirty="0"/>
          </a:p>
        </p:txBody>
      </p:sp>
      <p:sp>
        <p:nvSpPr>
          <p:cNvPr id="10" name="Text 8"/>
          <p:cNvSpPr/>
          <p:nvPr/>
        </p:nvSpPr>
        <p:spPr>
          <a:xfrm>
            <a:off x="1234440" y="2926080"/>
            <a:ext cx="6949440" cy="822960"/>
          </a:xfrm>
          <a:prstGeom prst="rect">
            <a:avLst/>
          </a:prstGeom>
          <a:noFill/>
          <a:ln/>
        </p:spPr>
        <p:txBody>
          <a:bodyPr wrap="square" lIns="0" tIns="0" rIns="0" bIns="0" rtlCol="0" anchor="ctr"/>
          <a:lstStyle/>
          <a:p>
            <a:pPr marL="0" indent="0">
              <a:lnSpc>
                <a:spcPct val="130000"/>
              </a:lnSpc>
              <a:buNone/>
            </a:pPr>
            <a:r>
              <a:rPr lang="en-US" sz="1600" b="1" dirty="0">
                <a:solidFill>
                  <a:srgbClr val="000000"/>
                </a:solidFill>
                <a:latin typeface="Yu Gothic" pitchFamily="34" charset="0"/>
                <a:ea typeface="Yu Gothic" pitchFamily="34" charset="-122"/>
                <a:cs typeface="Yu Gothic" pitchFamily="34" charset="-120"/>
              </a:rPr>
              <a:t>メネラウスの定理の逆が成り立つ。</a:t>
            </a:r>
            <a:endParaRPr lang="en-US" sz="1600" dirty="0"/>
          </a:p>
          <a:p>
            <a:pPr marL="0" indent="0">
              <a:lnSpc>
                <a:spcPct val="130000"/>
              </a:lnSpc>
              <a:buNone/>
            </a:pPr>
            <a:r>
              <a:rPr lang="en-US" sz="1600" dirty="0">
                <a:solidFill>
                  <a:srgbClr val="000000"/>
                </a:solidFill>
                <a:latin typeface="Yu Gothic" pitchFamily="34" charset="0"/>
                <a:ea typeface="Yu Gothic" pitchFamily="34" charset="-122"/>
                <a:cs typeface="Yu Gothic" pitchFamily="34" charset="-120"/>
              </a:rPr>
              <a:t>したがって，３点 P，Q，R は同一直線上（パスカル線）にある。</a:t>
            </a:r>
            <a:endParaRPr lang="en-US" sz="1600" dirty="0"/>
          </a:p>
        </p:txBody>
      </p:sp>
      <p:sp>
        <p:nvSpPr>
          <p:cNvPr id="11" name="Text 9"/>
          <p:cNvSpPr/>
          <p:nvPr/>
        </p:nvSpPr>
        <p:spPr>
          <a:xfrm>
            <a:off x="7589520" y="4114800"/>
            <a:ext cx="1005840" cy="365760"/>
          </a:xfrm>
          <a:prstGeom prst="rect">
            <a:avLst/>
          </a:prstGeom>
          <a:noFill/>
          <a:ln/>
        </p:spPr>
        <p:txBody>
          <a:bodyPr wrap="square" lIns="0" tIns="0" rIns="0" bIns="0" rtlCol="0" anchor="ctr"/>
          <a:lstStyle/>
          <a:p>
            <a:pPr marL="0" indent="0" algn="r">
              <a:buNone/>
            </a:pPr>
            <a:r>
              <a:rPr lang="en-US" sz="1600" i="1" dirty="0">
                <a:solidFill>
                  <a:srgbClr val="333333"/>
                </a:solidFill>
                <a:latin typeface="Yu Mincho" pitchFamily="34" charset="0"/>
                <a:ea typeface="Yu Mincho" pitchFamily="34" charset="-122"/>
                <a:cs typeface="Yu Mincho" pitchFamily="34" charset="-120"/>
              </a:rPr>
              <a:t>証明終</a:t>
            </a:r>
            <a:endParaRPr lang="en-US" sz="1600" dirty="0"/>
          </a:p>
        </p:txBody>
      </p:sp>
      <p:sp>
        <p:nvSpPr>
          <p:cNvPr id="12" name="Text 10"/>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3" name="Text 11"/>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6699"/>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6699"/>
                </a:solidFill>
                <a:latin typeface="Yu Gothic" pitchFamily="34" charset="0"/>
                <a:ea typeface="Yu Gothic" pitchFamily="34" charset="-122"/>
                <a:cs typeface="Yu Gothic" pitchFamily="34" charset="-120"/>
              </a:rPr>
              <a:t>SUMMARY</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まとめ</a:t>
            </a:r>
            <a:endParaRPr lang="en-US" sz="3000" dirty="0"/>
          </a:p>
        </p:txBody>
      </p:sp>
      <p:sp>
        <p:nvSpPr>
          <p:cNvPr id="21" name="Text 19"/>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2" name="Text 20"/>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13</a:t>
            </a:r>
            <a:endParaRPr lang="en-US" sz="1000" dirty="0"/>
          </a:p>
        </p:txBody>
      </p:sp>
      <p:graphicFrame>
        <p:nvGraphicFramePr>
          <p:cNvPr id="23" name="図表 22">
            <a:extLst>
              <a:ext uri="{FF2B5EF4-FFF2-40B4-BE49-F238E27FC236}">
                <a16:creationId xmlns:a16="http://schemas.microsoft.com/office/drawing/2014/main" id="{B96566D9-4064-EF2B-3780-420E106EB87E}"/>
              </a:ext>
            </a:extLst>
          </p:cNvPr>
          <p:cNvGraphicFramePr/>
          <p:nvPr>
            <p:extLst>
              <p:ext uri="{D42A27DB-BD31-4B8C-83A1-F6EECF244321}">
                <p14:modId xmlns:p14="http://schemas.microsoft.com/office/powerpoint/2010/main" val="4074556392"/>
              </p:ext>
            </p:extLst>
          </p:nvPr>
        </p:nvGraphicFramePr>
        <p:xfrm>
          <a:off x="1524000" y="1280160"/>
          <a:ext cx="6096000" cy="35478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966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996633"/>
                </a:solidFill>
                <a:latin typeface="Yu Gothic" pitchFamily="34" charset="0"/>
                <a:ea typeface="Yu Gothic" pitchFamily="34" charset="-122"/>
                <a:cs typeface="Yu Gothic" pitchFamily="34" charset="-120"/>
              </a:rPr>
              <a:t>TRY THE FRAMEWORK</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演習問題：同じ枠組みを他の問題で試そう</a:t>
            </a:r>
            <a:endParaRPr lang="en-US" sz="3000" dirty="0"/>
          </a:p>
        </p:txBody>
      </p:sp>
      <p:sp>
        <p:nvSpPr>
          <p:cNvPr id="5" name="Text 3"/>
          <p:cNvSpPr/>
          <p:nvPr/>
        </p:nvSpPr>
        <p:spPr>
          <a:xfrm>
            <a:off x="457200" y="1371600"/>
            <a:ext cx="8229600" cy="411480"/>
          </a:xfrm>
          <a:prstGeom prst="rect">
            <a:avLst/>
          </a:prstGeom>
          <a:noFill/>
          <a:ln/>
        </p:spPr>
        <p:txBody>
          <a:bodyPr wrap="square" lIns="0" tIns="0" rIns="0" bIns="0" rtlCol="0" anchor="ctr"/>
          <a:lstStyle/>
          <a:p>
            <a:pPr marL="0" indent="0">
              <a:buNone/>
            </a:pPr>
            <a:r>
              <a:rPr lang="en-US" sz="1300" dirty="0">
                <a:solidFill>
                  <a:srgbClr val="333333"/>
                </a:solidFill>
                <a:latin typeface="Yu Gothic" pitchFamily="34" charset="0"/>
                <a:ea typeface="Yu Gothic" pitchFamily="34" charset="-122"/>
                <a:cs typeface="Yu Gothic" pitchFamily="34" charset="-120"/>
              </a:rPr>
              <a:t>「補助図形 → 比の式 → 不変量で相殺 → 逆を使う」という今日の枠組みが，設定を変えても通用するかを確かめる。</a:t>
            </a:r>
            <a:endParaRPr lang="en-US" sz="1300" dirty="0"/>
          </a:p>
        </p:txBody>
      </p:sp>
      <p:sp>
        <p:nvSpPr>
          <p:cNvPr id="6" name="Shape 4"/>
          <p:cNvSpPr/>
          <p:nvPr/>
        </p:nvSpPr>
        <p:spPr>
          <a:xfrm>
            <a:off x="457200" y="2011680"/>
            <a:ext cx="8229600" cy="713232"/>
          </a:xfrm>
          <a:prstGeom prst="rect">
            <a:avLst/>
          </a:prstGeom>
          <a:solidFill>
            <a:srgbClr val="FFFFFF"/>
          </a:solidFill>
          <a:ln w="9525">
            <a:solidFill>
              <a:srgbClr val="999999"/>
            </a:solidFill>
            <a:prstDash val="solid"/>
          </a:ln>
        </p:spPr>
        <p:txBody>
          <a:bodyPr/>
          <a:lstStyle/>
          <a:p>
            <a:endParaRPr lang="ja-JP" altLang="en-US"/>
          </a:p>
        </p:txBody>
      </p:sp>
      <p:sp>
        <p:nvSpPr>
          <p:cNvPr id="7" name="Shape 5"/>
          <p:cNvSpPr/>
          <p:nvPr/>
        </p:nvSpPr>
        <p:spPr>
          <a:xfrm>
            <a:off x="621792" y="2139696"/>
            <a:ext cx="457200" cy="457200"/>
          </a:xfrm>
          <a:prstGeom prst="ellipse">
            <a:avLst/>
          </a:prstGeom>
          <a:solidFill>
            <a:srgbClr val="FFFFFF"/>
          </a:solidFill>
          <a:ln w="16510">
            <a:solidFill>
              <a:srgbClr val="CC6600"/>
            </a:solidFill>
            <a:prstDash val="solid"/>
          </a:ln>
        </p:spPr>
        <p:txBody>
          <a:bodyPr/>
          <a:lstStyle/>
          <a:p>
            <a:endParaRPr lang="ja-JP" altLang="en-US"/>
          </a:p>
        </p:txBody>
      </p:sp>
      <p:sp>
        <p:nvSpPr>
          <p:cNvPr id="8" name="Text 6"/>
          <p:cNvSpPr/>
          <p:nvPr/>
        </p:nvSpPr>
        <p:spPr>
          <a:xfrm>
            <a:off x="621792" y="2139696"/>
            <a:ext cx="457200" cy="457200"/>
          </a:xfrm>
          <a:prstGeom prst="rect">
            <a:avLst/>
          </a:prstGeom>
          <a:noFill/>
          <a:ln/>
        </p:spPr>
        <p:txBody>
          <a:bodyPr wrap="square" lIns="0" tIns="0" rIns="0" bIns="0" rtlCol="0" anchor="ctr"/>
          <a:lstStyle/>
          <a:p>
            <a:pPr marL="0" indent="0" algn="ctr">
              <a:buNone/>
            </a:pPr>
            <a:r>
              <a:rPr lang="en-US" sz="1600" b="1" dirty="0">
                <a:solidFill>
                  <a:srgbClr val="CC6600"/>
                </a:solidFill>
                <a:latin typeface="Yu Mincho" pitchFamily="34" charset="0"/>
                <a:ea typeface="Yu Mincho" pitchFamily="34" charset="-122"/>
                <a:cs typeface="Yu Mincho" pitchFamily="34" charset="-120"/>
              </a:rPr>
              <a:t>1</a:t>
            </a:r>
            <a:endParaRPr lang="en-US" sz="1600" dirty="0"/>
          </a:p>
        </p:txBody>
      </p:sp>
      <p:sp>
        <p:nvSpPr>
          <p:cNvPr id="9" name="Text 7"/>
          <p:cNvSpPr/>
          <p:nvPr/>
        </p:nvSpPr>
        <p:spPr>
          <a:xfrm>
            <a:off x="1234440" y="2066544"/>
            <a:ext cx="7223760" cy="310896"/>
          </a:xfrm>
          <a:prstGeom prst="rect">
            <a:avLst/>
          </a:prstGeom>
          <a:noFill/>
          <a:ln/>
        </p:spPr>
        <p:txBody>
          <a:bodyPr wrap="square" lIns="0" tIns="0" rIns="0" bIns="0" rtlCol="0" anchor="ctr"/>
          <a:lstStyle/>
          <a:p>
            <a:pPr marL="0" indent="0">
              <a:buNone/>
            </a:pPr>
            <a:r>
              <a:rPr lang="en-US" sz="1350" b="1" dirty="0">
                <a:solidFill>
                  <a:srgbClr val="000000"/>
                </a:solidFill>
                <a:latin typeface="Yu Gothic" pitchFamily="34" charset="0"/>
                <a:ea typeface="Yu Gothic" pitchFamily="34" charset="-122"/>
                <a:cs typeface="Yu Gothic" pitchFamily="34" charset="-120"/>
              </a:rPr>
              <a:t>星型の六角形</a:t>
            </a:r>
            <a:endParaRPr lang="en-US" sz="1350" dirty="0"/>
          </a:p>
        </p:txBody>
      </p:sp>
      <p:sp>
        <p:nvSpPr>
          <p:cNvPr id="10" name="Text 8"/>
          <p:cNvSpPr/>
          <p:nvPr/>
        </p:nvSpPr>
        <p:spPr>
          <a:xfrm>
            <a:off x="1234440" y="2359152"/>
            <a:ext cx="7223760" cy="347472"/>
          </a:xfrm>
          <a:prstGeom prst="rect">
            <a:avLst/>
          </a:prstGeom>
          <a:noFill/>
          <a:ln/>
        </p:spPr>
        <p:txBody>
          <a:bodyPr wrap="square" lIns="0" tIns="0" rIns="0" bIns="0" rtlCol="0" anchor="ctr"/>
          <a:lstStyle/>
          <a:p>
            <a:pPr marL="0" indent="0">
              <a:buNone/>
            </a:pPr>
            <a:r>
              <a:rPr lang="en-US" sz="1150" dirty="0">
                <a:solidFill>
                  <a:srgbClr val="333333"/>
                </a:solidFill>
                <a:latin typeface="Yu Gothic" pitchFamily="34" charset="0"/>
                <a:ea typeface="Yu Gothic" pitchFamily="34" charset="-122"/>
                <a:cs typeface="Yu Gothic" pitchFamily="34" charset="-120"/>
              </a:rPr>
              <a:t>頂点の結び方を変えても，同じ枠組み（補助三角形＋メネラウス＋方べき）で証明できるか確認する。</a:t>
            </a:r>
            <a:endParaRPr lang="en-US" sz="1150" dirty="0"/>
          </a:p>
        </p:txBody>
      </p:sp>
      <p:sp>
        <p:nvSpPr>
          <p:cNvPr id="11" name="Shape 9"/>
          <p:cNvSpPr/>
          <p:nvPr/>
        </p:nvSpPr>
        <p:spPr>
          <a:xfrm>
            <a:off x="457200" y="2880360"/>
            <a:ext cx="8229600" cy="713232"/>
          </a:xfrm>
          <a:prstGeom prst="rect">
            <a:avLst/>
          </a:prstGeom>
          <a:solidFill>
            <a:srgbClr val="FFFFFF"/>
          </a:solidFill>
          <a:ln w="9525">
            <a:solidFill>
              <a:srgbClr val="999999"/>
            </a:solidFill>
            <a:prstDash val="solid"/>
          </a:ln>
        </p:spPr>
        <p:txBody>
          <a:bodyPr/>
          <a:lstStyle/>
          <a:p>
            <a:endParaRPr lang="ja-JP" altLang="en-US"/>
          </a:p>
        </p:txBody>
      </p:sp>
      <p:sp>
        <p:nvSpPr>
          <p:cNvPr id="12" name="Shape 10"/>
          <p:cNvSpPr/>
          <p:nvPr/>
        </p:nvSpPr>
        <p:spPr>
          <a:xfrm>
            <a:off x="621792" y="3008376"/>
            <a:ext cx="457200" cy="457200"/>
          </a:xfrm>
          <a:prstGeom prst="ellipse">
            <a:avLst/>
          </a:prstGeom>
          <a:solidFill>
            <a:srgbClr val="FFFFFF"/>
          </a:solidFill>
          <a:ln w="16510">
            <a:solidFill>
              <a:srgbClr val="336699"/>
            </a:solidFill>
            <a:prstDash val="solid"/>
          </a:ln>
        </p:spPr>
        <p:txBody>
          <a:bodyPr/>
          <a:lstStyle/>
          <a:p>
            <a:endParaRPr lang="ja-JP" altLang="en-US"/>
          </a:p>
        </p:txBody>
      </p:sp>
      <p:sp>
        <p:nvSpPr>
          <p:cNvPr id="13" name="Text 11"/>
          <p:cNvSpPr/>
          <p:nvPr/>
        </p:nvSpPr>
        <p:spPr>
          <a:xfrm>
            <a:off x="621792" y="3008376"/>
            <a:ext cx="457200" cy="457200"/>
          </a:xfrm>
          <a:prstGeom prst="rect">
            <a:avLst/>
          </a:prstGeom>
          <a:noFill/>
          <a:ln/>
        </p:spPr>
        <p:txBody>
          <a:bodyPr wrap="square" lIns="0" tIns="0" rIns="0" bIns="0" rtlCol="0" anchor="ctr"/>
          <a:lstStyle/>
          <a:p>
            <a:pPr marL="0" indent="0" algn="ctr">
              <a:buNone/>
            </a:pPr>
            <a:r>
              <a:rPr lang="en-US" sz="1600" b="1" dirty="0">
                <a:solidFill>
                  <a:srgbClr val="336699"/>
                </a:solidFill>
                <a:latin typeface="Yu Mincho" pitchFamily="34" charset="0"/>
                <a:ea typeface="Yu Mincho" pitchFamily="34" charset="-122"/>
                <a:cs typeface="Yu Mincho" pitchFamily="34" charset="-120"/>
              </a:rPr>
              <a:t>2</a:t>
            </a:r>
            <a:endParaRPr lang="en-US" sz="1600" dirty="0"/>
          </a:p>
        </p:txBody>
      </p:sp>
      <p:sp>
        <p:nvSpPr>
          <p:cNvPr id="14" name="Text 12"/>
          <p:cNvSpPr/>
          <p:nvPr/>
        </p:nvSpPr>
        <p:spPr>
          <a:xfrm>
            <a:off x="1234440" y="2935224"/>
            <a:ext cx="7223760" cy="310896"/>
          </a:xfrm>
          <a:prstGeom prst="rect">
            <a:avLst/>
          </a:prstGeom>
          <a:noFill/>
          <a:ln/>
        </p:spPr>
        <p:txBody>
          <a:bodyPr wrap="square" lIns="0" tIns="0" rIns="0" bIns="0" rtlCol="0" anchor="ctr"/>
          <a:lstStyle/>
          <a:p>
            <a:pPr marL="0" indent="0">
              <a:buNone/>
            </a:pPr>
            <a:r>
              <a:rPr lang="en-US" sz="1350" b="1" dirty="0">
                <a:solidFill>
                  <a:srgbClr val="000000"/>
                </a:solidFill>
                <a:latin typeface="Yu Gothic" pitchFamily="34" charset="0"/>
                <a:ea typeface="Yu Gothic" pitchFamily="34" charset="-122"/>
                <a:cs typeface="Yu Gothic" pitchFamily="34" charset="-120"/>
              </a:rPr>
              <a:t>五角形への退化</a:t>
            </a:r>
            <a:endParaRPr lang="en-US" sz="1350" dirty="0"/>
          </a:p>
        </p:txBody>
      </p:sp>
      <p:sp>
        <p:nvSpPr>
          <p:cNvPr id="15" name="Text 13"/>
          <p:cNvSpPr/>
          <p:nvPr/>
        </p:nvSpPr>
        <p:spPr>
          <a:xfrm>
            <a:off x="1234440" y="3227832"/>
            <a:ext cx="7223760" cy="347472"/>
          </a:xfrm>
          <a:prstGeom prst="rect">
            <a:avLst/>
          </a:prstGeom>
          <a:noFill/>
          <a:ln/>
        </p:spPr>
        <p:txBody>
          <a:bodyPr wrap="square" lIns="0" tIns="0" rIns="0" bIns="0" rtlCol="0" anchor="ctr"/>
          <a:lstStyle/>
          <a:p>
            <a:pPr marL="0" indent="0">
              <a:buNone/>
            </a:pPr>
            <a:r>
              <a:rPr lang="en-US" sz="1150" dirty="0">
                <a:solidFill>
                  <a:srgbClr val="333333"/>
                </a:solidFill>
                <a:latin typeface="Yu Gothic" pitchFamily="34" charset="0"/>
                <a:ea typeface="Yu Gothic" pitchFamily="34" charset="-122"/>
                <a:cs typeface="Yu Gothic" pitchFamily="34" charset="-120"/>
              </a:rPr>
              <a:t>２頂点を重ねて六角形を五角形に縮退させても，同じステップが通用するかを考える。</a:t>
            </a:r>
            <a:endParaRPr lang="en-US" sz="1150" dirty="0"/>
          </a:p>
        </p:txBody>
      </p:sp>
      <p:sp>
        <p:nvSpPr>
          <p:cNvPr id="16" name="Shape 14"/>
          <p:cNvSpPr/>
          <p:nvPr/>
        </p:nvSpPr>
        <p:spPr>
          <a:xfrm>
            <a:off x="457200" y="3749040"/>
            <a:ext cx="8229600" cy="713232"/>
          </a:xfrm>
          <a:prstGeom prst="rect">
            <a:avLst/>
          </a:prstGeom>
          <a:solidFill>
            <a:srgbClr val="FFFFFF"/>
          </a:solidFill>
          <a:ln w="9525">
            <a:solidFill>
              <a:srgbClr val="999999"/>
            </a:solidFill>
            <a:prstDash val="solid"/>
          </a:ln>
        </p:spPr>
        <p:txBody>
          <a:bodyPr/>
          <a:lstStyle/>
          <a:p>
            <a:endParaRPr lang="ja-JP" altLang="en-US"/>
          </a:p>
        </p:txBody>
      </p:sp>
      <p:sp>
        <p:nvSpPr>
          <p:cNvPr id="17" name="Shape 15"/>
          <p:cNvSpPr/>
          <p:nvPr/>
        </p:nvSpPr>
        <p:spPr>
          <a:xfrm>
            <a:off x="621792" y="3877056"/>
            <a:ext cx="457200" cy="457200"/>
          </a:xfrm>
          <a:prstGeom prst="ellipse">
            <a:avLst/>
          </a:prstGeom>
          <a:solidFill>
            <a:srgbClr val="FFFFFF"/>
          </a:solidFill>
          <a:ln w="16510">
            <a:solidFill>
              <a:srgbClr val="339933"/>
            </a:solidFill>
            <a:prstDash val="solid"/>
          </a:ln>
        </p:spPr>
        <p:txBody>
          <a:bodyPr/>
          <a:lstStyle/>
          <a:p>
            <a:endParaRPr lang="ja-JP" altLang="en-US"/>
          </a:p>
        </p:txBody>
      </p:sp>
      <p:sp>
        <p:nvSpPr>
          <p:cNvPr id="18" name="Text 16"/>
          <p:cNvSpPr/>
          <p:nvPr/>
        </p:nvSpPr>
        <p:spPr>
          <a:xfrm>
            <a:off x="621792" y="3877056"/>
            <a:ext cx="457200" cy="457200"/>
          </a:xfrm>
          <a:prstGeom prst="rect">
            <a:avLst/>
          </a:prstGeom>
          <a:noFill/>
          <a:ln/>
        </p:spPr>
        <p:txBody>
          <a:bodyPr wrap="square" lIns="0" tIns="0" rIns="0" bIns="0" rtlCol="0" anchor="ctr"/>
          <a:lstStyle/>
          <a:p>
            <a:pPr marL="0" indent="0" algn="ctr">
              <a:buNone/>
            </a:pPr>
            <a:r>
              <a:rPr lang="en-US" sz="1600" b="1" dirty="0">
                <a:solidFill>
                  <a:srgbClr val="339933"/>
                </a:solidFill>
                <a:latin typeface="Yu Mincho" pitchFamily="34" charset="0"/>
                <a:ea typeface="Yu Mincho" pitchFamily="34" charset="-122"/>
                <a:cs typeface="Yu Mincho" pitchFamily="34" charset="-120"/>
              </a:rPr>
              <a:t>3</a:t>
            </a:r>
            <a:endParaRPr lang="en-US" sz="1600" dirty="0"/>
          </a:p>
        </p:txBody>
      </p:sp>
      <p:sp>
        <p:nvSpPr>
          <p:cNvPr id="19" name="Text 17"/>
          <p:cNvSpPr/>
          <p:nvPr/>
        </p:nvSpPr>
        <p:spPr>
          <a:xfrm>
            <a:off x="1234440" y="3803904"/>
            <a:ext cx="7223760" cy="310896"/>
          </a:xfrm>
          <a:prstGeom prst="rect">
            <a:avLst/>
          </a:prstGeom>
          <a:noFill/>
          <a:ln/>
        </p:spPr>
        <p:txBody>
          <a:bodyPr wrap="square" lIns="0" tIns="0" rIns="0" bIns="0" rtlCol="0" anchor="ctr"/>
          <a:lstStyle/>
          <a:p>
            <a:pPr marL="0" indent="0">
              <a:buNone/>
            </a:pPr>
            <a:r>
              <a:rPr lang="en-US" sz="1350" b="1" dirty="0">
                <a:solidFill>
                  <a:srgbClr val="000000"/>
                </a:solidFill>
                <a:latin typeface="Yu Gothic" pitchFamily="34" charset="0"/>
                <a:ea typeface="Yu Gothic" pitchFamily="34" charset="-122"/>
                <a:cs typeface="Yu Gothic" pitchFamily="34" charset="-120"/>
              </a:rPr>
              <a:t>さらに先へ（円錐曲線）</a:t>
            </a:r>
            <a:endParaRPr lang="en-US" sz="1350" dirty="0"/>
          </a:p>
        </p:txBody>
      </p:sp>
      <p:sp>
        <p:nvSpPr>
          <p:cNvPr id="20" name="Text 18"/>
          <p:cNvSpPr/>
          <p:nvPr/>
        </p:nvSpPr>
        <p:spPr>
          <a:xfrm>
            <a:off x="1234440" y="4096512"/>
            <a:ext cx="7223760" cy="347472"/>
          </a:xfrm>
          <a:prstGeom prst="rect">
            <a:avLst/>
          </a:prstGeom>
          <a:noFill/>
          <a:ln/>
        </p:spPr>
        <p:txBody>
          <a:bodyPr wrap="square" lIns="0" tIns="0" rIns="0" bIns="0" rtlCol="0" anchor="ctr"/>
          <a:lstStyle/>
          <a:p>
            <a:pPr marL="0" indent="0">
              <a:buNone/>
            </a:pPr>
            <a:r>
              <a:rPr lang="en-US" sz="1150" dirty="0">
                <a:solidFill>
                  <a:srgbClr val="333333"/>
                </a:solidFill>
                <a:latin typeface="Yu Gothic" pitchFamily="34" charset="0"/>
                <a:ea typeface="Yu Gothic" pitchFamily="34" charset="-122"/>
                <a:cs typeface="Yu Gothic" pitchFamily="34" charset="-120"/>
              </a:rPr>
              <a:t>円を楕円・放物線・双曲線に変えても，この枠組みがそのまま使えるかを調べる。</a:t>
            </a:r>
            <a:endParaRPr lang="en-US" sz="1150" dirty="0"/>
          </a:p>
        </p:txBody>
      </p:sp>
      <p:sp>
        <p:nvSpPr>
          <p:cNvPr id="21" name="Text 19"/>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22" name="Text 20"/>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39933"/>
          </a:solidFill>
          <a:ln/>
        </p:spPr>
        <p:txBody>
          <a:bodyPr/>
          <a:lstStyle/>
          <a:p>
            <a:endParaRPr lang="ja-JP" altLang="en-US"/>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200" b="1" kern="0" spc="200" dirty="0">
                <a:solidFill>
                  <a:srgbClr val="339933"/>
                </a:solidFill>
                <a:latin typeface="Yu Gothic" pitchFamily="34" charset="0"/>
                <a:ea typeface="Yu Gothic" pitchFamily="34" charset="-122"/>
                <a:cs typeface="Yu Gothic" pitchFamily="34" charset="-120"/>
              </a:rPr>
              <a:t>REFLECTION</a:t>
            </a:r>
            <a:endParaRPr lang="en-US" sz="1200" dirty="0"/>
          </a:p>
        </p:txBody>
      </p:sp>
      <p:sp>
        <p:nvSpPr>
          <p:cNvPr id="4" name="Text 2"/>
          <p:cNvSpPr/>
          <p:nvPr/>
        </p:nvSpPr>
        <p:spPr>
          <a:xfrm>
            <a:off x="457200" y="548640"/>
            <a:ext cx="82296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本時の振り返り</a:t>
            </a:r>
            <a:endParaRPr lang="en-US" sz="3000" dirty="0"/>
          </a:p>
        </p:txBody>
      </p:sp>
      <p:sp>
        <p:nvSpPr>
          <p:cNvPr id="5" name="Text 3"/>
          <p:cNvSpPr/>
          <p:nvPr/>
        </p:nvSpPr>
        <p:spPr>
          <a:xfrm>
            <a:off x="457200" y="1280160"/>
            <a:ext cx="8229600" cy="320040"/>
          </a:xfrm>
          <a:prstGeom prst="rect">
            <a:avLst/>
          </a:prstGeom>
          <a:noFill/>
          <a:ln/>
        </p:spPr>
        <p:txBody>
          <a:bodyPr wrap="square" lIns="0" tIns="0" rIns="0" bIns="0" rtlCol="0" anchor="ctr"/>
          <a:lstStyle/>
          <a:p>
            <a:pPr marL="0" indent="0">
              <a:buNone/>
            </a:pPr>
            <a:r>
              <a:rPr lang="en-US" sz="1300" i="1" dirty="0" err="1">
                <a:solidFill>
                  <a:srgbClr val="333333"/>
                </a:solidFill>
                <a:latin typeface="Yu Gothic" pitchFamily="34" charset="0"/>
                <a:ea typeface="Yu Gothic" pitchFamily="34" charset="-122"/>
              </a:rPr>
              <a:t>本日の証明でどのような数学的な考え方があったか当てはまるものを選んでください</a:t>
            </a:r>
            <a:r>
              <a:rPr lang="en-US" sz="1300" i="1" dirty="0">
                <a:solidFill>
                  <a:srgbClr val="333333"/>
                </a:solidFill>
                <a:latin typeface="Yu Gothic" pitchFamily="34" charset="0"/>
                <a:ea typeface="Yu Gothic" pitchFamily="34" charset="-122"/>
              </a:rPr>
              <a:t>。</a:t>
            </a:r>
            <a:endParaRPr lang="en-US" sz="1300" dirty="0"/>
          </a:p>
        </p:txBody>
      </p:sp>
      <p:sp>
        <p:nvSpPr>
          <p:cNvPr id="15" name="Text 13"/>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6" name="Text 14"/>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15</a:t>
            </a:r>
            <a:endParaRPr lang="en-US" sz="1000" dirty="0"/>
          </a:p>
        </p:txBody>
      </p:sp>
      <p:graphicFrame>
        <p:nvGraphicFramePr>
          <p:cNvPr id="17" name="図表 16">
            <a:extLst>
              <a:ext uri="{FF2B5EF4-FFF2-40B4-BE49-F238E27FC236}">
                <a16:creationId xmlns:a16="http://schemas.microsoft.com/office/drawing/2014/main" id="{5A5A7879-E4C0-A2E9-534F-84AF1BCE7FB6}"/>
              </a:ext>
            </a:extLst>
          </p:cNvPr>
          <p:cNvGraphicFramePr/>
          <p:nvPr>
            <p:extLst>
              <p:ext uri="{D42A27DB-BD31-4B8C-83A1-F6EECF244321}">
                <p14:modId xmlns:p14="http://schemas.microsoft.com/office/powerpoint/2010/main" val="686426033"/>
              </p:ext>
            </p:extLst>
          </p:nvPr>
        </p:nvGraphicFramePr>
        <p:xfrm>
          <a:off x="457200" y="1776248"/>
          <a:ext cx="8229600" cy="2827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9F9F9"/>
        </a:solidFill>
        <a:effectLst/>
      </p:bgPr>
    </p:bg>
    <p:spTree>
      <p:nvGrpSpPr>
        <p:cNvPr id="1" name=""/>
        <p:cNvGrpSpPr/>
        <p:nvPr/>
      </p:nvGrpSpPr>
      <p:grpSpPr>
        <a:xfrm>
          <a:off x="0" y="0"/>
          <a:ext cx="0" cy="0"/>
          <a:chOff x="0" y="0"/>
          <a:chExt cx="0" cy="0"/>
        </a:xfrm>
      </p:grpSpPr>
      <p:sp>
        <p:nvSpPr>
          <p:cNvPr id="3" name="Text 1"/>
          <p:cNvSpPr/>
          <p:nvPr/>
        </p:nvSpPr>
        <p:spPr>
          <a:xfrm>
            <a:off x="502920" y="502920"/>
            <a:ext cx="5486400" cy="274320"/>
          </a:xfrm>
          <a:prstGeom prst="rect">
            <a:avLst/>
          </a:prstGeom>
          <a:noFill/>
          <a:ln/>
        </p:spPr>
        <p:txBody>
          <a:bodyPr wrap="square" rtlCol="0" anchor="ctr"/>
          <a:lstStyle/>
          <a:p>
            <a:pPr marL="0" indent="0">
              <a:buNone/>
            </a:pPr>
            <a:r>
              <a:rPr lang="en-US" sz="1200" b="1" kern="0" spc="200" dirty="0">
                <a:solidFill>
                  <a:srgbClr val="996633"/>
                </a:solidFill>
                <a:latin typeface="Yu Gothic" pitchFamily="34" charset="0"/>
                <a:ea typeface="Yu Gothic" pitchFamily="34" charset="-122"/>
                <a:cs typeface="Yu Gothic" pitchFamily="34" charset="-120"/>
              </a:rPr>
              <a:t>HISTORICAL NOTE</a:t>
            </a:r>
            <a:endParaRPr lang="en-US" sz="1200" dirty="0"/>
          </a:p>
        </p:txBody>
      </p:sp>
      <p:sp>
        <p:nvSpPr>
          <p:cNvPr id="4" name="Text 2"/>
          <p:cNvSpPr/>
          <p:nvPr/>
        </p:nvSpPr>
        <p:spPr>
          <a:xfrm>
            <a:off x="457200" y="777240"/>
            <a:ext cx="6400800" cy="731520"/>
          </a:xfrm>
          <a:prstGeom prst="rect">
            <a:avLst/>
          </a:prstGeom>
          <a:noFill/>
          <a:ln/>
        </p:spPr>
        <p:txBody>
          <a:bodyPr wrap="square" lIns="0" tIns="0" rIns="0" bIns="0" rtlCol="0" anchor="ctr"/>
          <a:lstStyle/>
          <a:p>
            <a:pPr marL="0" indent="0">
              <a:buNone/>
            </a:pPr>
            <a:r>
              <a:rPr lang="en-US" sz="3000" b="1" dirty="0">
                <a:solidFill>
                  <a:srgbClr val="000000"/>
                </a:solidFill>
                <a:latin typeface="Yu Mincho" pitchFamily="34" charset="0"/>
                <a:ea typeface="Yu Mincho" pitchFamily="34" charset="-122"/>
                <a:cs typeface="Yu Mincho" pitchFamily="34" charset="-120"/>
              </a:rPr>
              <a:t>歴史的背景</a:t>
            </a:r>
            <a:endParaRPr lang="en-US" sz="3000" dirty="0"/>
          </a:p>
        </p:txBody>
      </p:sp>
      <p:sp>
        <p:nvSpPr>
          <p:cNvPr id="5" name="Text 3"/>
          <p:cNvSpPr/>
          <p:nvPr/>
        </p:nvSpPr>
        <p:spPr>
          <a:xfrm>
            <a:off x="502920" y="1737360"/>
            <a:ext cx="4572000" cy="548640"/>
          </a:xfrm>
          <a:prstGeom prst="rect">
            <a:avLst/>
          </a:prstGeom>
          <a:noFill/>
          <a:ln/>
        </p:spPr>
        <p:txBody>
          <a:bodyPr wrap="square" lIns="0" tIns="0" rIns="0" bIns="0" rtlCol="0" anchor="ctr"/>
          <a:lstStyle/>
          <a:p>
            <a:pPr marL="0" indent="0">
              <a:buNone/>
            </a:pPr>
            <a:r>
              <a:rPr lang="en-US" sz="2800" b="1" dirty="0">
                <a:solidFill>
                  <a:srgbClr val="CC6600"/>
                </a:solidFill>
                <a:latin typeface="Yu Mincho" pitchFamily="34" charset="0"/>
                <a:ea typeface="Yu Mincho" pitchFamily="34" charset="-122"/>
                <a:cs typeface="Yu Mincho" pitchFamily="34" charset="-120"/>
              </a:rPr>
              <a:t>16歳</a:t>
            </a:r>
            <a:r>
              <a:rPr lang="en-US" sz="1600" dirty="0">
                <a:solidFill>
                  <a:srgbClr val="333333"/>
                </a:solidFill>
                <a:latin typeface="Yu Mincho" pitchFamily="34" charset="0"/>
                <a:ea typeface="Yu Mincho" pitchFamily="34" charset="-122"/>
                <a:cs typeface="Yu Mincho" pitchFamily="34" charset="-120"/>
              </a:rPr>
              <a:t>  で発見</a:t>
            </a:r>
            <a:endParaRPr lang="en-US" sz="2800" dirty="0"/>
          </a:p>
        </p:txBody>
      </p:sp>
      <p:sp>
        <p:nvSpPr>
          <p:cNvPr id="6" name="Text 4"/>
          <p:cNvSpPr/>
          <p:nvPr/>
        </p:nvSpPr>
        <p:spPr>
          <a:xfrm>
            <a:off x="502920" y="2377440"/>
            <a:ext cx="5120640" cy="1645920"/>
          </a:xfrm>
          <a:prstGeom prst="rect">
            <a:avLst/>
          </a:prstGeom>
          <a:noFill/>
          <a:ln/>
        </p:spPr>
        <p:txBody>
          <a:bodyPr wrap="square" lIns="0" tIns="0" rIns="0" bIns="0" rtlCol="0" anchor="ctr"/>
          <a:lstStyle/>
          <a:p>
            <a:pPr marL="0" indent="0">
              <a:lnSpc>
                <a:spcPct val="140000"/>
              </a:lnSpc>
              <a:buNone/>
            </a:pPr>
            <a:r>
              <a:rPr lang="en-US" sz="1400" dirty="0">
                <a:solidFill>
                  <a:srgbClr val="000000"/>
                </a:solidFill>
                <a:latin typeface="Yu Gothic" pitchFamily="34" charset="0"/>
                <a:ea typeface="Yu Gothic" pitchFamily="34" charset="-122"/>
                <a:cs typeface="Yu Gothic" pitchFamily="34" charset="-120"/>
              </a:rPr>
              <a:t>古代ギリシャの「パップスの定理」（直線版）を，16歳のブレーズ・パスカルが円に応用・拡張したのが本定理である。さらに楕円・放物線・双曲線へも拡張され，のちの射影幾何学の出発点となった。</a:t>
            </a:r>
            <a:endParaRPr lang="en-US" sz="1400" dirty="0"/>
          </a:p>
        </p:txBody>
      </p:sp>
      <p:sp>
        <p:nvSpPr>
          <p:cNvPr id="7" name="Shape 5"/>
          <p:cNvSpPr/>
          <p:nvPr/>
        </p:nvSpPr>
        <p:spPr>
          <a:xfrm>
            <a:off x="502920" y="4206240"/>
            <a:ext cx="5120640" cy="0"/>
          </a:xfrm>
          <a:prstGeom prst="line">
            <a:avLst/>
          </a:prstGeom>
          <a:noFill/>
          <a:ln w="12700">
            <a:solidFill>
              <a:srgbClr val="999999"/>
            </a:solidFill>
            <a:prstDash val="solid"/>
          </a:ln>
        </p:spPr>
        <p:txBody>
          <a:bodyPr/>
          <a:lstStyle/>
          <a:p>
            <a:endParaRPr lang="ja-JP" altLang="en-US"/>
          </a:p>
        </p:txBody>
      </p:sp>
      <p:sp>
        <p:nvSpPr>
          <p:cNvPr id="8" name="Text 6"/>
          <p:cNvSpPr/>
          <p:nvPr/>
        </p:nvSpPr>
        <p:spPr>
          <a:xfrm>
            <a:off x="502920" y="4343400"/>
            <a:ext cx="5120640" cy="365760"/>
          </a:xfrm>
          <a:prstGeom prst="rect">
            <a:avLst/>
          </a:prstGeom>
          <a:noFill/>
          <a:ln/>
        </p:spPr>
        <p:txBody>
          <a:bodyPr wrap="square" lIns="0" tIns="0" rIns="0" bIns="0" rtlCol="0" anchor="ctr"/>
          <a:lstStyle/>
          <a:p>
            <a:pPr marL="0" indent="0">
              <a:buNone/>
            </a:pPr>
            <a:r>
              <a:rPr lang="en-US" sz="1050" dirty="0">
                <a:solidFill>
                  <a:srgbClr val="333333"/>
                </a:solidFill>
                <a:latin typeface="Consolas" pitchFamily="34" charset="0"/>
                <a:ea typeface="Consolas" pitchFamily="34" charset="-122"/>
                <a:cs typeface="Consolas" pitchFamily="34" charset="-120"/>
              </a:rPr>
              <a:t>パップスの定理 → パスカルの定理 → 円錐曲線への拡張 → 射影幾何学</a:t>
            </a:r>
            <a:endParaRPr lang="en-US" sz="1050" dirty="0"/>
          </a:p>
        </p:txBody>
      </p:sp>
      <p:sp>
        <p:nvSpPr>
          <p:cNvPr id="9" name="Text 7"/>
          <p:cNvSpPr/>
          <p:nvPr/>
        </p:nvSpPr>
        <p:spPr>
          <a:xfrm>
            <a:off x="502920" y="4828032"/>
            <a:ext cx="5486400" cy="274320"/>
          </a:xfrm>
          <a:prstGeom prst="rect">
            <a:avLst/>
          </a:prstGeom>
          <a:noFill/>
          <a:ln/>
        </p:spPr>
        <p:txBody>
          <a:bodyPr wrap="square" rtlCol="0" anchor="ctr"/>
          <a:lstStyle/>
          <a:p>
            <a:r>
              <a:rPr lang="en-US" altLang="ja-JP" sz="1000" dirty="0">
                <a:solidFill>
                  <a:srgbClr val="333333"/>
                </a:solidFill>
                <a:latin typeface="Yu Gothic" pitchFamily="34" charset="0"/>
                <a:ea typeface="Yu Gothic" pitchFamily="34" charset="-122"/>
                <a:cs typeface="Yu Gothic" pitchFamily="34" charset="-120"/>
              </a:rPr>
              <a:t>数学科教育法３③</a:t>
            </a:r>
            <a:endParaRPr lang="en-US" altLang="ja-JP" sz="1000" dirty="0"/>
          </a:p>
        </p:txBody>
      </p:sp>
      <p:sp>
        <p:nvSpPr>
          <p:cNvPr id="10" name="Text 8"/>
          <p:cNvSpPr/>
          <p:nvPr/>
        </p:nvSpPr>
        <p:spPr>
          <a:xfrm>
            <a:off x="8549640" y="4828032"/>
            <a:ext cx="457200" cy="274320"/>
          </a:xfrm>
          <a:prstGeom prst="rect">
            <a:avLst/>
          </a:prstGeom>
          <a:noFill/>
          <a:ln/>
        </p:spPr>
        <p:txBody>
          <a:bodyPr wrap="square" rtlCol="0" anchor="ctr"/>
          <a:lstStyle/>
          <a:p>
            <a:pPr marL="0" indent="0" algn="r">
              <a:buNone/>
            </a:pPr>
            <a:r>
              <a:rPr lang="en-US" sz="1000" dirty="0">
                <a:solidFill>
                  <a:srgbClr val="333333"/>
                </a:solidFill>
                <a:latin typeface="Yu Gothic" pitchFamily="34" charset="0"/>
                <a:ea typeface="Yu Gothic" pitchFamily="34" charset="-122"/>
                <a:cs typeface="Yu Gothic" pitchFamily="34" charset="-120"/>
              </a:rPr>
              <a:t>16</a:t>
            </a:r>
            <a:endParaRPr lang="en-US" sz="1000" dirty="0"/>
          </a:p>
        </p:txBody>
      </p:sp>
      <p:grpSp>
        <p:nvGrpSpPr>
          <p:cNvPr id="11" name="グループ化 10">
            <a:extLst>
              <a:ext uri="{FF2B5EF4-FFF2-40B4-BE49-F238E27FC236}">
                <a16:creationId xmlns:a16="http://schemas.microsoft.com/office/drawing/2014/main" id="{056AC61C-C100-FAFD-14DB-75E19673A356}"/>
              </a:ext>
            </a:extLst>
          </p:cNvPr>
          <p:cNvGrpSpPr/>
          <p:nvPr/>
        </p:nvGrpSpPr>
        <p:grpSpPr>
          <a:xfrm>
            <a:off x="4434840" y="842963"/>
            <a:ext cx="4855524" cy="3066097"/>
            <a:chOff x="2743200" y="1146120"/>
            <a:chExt cx="6185647" cy="3906024"/>
          </a:xfrm>
        </p:grpSpPr>
        <p:cxnSp>
          <p:nvCxnSpPr>
            <p:cNvPr id="12" name="直線コネクタ 11">
              <a:extLst>
                <a:ext uri="{FF2B5EF4-FFF2-40B4-BE49-F238E27FC236}">
                  <a16:creationId xmlns:a16="http://schemas.microsoft.com/office/drawing/2014/main" id="{F9BB1CC3-ED83-C7AD-DD3F-F6C0C2198C19}"/>
                </a:ext>
              </a:extLst>
            </p:cNvPr>
            <p:cNvCxnSpPr>
              <a:cxnSpLocks/>
            </p:cNvCxnSpPr>
            <p:nvPr/>
          </p:nvCxnSpPr>
          <p:spPr>
            <a:xfrm flipV="1">
              <a:off x="6041175" y="2540200"/>
              <a:ext cx="1767364" cy="2511944"/>
            </a:xfrm>
            <a:prstGeom prst="line">
              <a:avLst/>
            </a:prstGeom>
            <a:ln w="1587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97D6DD11-6885-A9CD-80FF-0A0A93D15F7B}"/>
                </a:ext>
              </a:extLst>
            </p:cNvPr>
            <p:cNvCxnSpPr>
              <a:cxnSpLocks/>
            </p:cNvCxnSpPr>
            <p:nvPr/>
          </p:nvCxnSpPr>
          <p:spPr>
            <a:xfrm flipV="1">
              <a:off x="3092149" y="3337078"/>
              <a:ext cx="4559052" cy="1583482"/>
            </a:xfrm>
            <a:prstGeom prst="line">
              <a:avLst/>
            </a:prstGeom>
            <a:ln w="190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14853EE-0B99-B308-146D-57AB05793484}"/>
                </a:ext>
              </a:extLst>
            </p:cNvPr>
            <p:cNvCxnSpPr>
              <a:cxnSpLocks/>
            </p:cNvCxnSpPr>
            <p:nvPr/>
          </p:nvCxnSpPr>
          <p:spPr>
            <a:xfrm flipH="1" flipV="1">
              <a:off x="4511480" y="3054997"/>
              <a:ext cx="4417367" cy="1654163"/>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B31C1EA1-745F-84CB-CCA6-AEB3E37CD195}"/>
                </a:ext>
              </a:extLst>
            </p:cNvPr>
            <p:cNvCxnSpPr>
              <a:cxnSpLocks/>
            </p:cNvCxnSpPr>
            <p:nvPr/>
          </p:nvCxnSpPr>
          <p:spPr>
            <a:xfrm flipH="1" flipV="1">
              <a:off x="4274680" y="1417802"/>
              <a:ext cx="2347867" cy="3627897"/>
            </a:xfrm>
            <a:prstGeom prst="line">
              <a:avLst/>
            </a:prstGeom>
            <a:ln w="15875">
              <a:solidFill>
                <a:schemeClr val="accent2">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F8007AF9-0B5B-7039-4649-F08D81485743}"/>
                </a:ext>
              </a:extLst>
            </p:cNvPr>
            <p:cNvCxnSpPr>
              <a:cxnSpLocks/>
            </p:cNvCxnSpPr>
            <p:nvPr/>
          </p:nvCxnSpPr>
          <p:spPr>
            <a:xfrm flipV="1">
              <a:off x="3231625" y="1146120"/>
              <a:ext cx="3761087" cy="3791640"/>
            </a:xfrm>
            <a:prstGeom prst="line">
              <a:avLst/>
            </a:prstGeom>
            <a:ln w="19050">
              <a:solidFill>
                <a:schemeClr val="accent1">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F9EE010-1D38-5455-DC03-8EAB0A4C1AB5}"/>
                </a:ext>
              </a:extLst>
            </p:cNvPr>
            <p:cNvCxnSpPr>
              <a:cxnSpLocks/>
            </p:cNvCxnSpPr>
            <p:nvPr/>
          </p:nvCxnSpPr>
          <p:spPr>
            <a:xfrm>
              <a:off x="6648157" y="1146120"/>
              <a:ext cx="1915268" cy="3727238"/>
            </a:xfrm>
            <a:prstGeom prst="line">
              <a:avLst/>
            </a:prstGeom>
            <a:ln w="19050">
              <a:solidFill>
                <a:schemeClr val="accent6">
                  <a:lumMod val="60000"/>
                  <a:lumOff val="40000"/>
                  <a:alpha val="70000"/>
                </a:schemeClr>
              </a:solidFill>
            </a:ln>
          </p:spPr>
          <p:style>
            <a:lnRef idx="1">
              <a:schemeClr val="accent1"/>
            </a:lnRef>
            <a:fillRef idx="0">
              <a:schemeClr val="accent1"/>
            </a:fillRef>
            <a:effectRef idx="0">
              <a:schemeClr val="accent1"/>
            </a:effectRef>
            <a:fontRef idx="minor">
              <a:schemeClr val="tx1"/>
            </a:fontRef>
          </p:style>
        </p:cxnSp>
        <p:sp>
          <p:nvSpPr>
            <p:cNvPr id="18" name="Shape 0">
              <a:extLst>
                <a:ext uri="{FF2B5EF4-FFF2-40B4-BE49-F238E27FC236}">
                  <a16:creationId xmlns:a16="http://schemas.microsoft.com/office/drawing/2014/main" id="{C5B19D3F-C524-1C81-E43B-9FE3D256BE9B}"/>
                </a:ext>
              </a:extLst>
            </p:cNvPr>
            <p:cNvSpPr/>
            <p:nvPr/>
          </p:nvSpPr>
          <p:spPr>
            <a:xfrm>
              <a:off x="5186822" y="1322045"/>
              <a:ext cx="2427960" cy="2427960"/>
            </a:xfrm>
            <a:prstGeom prst="ellipse">
              <a:avLst/>
            </a:prstGeom>
            <a:ln w="19050">
              <a:solidFill>
                <a:srgbClr val="999999"/>
              </a:solidFill>
              <a:prstDash val="solid"/>
            </a:ln>
          </p:spPr>
          <p:txBody>
            <a:bodyPr/>
            <a:lstStyle/>
            <a:p>
              <a:endParaRPr lang="ja-JP" altLang="en-US"/>
            </a:p>
          </p:txBody>
        </p:sp>
        <p:sp>
          <p:nvSpPr>
            <p:cNvPr id="19" name="Shape 1">
              <a:extLst>
                <a:ext uri="{FF2B5EF4-FFF2-40B4-BE49-F238E27FC236}">
                  <a16:creationId xmlns:a16="http://schemas.microsoft.com/office/drawing/2014/main" id="{E1E1A3EA-6FC2-BBCD-A9F7-F1AB7F37E8CB}"/>
                </a:ext>
              </a:extLst>
            </p:cNvPr>
            <p:cNvSpPr/>
            <p:nvPr/>
          </p:nvSpPr>
          <p:spPr>
            <a:xfrm>
              <a:off x="5207603" y="2869921"/>
              <a:ext cx="72839" cy="72839"/>
            </a:xfrm>
            <a:prstGeom prst="ellipse">
              <a:avLst/>
            </a:prstGeom>
            <a:solidFill>
              <a:schemeClr val="tx1"/>
            </a:solidFill>
            <a:ln/>
          </p:spPr>
          <p:txBody>
            <a:bodyPr/>
            <a:lstStyle/>
            <a:p>
              <a:r>
                <a:rPr lang="en-US" altLang="ja-JP" dirty="0"/>
                <a:t>F</a:t>
              </a:r>
              <a:endParaRPr lang="ja-JP" altLang="en-US"/>
            </a:p>
          </p:txBody>
        </p:sp>
        <p:sp>
          <p:nvSpPr>
            <p:cNvPr id="20" name="Shape 2">
              <a:extLst>
                <a:ext uri="{FF2B5EF4-FFF2-40B4-BE49-F238E27FC236}">
                  <a16:creationId xmlns:a16="http://schemas.microsoft.com/office/drawing/2014/main" id="{BA476C4E-2B20-BFB6-05AD-15C8CF6DA279}"/>
                </a:ext>
              </a:extLst>
            </p:cNvPr>
            <p:cNvSpPr/>
            <p:nvPr/>
          </p:nvSpPr>
          <p:spPr>
            <a:xfrm>
              <a:off x="7086600" y="3476120"/>
              <a:ext cx="72839" cy="72839"/>
            </a:xfrm>
            <a:prstGeom prst="ellipse">
              <a:avLst/>
            </a:prstGeom>
            <a:solidFill>
              <a:schemeClr val="tx1"/>
            </a:solidFill>
            <a:ln/>
          </p:spPr>
          <p:txBody>
            <a:bodyPr/>
            <a:lstStyle/>
            <a:p>
              <a:r>
                <a:rPr lang="en-US" altLang="ja-JP" dirty="0"/>
                <a:t>C</a:t>
              </a:r>
              <a:endParaRPr lang="ja-JP" altLang="en-US"/>
            </a:p>
          </p:txBody>
        </p:sp>
        <p:sp>
          <p:nvSpPr>
            <p:cNvPr id="21" name="Shape 3">
              <a:extLst>
                <a:ext uri="{FF2B5EF4-FFF2-40B4-BE49-F238E27FC236}">
                  <a16:creationId xmlns:a16="http://schemas.microsoft.com/office/drawing/2014/main" id="{D828A760-2EDA-4C17-297B-C326D54C357B}"/>
                </a:ext>
              </a:extLst>
            </p:cNvPr>
            <p:cNvSpPr/>
            <p:nvPr/>
          </p:nvSpPr>
          <p:spPr>
            <a:xfrm>
              <a:off x="7507308" y="2886577"/>
              <a:ext cx="72839" cy="72839"/>
            </a:xfrm>
            <a:prstGeom prst="ellipse">
              <a:avLst/>
            </a:prstGeom>
            <a:solidFill>
              <a:schemeClr val="tx1"/>
            </a:solidFill>
            <a:ln/>
          </p:spPr>
          <p:txBody>
            <a:bodyPr/>
            <a:lstStyle/>
            <a:p>
              <a:r>
                <a:rPr lang="en-US" altLang="ja-JP" dirty="0"/>
                <a:t>B</a:t>
              </a:r>
              <a:endParaRPr lang="ja-JP" altLang="en-US"/>
            </a:p>
          </p:txBody>
        </p:sp>
        <p:sp>
          <p:nvSpPr>
            <p:cNvPr id="22" name="Shape 4">
              <a:extLst>
                <a:ext uri="{FF2B5EF4-FFF2-40B4-BE49-F238E27FC236}">
                  <a16:creationId xmlns:a16="http://schemas.microsoft.com/office/drawing/2014/main" id="{0231C494-BB1E-79D2-53DD-AC79B0C281D0}"/>
                </a:ext>
              </a:extLst>
            </p:cNvPr>
            <p:cNvSpPr/>
            <p:nvPr/>
          </p:nvSpPr>
          <p:spPr>
            <a:xfrm>
              <a:off x="6364382" y="3723333"/>
              <a:ext cx="72839" cy="72839"/>
            </a:xfrm>
            <a:prstGeom prst="ellipse">
              <a:avLst/>
            </a:prstGeom>
            <a:solidFill>
              <a:schemeClr val="tx1"/>
            </a:solidFill>
            <a:ln/>
          </p:spPr>
          <p:txBody>
            <a:bodyPr/>
            <a:lstStyle/>
            <a:p>
              <a:r>
                <a:rPr lang="en-US" altLang="ja-JP" dirty="0"/>
                <a:t>D</a:t>
              </a:r>
              <a:endParaRPr lang="ja-JP" altLang="en-US"/>
            </a:p>
          </p:txBody>
        </p:sp>
        <p:sp>
          <p:nvSpPr>
            <p:cNvPr id="23" name="Shape 5">
              <a:extLst>
                <a:ext uri="{FF2B5EF4-FFF2-40B4-BE49-F238E27FC236}">
                  <a16:creationId xmlns:a16="http://schemas.microsoft.com/office/drawing/2014/main" id="{74ABC3D2-E141-53A8-A8C1-B98F88AB362D}"/>
                </a:ext>
              </a:extLst>
            </p:cNvPr>
            <p:cNvSpPr/>
            <p:nvPr/>
          </p:nvSpPr>
          <p:spPr>
            <a:xfrm>
              <a:off x="5577579" y="3429895"/>
              <a:ext cx="72839" cy="72839"/>
            </a:xfrm>
            <a:prstGeom prst="ellipse">
              <a:avLst/>
            </a:prstGeom>
            <a:solidFill>
              <a:schemeClr val="tx1"/>
            </a:solidFill>
            <a:ln/>
          </p:spPr>
          <p:txBody>
            <a:bodyPr/>
            <a:lstStyle/>
            <a:p>
              <a:r>
                <a:rPr lang="en-US" altLang="ja-JP" dirty="0"/>
                <a:t>E</a:t>
              </a:r>
              <a:endParaRPr lang="ja-JP" altLang="en-US"/>
            </a:p>
          </p:txBody>
        </p:sp>
        <p:sp>
          <p:nvSpPr>
            <p:cNvPr id="24" name="Shape 6">
              <a:extLst>
                <a:ext uri="{FF2B5EF4-FFF2-40B4-BE49-F238E27FC236}">
                  <a16:creationId xmlns:a16="http://schemas.microsoft.com/office/drawing/2014/main" id="{C9E33ACD-F6DE-4176-89B9-CFCB61E11A64}"/>
                </a:ext>
              </a:extLst>
            </p:cNvPr>
            <p:cNvSpPr/>
            <p:nvPr/>
          </p:nvSpPr>
          <p:spPr>
            <a:xfrm>
              <a:off x="6718302" y="1344963"/>
              <a:ext cx="72839" cy="72839"/>
            </a:xfrm>
            <a:prstGeom prst="ellipse">
              <a:avLst/>
            </a:prstGeom>
            <a:solidFill>
              <a:schemeClr val="tx1"/>
            </a:solidFill>
            <a:ln/>
          </p:spPr>
          <p:txBody>
            <a:bodyPr>
              <a:noAutofit/>
            </a:bodyPr>
            <a:lstStyle/>
            <a:p>
              <a:r>
                <a:rPr lang="en-US" altLang="ja-JP" dirty="0"/>
                <a:t>A</a:t>
              </a:r>
              <a:endParaRPr lang="ja-JP" altLang="en-US"/>
            </a:p>
          </p:txBody>
        </p:sp>
        <p:cxnSp>
          <p:nvCxnSpPr>
            <p:cNvPr id="25" name="直線コネクタ 24">
              <a:extLst>
                <a:ext uri="{FF2B5EF4-FFF2-40B4-BE49-F238E27FC236}">
                  <a16:creationId xmlns:a16="http://schemas.microsoft.com/office/drawing/2014/main" id="{C2B8F665-D7CD-9005-1F51-047E9CBDEFA8}"/>
                </a:ext>
              </a:extLst>
            </p:cNvPr>
            <p:cNvCxnSpPr/>
            <p:nvPr/>
          </p:nvCxnSpPr>
          <p:spPr>
            <a:xfrm flipV="1">
              <a:off x="2743200" y="4480560"/>
              <a:ext cx="5947258" cy="392798"/>
            </a:xfrm>
            <a:prstGeom prst="line">
              <a:avLst/>
            </a:prstGeom>
            <a:ln w="25400"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Shape 5">
              <a:extLst>
                <a:ext uri="{FF2B5EF4-FFF2-40B4-BE49-F238E27FC236}">
                  <a16:creationId xmlns:a16="http://schemas.microsoft.com/office/drawing/2014/main" id="{58FBCA85-70C3-876E-1DF4-8EFEB791B85C}"/>
                </a:ext>
              </a:extLst>
            </p:cNvPr>
            <p:cNvSpPr/>
            <p:nvPr/>
          </p:nvSpPr>
          <p:spPr>
            <a:xfrm>
              <a:off x="3318469" y="4787701"/>
              <a:ext cx="72839" cy="72839"/>
            </a:xfrm>
            <a:prstGeom prst="ellipse">
              <a:avLst/>
            </a:prstGeom>
            <a:solidFill>
              <a:schemeClr val="tx1"/>
            </a:solidFill>
            <a:ln/>
          </p:spPr>
          <p:txBody>
            <a:bodyPr/>
            <a:lstStyle/>
            <a:p>
              <a:r>
                <a:rPr lang="en-US" altLang="ja-JP" dirty="0"/>
                <a:t>R</a:t>
              </a:r>
              <a:endParaRPr lang="ja-JP" altLang="en-US"/>
            </a:p>
          </p:txBody>
        </p:sp>
        <p:sp>
          <p:nvSpPr>
            <p:cNvPr id="27" name="Shape 4">
              <a:extLst>
                <a:ext uri="{FF2B5EF4-FFF2-40B4-BE49-F238E27FC236}">
                  <a16:creationId xmlns:a16="http://schemas.microsoft.com/office/drawing/2014/main" id="{CBDC694E-48A8-7F4B-A1C4-58FF1D75CA98}"/>
                </a:ext>
              </a:extLst>
            </p:cNvPr>
            <p:cNvSpPr/>
            <p:nvPr/>
          </p:nvSpPr>
          <p:spPr>
            <a:xfrm>
              <a:off x="6311768" y="4588402"/>
              <a:ext cx="72839" cy="72839"/>
            </a:xfrm>
            <a:prstGeom prst="ellipse">
              <a:avLst/>
            </a:prstGeom>
            <a:solidFill>
              <a:schemeClr val="tx1"/>
            </a:solidFill>
            <a:ln/>
          </p:spPr>
          <p:txBody>
            <a:bodyPr/>
            <a:lstStyle/>
            <a:p>
              <a:r>
                <a:rPr lang="en-US" altLang="ja-JP" dirty="0"/>
                <a:t>Q</a:t>
              </a:r>
              <a:endParaRPr lang="ja-JP" altLang="en-US"/>
            </a:p>
          </p:txBody>
        </p:sp>
        <p:sp>
          <p:nvSpPr>
            <p:cNvPr id="28" name="Shape 2">
              <a:extLst>
                <a:ext uri="{FF2B5EF4-FFF2-40B4-BE49-F238E27FC236}">
                  <a16:creationId xmlns:a16="http://schemas.microsoft.com/office/drawing/2014/main" id="{50944B3D-1199-A431-1B0A-128633F1DB07}"/>
                </a:ext>
              </a:extLst>
            </p:cNvPr>
            <p:cNvSpPr/>
            <p:nvPr/>
          </p:nvSpPr>
          <p:spPr>
            <a:xfrm>
              <a:off x="8336430" y="4471130"/>
              <a:ext cx="72839" cy="72839"/>
            </a:xfrm>
            <a:prstGeom prst="ellipse">
              <a:avLst/>
            </a:prstGeom>
            <a:solidFill>
              <a:schemeClr val="tx1"/>
            </a:solidFill>
            <a:ln/>
          </p:spPr>
          <p:txBody>
            <a:bodyPr/>
            <a:lstStyle/>
            <a:p>
              <a:r>
                <a:rPr lang="en-US" altLang="ja-JP" dirty="0"/>
                <a:t>P</a:t>
              </a:r>
              <a:endParaRPr lang="ja-JP" alt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674</TotalTime>
  <Words>1273</Words>
  <Application>Microsoft Macintosh PowerPoint</Application>
  <PresentationFormat>画面に合わせる (16:9)</PresentationFormat>
  <Paragraphs>328</Paragraphs>
  <Slides>19</Slides>
  <Notes>19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Yu Gothic</vt:lpstr>
      <vt:lpstr>Yu Mincho</vt:lpstr>
      <vt:lpstr>Arial</vt:lpstr>
      <vt:lpstr>Cambria Math</vt:lpstr>
      <vt:lpstr>Consolas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パスカルの定理</dc:title>
  <dc:subject>PptxGenJS Presentation</dc:subject>
  <dc:creator>Pascal Lesson</dc:creator>
  <cp:lastModifiedBy>吉本　稜葵</cp:lastModifiedBy>
  <cp:revision>2</cp:revision>
  <dcterms:created xsi:type="dcterms:W3CDTF">2026-06-19T14:10:44Z</dcterms:created>
  <dcterms:modified xsi:type="dcterms:W3CDTF">2026-06-20T01:27:46Z</dcterms:modified>
</cp:coreProperties>
</file>